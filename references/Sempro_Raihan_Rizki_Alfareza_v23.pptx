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benar?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Ketiga cabang memproses sekitar 450 transaksi penjualan per hari. Rekonsiliasi memakan satu sampai dua hari di cabang dan empat sampai lima hari di gudang, dan selisih stok fisik dengan sistem hampir selalu muncul pada rekonsiliasi bulanan. Itu indikasi kelemahan pada metode pencatatan terpisah. Bila pencatatan kelak dihubungkan otomatis tanpa sinkronisasi yang baik, berpotensi muncul risiko baru, misalnya lost update. Di situlah pertanyaan konsistensi data muncul.</a:t>
            </a:r>
          </a:p>
          <a:p/>
          <a:p>
            <a:r>
              <a:t>CATATAN PERTAHANAN</a:t>
            </a:r>
          </a:p>
          <a:p>
            <a:r>
              <a:t>- Angka-angka ada di Bab I, 1.1; wawancara dan observasi dengan Ibu Atik, pemilik usaha, 5 Juli 2026 tercatat di Bab III, 3.2.1. Proposal tidak menguraikan cara pengumpulan tiap angka: sebut "berdasarkan wawancara dan observasi", jangan mengklaim pengukuran sendiri. Gunakan "hampir selalu", bukan "selalu", sesuai Bab I.</a:t>
            </a:r>
          </a:p>
          <a:p>
            <a:r>
              <a:t>- Selisih yang ada sekarang menjadi indikasi kelemahan pencatatan terpisah. Lost update adalah risiko bersyarat (Bab I, 1.1 dan 1.2 butir 3) yang baru dapat muncul bila pencatatan dihubungkan tanpa mekanisme sinkronisasi yang baik; belum terbukti terjadi di Apotek Bisma.</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Ada lima masalah: rekonsiliasi memakan satu sampai lima hari kerja, stok sistem tidak cocok dengan stok fisik, penggabungan data tanpa sinkronisasi yang baik berisiko lost update dan oversell, belum ada dasbor monitoring terpadu, dan konsekuensi tiap arsitektur belum diketahui sebelum diimplementasikan dan dibandingkan. Tidak semuanya berasal dari konkurensi. Perebutan stok saya utamakan sebagai skenario uji karena dapat dibuat ulang secara terkontrol (Bab I, 1.3 butir 5). Pada diagram, dua kasir membaca stok satu, keduanya menjual, keduanya menyimpan nol. Hasilnya dua hal berbeda: oversell dan lost update.</a:t>
            </a:r>
          </a:p>
          <a:p/>
          <a:p>
            <a:r>
              <a:t>CATATAN PERTAHANAN</a:t>
            </a:r>
          </a:p>
          <a:p>
            <a:r>
              <a:t>- Lima masalah mengikuti Bab I, 1.2. Empat berupa keadaan operasional, satu berupa kesenjangan evaluasi.</a:t>
            </a:r>
          </a:p>
          <a:p>
            <a:r>
              <a:t>- Oversell adalah pelanggaran aturan bisnis (terjual melebihi stok). Lost update adalah pembaruan sah yang tertimpa sehingga saldo akhir salah. Keduanya diukur terpisah.</a:t>
            </a:r>
          </a:p>
          <a:p>
            <a:r>
              <a:t>- Memilih perebutan stok sebagai fokus uji bukan klaim bahwa itu risiko terbesar apotek; pilihan ini karena dapat disimulasikan dan diulang (fault injection F5).</a:t>
            </a:r>
          </a:p>
          <a:p>
            <a:r>
              <a:t>- Dasbor monitoring (masalah 4) tidak diuji sebagai tujuan; layanan Pelaporan hanya menyediakan salinan data (batasan masalah 1.3).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Baca slide ini sebagai peta landasan, bukan daftar paper. Arsitektur dan migrasi: Blinowski menunjukkan monolith unggul pada beban tertentu, sehingga monolith menjadi acuan; Söylemez menunjukkan konsistensi data dan kerumitan operasi sebagai tantangan utama microservices; Faustino menunjukkan migrasi membawa penurunan kecepatan dan upaya penataan. Event dan konsistensi: Rochman dan Suartana menunjukkan EDA mempercepat proses tetapi penguncian data memicu kemacetan stok, yang melandasi Optimistic Concurrency Control; Bação dan Guerreiro membedakan konsistensi data dari konsistensi proses. Uji keandalan: Al-Said Ahmad dan Andras mendasari fault injection, Hui dan kawan-kawan menekankan aturan acuan kebenaran. Metodologi: Rodrigues dan kawan-kawan menekankan beban dan perangkat yang setara. Dari sini, masih ada ruang untuk menguji dampak pemisahan layanan dan proteksi konsistensi data pada apotek multicabang.</a:t>
            </a:r>
          </a:p>
          <a:p/>
          <a:p>
            <a:r>
              <a:t>CATATAN PERTAHANAN</a:t>
            </a:r>
          </a:p>
          <a:p>
            <a:r>
              <a:t>- Isi kolom mengikuti Tabel 2.1 proposal. Hindari klaim absolut "belum pernah ada penelitian". Redaksi proposal: masih ada ruang untuk menguji.</a:t>
            </a:r>
          </a:p>
          <a:p>
            <a:r>
              <a:t>- Studi dipilih sebagai landasan tiap komponen rancangan; ini bukan systematic review.</a:t>
            </a:r>
          </a:p>
          <a:p>
            <a:r>
              <a:t>- Test oracle dan kesetaraan lingkungan adalah keputusan rancangan penelitian ini yang berlandaskan studi tersebut, bukan klaim yang dibuat studi itu sendiri.</a:t>
            </a:r>
          </a:p>
          <a:p>
            <a:r>
              <a:t>- Bila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Rumusan masalah dan tujuan bernomor sama. RM1 dijawab dengan rancangan dan implementasi empat layanan dengan sumber kebenaran data. RM2 dijawab dengan invariant bisnis pada skenario konkurensi transaksi (F5). RM3 dijawab dengan fault injection dan pemulihan (F1 sampai F6). RM4 dijawab dengan perbandingan tiga kondisi arsitektur pada beban dan kondisi uji yang setara, yaitu 3.330 run. Performa dan kompleksitas operasional menjadi dimensi pendukung.</a:t>
            </a:r>
          </a:p>
          <a:p/>
          <a:p>
            <a:r>
              <a:t>CATATAN PERTAHANAN</a:t>
            </a:r>
          </a:p>
          <a:p>
            <a:r>
              <a:t>- Redaksi lengkap ada di Bab I, 1.4 dan 1.5. Kata kunci rumusan adalah "konsistensi", sesuai topik penelitian.</a:t>
            </a:r>
          </a:p>
          <a:p>
            <a:r>
              <a:t>- Kebaruan yang aman: bukan membuat microservices atau memakai RabbitMQ, tetapi mengevaluasi tiga kondisi arsitektur berfungsi bisnis setara dengan fault injection dan invariant bisnis.</a:t>
            </a:r>
          </a:p>
          <a:p>
            <a:r>
              <a:t>- Jangan menjanjikan hasil. Kriteria penerimaan ada di Tabel 3.7; EDA dengan proteksi tidak diasumsikan lolos (komitmen peneliti, lihat R8).</a:t>
            </a:r>
          </a:p>
          <a:p>
            <a:r>
              <a:t>- Label kanan pada tiap RM adalah ringkasan presentasi; proposal tidak memetakan RM ke kode gangguan secara eksplisit. F5 menjawab RM2 sekaligus bagian dari F1-F6 pada RM3.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membandingkan tiga kondisi. Pertama, monolith terpusat: satu aplikasi Laravel dengan empat modul dan satu basis data MySQL bersama; antarmodul berkomunikasi lewat pemanggilan fungsi langsung. Kedua, EDA tanpa proteksi: empat layanan NestJS, masing-masing dengan MySQL sendiri, bertukar pesan lewat RabbitMQ, tanpa mekanisme tambahan penjaga konsistensi. Ketiga, EDA dengan proteksi: susunan identik dengan yang kedua, ditambah lima mekanisme proteksi. Karena kedua kondisi EDA hanya berbeda pada paket proteksi, perbedaan hasil di antara keduanya dapat dibaca sebagai dampak paket proteksi secara keseluruhan. Perlu ditegaskan: perbandingan monolith dengan EDA bukan eksperimen satu variabel, karena framework, jumlah basis data, dan komunikasi ikut berbeda. Saya membacanya sebagai perbandingan arsitektur utuh.</a:t>
            </a:r>
          </a:p>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Bukan kode atau jalur proses yang identik.</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 [R1].</a:t>
            </a:r>
          </a:p>
          <a:p>
            <a:r>
              <a:t>EDA tanpa vs dengan Proteksi lebih terkontrol: susunan layanan, basis data, konfigurasi dasar broker, dan sumber daya sama; hanya paket lima mekanisme yang berbeda (Bab III 3.2.2).</a:t>
            </a:r>
          </a:p>
          <a:p>
            <a:r>
              <a:t>"Tanpa proteksi" = tanpa lima mekanisme paket. Konfigurasi dasar (publisher confirm, antrean durable dan persistent message, ACK manual, 2 pemroses konkuren, MySQL InnoDB REPEATABLE READ) diseragamkan pada kedua EDA (3.2.2, Tabel 3.4). Jadi bukan sistem tanpa fitur dasar apa pun [R3].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Konsistensi transaksi saya pahami lewat dua aspek. Konsistensi data: kondisi akhir memenuhi aturan bisnis untuk stok dan saldo. Keandalan transaksi: kemampuan menyelesaikan transaksi sesuai aturan bisnis dan memulihkan dampak kegagalan ke kondisi data yang benar. Pada sistem terdistribusi, selisih sementara antarlayanan wajar; yang dinilai adalah keadaan setelah seluruh event selesai diproses atau dipulihkan. Penilaiannya memakai empat invariant bisnis. Pada slide ini juga terlihat siklus status transaksi: pembayaran yang datang terlambat, setelah transaksi mencapai status akhir, tidak boleh mengaktifkan kembali transaksi tersebut. Untuk pembayaran terlambat, titik acuannya adalah waktu sistem pertama kali menerima notifikasi atau konfirmasi, bukan waktu consumer memprosesnya.</a:t>
            </a:r>
          </a:p>
          <a:p/>
          <a:p>
            <a:r>
              <a:t>CATATAN PERTAHANAN</a:t>
            </a:r>
          </a:p>
          <a:p>
            <a:r>
              <a:t>- Ini berbeda dari properti Consistency pada ACID, yang hanya berlaku dalam satu transaksi basis data tunggal (Bab II, 2.1.2).</a:t>
            </a:r>
          </a:p>
          <a:p>
            <a:r>
              <a:t>- Batas transaksi 30 detik dihitung sejak reservasi stok berhasil (Bab III, Tabel 3.4).</a:t>
            </a:r>
          </a:p>
          <a:p>
            <a:r>
              <a:t>- Invariant 4 adalah invariant status: transaksi final tidak boleh aktif kembali. "Final" tidak selalu berarti berhasil (bisa Completed atau Compensated).</a:t>
            </a:r>
          </a:p>
          <a:p>
            <a:r>
              <a:t>Titik acuan terlambat [R2]: received_at = timestamp saat notifikasi pertama diterima sistem, yaitu webhook handler (Pembayaran Digital), aksi konfirmasi kasir atau admin (QRIS Statis), atau pemanggilan callback (monolith). Dicatat sebelum broker, sama pada tiga kondisi. Terlambat bila received_at &gt; waktu reservasi berhasil + 30 dtk (Tabel 3.4).</a:t>
            </a:r>
          </a:p>
          <a:p>
            <a:r>
              <a:t>Tiga waktu dibedakan: batas bisnis 30 dtk, received_at, dan waktu consumer memproses. Retry/DLQ atau penundaan broker menggeser waktu proses, bukan received_at, sehingga klasifikasi tidak berubah karenanya.</a:t>
            </a:r>
          </a:p>
          <a:p>
            <a:r>
              <a:t>Invariant 4 dinilai pada kondisi akhir: transaksi berstatus final (Completed, Expired, Compensated) tidak boleh kembali aktif oleh notifikasi apa pun, kapan pun diproses. Notifikasi yang tiba sebelum batas tetapi diproses setelah transaksi kedaluwarsa dicatat sebagai kasus batas dan dilaporkan terpisah; status final tetap tidak boleh berubah.</a:t>
            </a:r>
          </a:p>
          <a:p>
            <a:r>
              <a:t>Penanganan lanjutan (dicatat atau dibuang, pengembalian dana) tidak ditetapkan proposal dan bukan objek uji; jangan menyatakan salah satunya.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setiap jenis data hanya diubah oleh layanan pemiliknya, dan layanan lain tidak boleh mengubah basis datanya secara langsung. Dengan demikian pemilik data menjadi sumber kebenaran data bagi jenis data tersebut (Bab I, 1.4 butir 1).</a:t>
            </a:r>
          </a:p>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 [R9].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Paket proteksi terdiri atas lima mekanisme. Transactional Outbox menyimpan event bersama data bisnis dalam satu transaksi lokal, sehingga event tidak hilang bila layanan berhenti sebelum menerbitkannya; outbox relay kemudian meneruskannya ke broker. Idempotent Consumer dan Inbox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kelimanya, sehingga dampaknya dapat diamati sebagai pembanding. Konfigurasi dasar broker dan basis data sama pada kedua kondisi EDA; yang membedakan hanya kelima mekanisme paket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Bahwa stok tidak pernah negatif adalah hipotesis yang diuji lewat oversell = 0, bukan klaim awal.</a:t>
            </a:r>
          </a:p>
          <a:p>
            <a:r>
              <a:t>- Saga adalah rangkaian transaksi lokal dengan kompensasi, bukan rollback lintas layanan.</a:t>
            </a:r>
          </a:p>
          <a:p>
            <a:r>
              <a:t>- Bila ditanya mengapa bukan two-phase commit (tidak dibahas di proposal): arsitektur memakai basis data per layanan dan komunikasi asinkron; pemulihan lewat transaksi lokal dan kompensasi mengikuti model Saga (Garcia-Molina dan Salem, 1987).</a:t>
            </a:r>
          </a:p>
          <a:p>
            <a:r>
              <a:t>Batas dasar vs paket [R3].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Bila ditanya apakah benar tanpa proteksi: istilah merujuk pada tidak adanya paket lima mekanisme yang diteliti, bukan pada sengaja menonaktifkan fitur dasar. Konfigurasi broker kedua EDA dicocokkan sebelum eksperimen.</a:t>
            </a:r>
          </a:p>
          <a:p>
            <a:r>
              <a:t>Retry/DLQ [R5]: bukti terkonfigurasi (parameter Tabel 3.4) dibedakan dari bukti berfungsi. Dari log dicatat jumlah percobaan ulang, pesan masuk DLQ, dan hasil pemulihannya sebagai data pendukung tanpa ambang penerimaan. Kontribusi spesifik Retry/DLQ tidak disimpulkan; yang dinilai tetap paket.</a:t>
            </a:r>
          </a:p>
          <a:p>
            <a:r>
              <a:t>Titik injeksi F1: layanan dihentikan setelah transaksi bisnis dan catatan Outbox berhasil disimpan (commit), tetapi sebelum event diterbitkan ke broker. Pada EDA tanpa Proteksi tidak ada Outbox, jadi event yang belum terbit hilang. Gangguan setelah commit inilah yang benar-benar menguji fungsi Outbox.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analisis kebutuhan dan penetapan aturan bisnis lewat wawancara dan observasi pada 5 Juli 2026; perancangan arsitektur; pengembangan sistem pada tiga kondisi; pengujian dan simulasi gangguan; dan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total CPU dan RAM yang setara. Pilot memeriksa kesiapan alat uji, bukan hasil penelitian.</a:t>
            </a:r>
          </a:p>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[R4]: memeriksa kesiapan load generator, fault injector, pencatatan log, dan skrip rekonsiliasi (3.3.1). Indikator objektif: (a) setiap run pilot pada 10, 50, 100 req/s selesai sampai rekonsiliasi; (b) setiap request terlacak lewat ID yang konsisten sampai hasil transaksi atau penolakan, dan event relevan terlacak lewat event_id dan ID transaksi (jumlah event tidak harus sama dengan jumlah request, karena satu request bisa menghasilkan lebih dari satu event atau terkirim ulang); (c) skrip rekonsiliasi menghasilkan keluaran tanpa error prosedural; (d) hasil transaksi diperiksa sebagai validasi fungsional awal terhadap kriteria "Cakupan fungsi" (Tabel 3.7). Run pilot tidak dihitung dalam 3.330 dan tidak dilaporkan sebagai hasil.</a:t>
            </a:r>
          </a:p>
          <a:p>
            <a:r>
              <a:t>Kriteria penerimaan (Tabel 3.7) ditetapkan sebelum eksperimen utama dan tidak diubah setelah data dilihat [R8]. Parameter Tabel 3.4 ditetapkan di Bab III 3.3.1 dan tidak diubah selama eksperimen.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menjadi dasar penilaian konsistensi. Oversell, lost update, duplicate effect, permanent mismatch, dan untraceable event harus nol. Terminal-state coverage dan compensation success harus seratus persen pada penyebut yang berlaku. Read-model lag tidak boleh melebihi 60 detik. Kriteria integritas bersifat non-kompensatori: pelanggaran tidak dapat ditutupi performa yang lebih baik. Performa dan kompleksitas operasional dilaporkan sebagai dimensi pendukung, dibaca sebagai biaya yang dibandingkan dengan manfaat keandalan.</a:t>
            </a:r>
          </a:p>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aturan bisnis (Tabel 3.6).</a:t>
            </a:r>
          </a:p>
          <a:p>
            <a:r>
              <a:t>- Batas read-model lag 60 detik bernilai sama dengan recovery window; proposal tidak menyatakan dasar penetapannya. Jawab: keduanya batas protokol eksperimen, bukan klaim kebutuhan bisnis nyata.</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[R8]. Kriteria adalah batas pemeriksaan, bukan prediksi hasil.</a:t>
            </a:r>
          </a:p>
          <a:p>
            <a:r>
              <a:t>Request vs transaksi [R6]: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dikunci sebelum eksperimen dan sama pada tiga kondisi.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kode. F1 sampai F4a berkaitan dengan penerbitan, pengiriman, dan penerimaan pesan lewat broker, sehingga hanya berlaku pada kedua kondisi EDA. F4b, F5, dan F6 berlaku pada ketiga kondisi dengan bentuk simulasi yang disesuaikan perilaku tiap arsitektur. Kolom paling kanan menunjukkan bukti yang diperiksa pada tiap gangguan. Tiga kondisi hanya dibandingkan pada skenario yang berlaku pada ketiganya; F1 sampai F4a dibaca khusus sebagai perbandingan kedua EDA, tanpa skor gabungan lintas skenario.</a:t>
            </a:r>
          </a:p>
          <a:p/>
          <a:p>
            <a:r>
              <a:t>CATATAN PERTAHANAN</a:t>
            </a:r>
          </a:p>
          <a:p>
            <a:r>
              <a:t>- Isi mengikuti Tabel 3.2 dan 3.3 proposal; kolom bukti memuat metrik utama Tabel 3.3.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a:t>
            </a:r>
          </a:p>
          <a:p>
            <a:r>
              <a:t>Pelaporan lintas arsitektur [R7]: (1) tiga kondisi dibandingkan pada F4b, F5, F6, dan tanpa gangguan; (2) F1-F4a hanya EDA tanpa vs dengan Proteksi; (3) hasil dilaporkan per skenario, per beban, per metrik, sesuai Bab III 3.3.3 (skenario dan request rate yang sama); (4) tidak ada satu angka keberhasilan total per arsitektur. Bila ada ringkasan lintas skenario, penyebut, cakupan gangguan, dan alasannya dinyatakan.</a:t>
            </a:r>
          </a:p>
          <a:p>
            <a:r>
              <a:t>Retry dan DLQ tidak punya kode gangguan sendiri; dinilai sebagai bagian paket (lihat catatan slide 9 [R5]).</a:t>
            </a:r>
          </a:p>
          <a:p>
            <a:r>
              <a:t>Titik injeksi F1: layanan dihentikan setelah transaksi bisnis dan catatan Outbox berhasil disimpan (commit), tetapi sebelum event diterbitkan ke broker.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Kombinasi dihitung per pasangan skenario, gangguan, dan kondisi arsitektur. Lima kombinasi skenario-gangguan berlaku pada ketiga kondisi, menghasilkan lima kali tiga sama dengan 15. Lima lainnya hanya berlaku pada kedua EDA, lima kali dua sama dengan 10, sehingga ada 25 kombinasi bergangguan. Ditambah empat skenario tanpa gangguan pada ketiga kondisi, yaitu 12, totalnya 37 kombinasi. Dikali tiga target request rate, yaitu 10, 50, dan 100 per detik, menjadi 111 konfigurasi; dikali 30 replikasi menjadi 3.330 run. Satu run: data direset, warm-up 60 detik, pengukuran 60 detik dengan gangguan pada titik pemicu, dan recovery window 60 detik bila ada gangguan, lalu rekonsiliasi. Beban 10, 50, dan 100 request per detik adalah tekanan simulasi; request rate yang sama tidak otomatis menghasilkan jumlah transaksi sukses yang sama.</a:t>
            </a:r>
          </a:p>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[R8]: keputusan praktis, bukan hasil perhitungan ukuran sampel, dan tidak dipakai untuk klaim signifikansi; analisis deskriptif (median, IQR, p95, min, maks).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bukti trade-off antara konsistensi, performa, dan kompleksitas, serta bahan pertimbangan bagi manajemen Apotek Bisma, yang tetap terpisah dari keputusan penerapan produksi. Terima kasih. Mohon masukan dan arahan Bapak/Ibu Penguji.</a:t>
            </a:r>
          </a:p>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pemulihan protokol. Batas transaksi 30 detik adalah batas bisnis pembayaran sejak reservasi. Retry lima kali dengan jeda 1, 2, 4, 8, dan 16 detik adalah kebijakan untuk pesan gagal. Dua pemroses per layanan EDA adalah konkurensi consumer yang disamakan pada kedua kondisi EDA.</a:t>
            </a:r>
          </a:p>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Slide cadangan; buka saat tanya jawab (ketik 15 lalu Enter pada mode presentasi).</a:t>
            </a:r>
          </a:p>
          <a:p>
            <a:r>
              <a:t>Definisi operasional yang dipertegas ada di slide 16 (R1-R9).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NASKAH LISAN</a:t>
            </a:r>
          </a:p>
          <a:p>
            <a:r>
              <a:t>Slide cadangan: definisi operasional yang dipertegas pada revisi proposal. Kode R1-R9 merujuk ke dokumen Revisi_Proposal_R1-R9.</a:t>
            </a:r>
          </a:p>
          <a:p/>
          <a:p>
            <a:r>
              <a:t>CATATAN PERTAHANAN</a:t>
            </a:r>
          </a:p>
          <a:p>
            <a:r>
              <a:t>- Mengapa Laravel vs NestJS? Fungsi bisnis disetarakan; framework mengikuti ekosistem tiap arsitektur. Perbandingan dibaca sebagai arsitektur utuh, bukan satu variabel; pembanding terkontrol adalah EDA vs EDA.</a:t>
            </a:r>
          </a:p>
          <a:p>
            <a:r>
              <a:t>- Konsistensi data vs keandalan transaksi? Data: kondisi akhir memenuhi invariant stok dan saldo. Keandalan: transaksi selesai sesuai aturan atau pulih ke kondisi benar.</a:t>
            </a:r>
          </a:p>
          <a:p>
            <a:r>
              <a:t>- Mengapa ACK manual dan durable pada tanpa proteksi? Itu konfigurasi dasar yang diseragamkan; yang dihilangkan adalah lima mekanisme paket.</a:t>
            </a:r>
          </a:p>
          <a:p>
            <a:r>
              <a:t>- Adil bila F1-F4a tidak berlaku pada monolith? Perbandingan tiga kondisi hanya pada skenario yang sama; F1-F4a hanya EDA vs EDA; tanpa skor gabungan.</a:t>
            </a:r>
          </a:p>
          <a:p>
            <a:r>
              <a:t>- Konfirmasi bayar datang setelah final? Diklasifikasikan terlambat lewat received_at; status final tidak boleh aktif lagi; dinilai lewat invariant 4.</a:t>
            </a:r>
          </a:p>
          <a:p>
            <a:r>
              <a:t>- Apakah 30 replikasi cukup? Keputusan praktis untuk melihat variasi antarulangan; analisis deskriptif; tanpa klaim signifikansi.</a:t>
            </a:r>
          </a:p>
          <a:p>
            <a:r>
              <a:t>- Bila EDA dengan Proteksi tidak lolos kriteria? Dilaporkan apa adanya; kontribusinya adalah bukti trade-off dan batas efektivitas paket pada parameter uji.</a:t>
            </a:r>
          </a:p>
          <a:p>
            <a:r>
              <a:t>Titik injeksi F1: layanan dihentikan setelah transaksi bisnis dan catatan Outbox berhasil disimpan (commit), tetapi sebelum event diterbitkan ke broker.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2800" b="1" dirty="0">
                <a:solidFill>
                  <a:srgbClr val="12284C"/>
                </a:solidFill>
                <a:latin typeface="Calibri" pitchFamily="34" charset="0"/>
                <a:ea typeface="Calibri" pitchFamily="34" charset="-122"/>
                <a:cs typeface="Calibri" pitchFamily="34" charset="-120"/>
              </a:defRPr>
            </a:lvl1pPr>
          </a:lstStyle>
          <a:p>
            <a:pPr algn="l" indent="0" marL="0">
              <a:buNone/>
            </a:pPr>
            <a:endParaRPr lang="en-US" sz="2800" dirty="0"/>
          </a:p>
        </p:txBody>
      </p:sp>
      <p:pic>
        <p:nvPicPr>
          <p:cNvPr id="3" name="Image 0" descr="/home/claude/logo_t.png">    </p:cNvPr>
          <p:cNvPicPr>
            <a:picLocks noChangeAspect="1"/>
          </p:cNvPicPr>
          <p:nvPr/>
        </p:nvPicPr>
        <p:blipFill>
          <a:blip r:embed="rId1"/>
          <a:stretch>
            <a:fillRect/>
          </a:stretch>
        </p:blipFill>
        <p:spPr>
          <a:xfrm>
            <a:off x="548640" y="6419088"/>
            <a:ext cx="274320" cy="274320"/>
          </a:xfrm>
          <a:prstGeom prst="rect">
            <a:avLst/>
          </a:prstGeom>
        </p:spPr>
      </p:pic>
      <p:sp>
        <p:nvSpPr>
          <p:cNvPr id="4" name="Text 0"/>
          <p:cNvSpPr/>
          <p:nvPr/>
        </p:nvSpPr>
        <p:spPr>
          <a:xfrm>
            <a:off x="914400" y="6419088"/>
            <a:ext cx="5486400" cy="274320"/>
          </a:xfrm>
          <a:prstGeom prst="rect">
            <a:avLst/>
          </a:prstGeom>
          <a:noFill/>
          <a:ln/>
        </p:spPr>
        <p:txBody>
          <a:bodyPr wrap="square" lIns="0" tIns="0" rIns="0" bIns="0" rtlCol="0" anchor="ctr"/>
          <a:lstStyle/>
          <a:p>
            <a:pPr indent="0" marL="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p/>
        </p:txBody>
      </p:sp>
      <p:pic>
        <p:nvPicPr>
          <p:cNvPr id="3" name="Image 0" descr="/home/claude/logo_t.png">    </p:cNvPr>
          <p:cNvPicPr>
            <a:picLocks noChangeAspect="1"/>
          </p:cNvPicPr>
          <p:nvPr/>
        </p:nvPicPr>
        <p:blipFill>
          <a:blip r:embed="rId1"/>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indent="0" marL="0">
              <a:buNone/>
            </a:pPr>
            <a:r>
              <a:rPr lang="en-US" sz="1500" b="1" spc="400" kern="0" dirty="0">
                <a:solidFill>
                  <a:srgbClr val="C9A227"/>
                </a:solidFill>
                <a:latin typeface="Calibri" pitchFamily="34" charset="0"/>
                <a:ea typeface="Calibri" pitchFamily="34" charset="-122"/>
                <a:cs typeface="Calibri" pitchFamily="34" charset="-120"/>
              </a:rPr>
              <a:t>SEMINAR PROPOSAL TUGAS AKHIR</a:t>
            </a:r>
            <a:endParaRPr lang="en-US" sz="14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indent="0" marL="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03920" y="4069080"/>
            <a:ext cx="3566160" cy="36576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Universitas Negeri Surabaya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Pencatatan terpisah: rekonsiliasi lambat dan selisih stok berulang</a:t>
            </a:r>
            <a:endParaRPr lang="en-US" sz="2800" dirty="0"/>
          </a:p>
        </p:txBody>
      </p:sp>
      <p:sp>
        <p:nvSpPr>
          <p:cNvPr id="4" name="stat0"/>
          <p:cNvSpPr/>
          <p:nvPr/>
        </p:nvSpPr>
        <p:spPr>
          <a:xfrm>
            <a:off x="54864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7724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transaksi penjualan</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per hari, 3 cabang</a:t>
            </a:r>
            <a:endParaRPr lang="en-US" sz="1400" dirty="0"/>
          </a:p>
        </p:txBody>
      </p:sp>
      <p:sp>
        <p:nvSpPr>
          <p:cNvPr id="7" name="stat1"/>
          <p:cNvSpPr/>
          <p:nvPr/>
        </p:nvSpPr>
        <p:spPr>
          <a:xfrm>
            <a:off x="333756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8" name="Text 5"/>
          <p:cNvSpPr txBox="1"/>
          <p:nvPr/>
        </p:nvSpPr>
        <p:spPr>
          <a:xfrm>
            <a:off x="356616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rekonsiliasi</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di cabang</a:t>
            </a:r>
            <a:endParaRPr lang="en-US" sz="1400" dirty="0"/>
          </a:p>
        </p:txBody>
      </p:sp>
      <p:sp>
        <p:nvSpPr>
          <p:cNvPr id="10" name="stat2"/>
          <p:cNvSpPr/>
          <p:nvPr/>
        </p:nvSpPr>
        <p:spPr>
          <a:xfrm>
            <a:off x="612648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11" name="Text 8"/>
          <p:cNvSpPr txBox="1"/>
          <p:nvPr/>
        </p:nvSpPr>
        <p:spPr>
          <a:xfrm>
            <a:off x="6355080" y="1645920"/>
            <a:ext cx="2194560" cy="640080"/>
          </a:xfrm>
          <a:prstGeom prst="rect">
            <a:avLst/>
          </a:prstGeom>
          <a:noFill/>
          <a:ln/>
        </p:spPr>
        <p:txBody>
          <a:bodyPr wrap="square" lIns="0" tIns="0" rIns="0" bIns="0" rtlCol="0" anchor="ctr"/>
          <a:lstStyle/>
          <a:p>
            <a:pPr indent="0" marL="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rekonsiliasi</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di gudang</a:t>
            </a:r>
            <a:endParaRPr lang="en-US" sz="1400" dirty="0"/>
          </a:p>
        </p:txBody>
      </p:sp>
      <p:sp>
        <p:nvSpPr>
          <p:cNvPr id="13" name="stat3"/>
          <p:cNvSpPr/>
          <p:nvPr/>
        </p:nvSpPr>
        <p:spPr>
          <a:xfrm>
            <a:off x="8915400" y="1463040"/>
            <a:ext cx="2606040" cy="1737360"/>
          </a:xfrm>
          <a:prstGeom prst="roundRect">
            <a:avLst>
              <a:gd name="adj" fmla="val 14000"/>
            </a:avLst>
          </a:prstGeom>
          <a:solidFill>
            <a:srgbClr val="EEF2F8"/>
          </a:solidFill>
          <a:ln w="9525">
            <a:solidFill>
              <a:srgbClr val="D5DEEC"/>
            </a:solidFill>
            <a:prstDash val="solid"/>
          </a:ln>
        </p:spPr>
        <p:txBody>
          <a:bodyPr/>
          <a:p/>
        </p:txBody>
      </p:sp>
      <p:sp>
        <p:nvSpPr>
          <p:cNvPr id="14" name="Text 11"/>
          <p:cNvSpPr txBox="1"/>
          <p:nvPr/>
        </p:nvSpPr>
        <p:spPr>
          <a:xfrm>
            <a:off x="9144000" y="1645920"/>
            <a:ext cx="2194560" cy="640080"/>
          </a:xfrm>
          <a:prstGeom prst="rect">
            <a:avLst/>
          </a:prstGeom>
          <a:noFill/>
          <a:ln/>
        </p:spPr>
        <p:txBody>
          <a:bodyPr wrap="square" lIns="0" tIns="0" rIns="0" bIns="0" rtlCol="0" anchor="ctr"/>
          <a:lstStyle/>
          <a:p>
            <a:pPr indent="0" marL="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377440"/>
            <a:ext cx="2194560" cy="64008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ada selisih stok fisik</a:t>
            </a:r>
            <a:endParaRPr lang="en-US" sz="1400" dirty="0"/>
          </a:p>
          <a:p>
            <a:pPr indent="0" marL="0">
              <a:buNone/>
            </a:pPr>
            <a:r>
              <a:rPr lang="en-US" sz="1500" dirty="0">
                <a:solidFill>
                  <a:srgbClr val="5B6B8A"/>
                </a:solidFill>
                <a:latin typeface="Calibri" pitchFamily="34" charset="0"/>
                <a:ea typeface="Calibri" pitchFamily="34" charset="-122"/>
                <a:cs typeface="Calibri" pitchFamily="34" charset="-120"/>
              </a:rPr>
              <a:t>vs sistem tiap bulan</a:t>
            </a:r>
            <a:endParaRPr lang="en-US" sz="1400" dirty="0"/>
          </a:p>
        </p:txBody>
      </p:sp>
      <p:sp>
        <p:nvSpPr>
          <p:cNvPr id="16" name="kondisi"/>
          <p:cNvSpPr/>
          <p:nvPr/>
        </p:nvSpPr>
        <p:spPr>
          <a:xfrm>
            <a:off x="548640" y="3520440"/>
            <a:ext cx="5120640" cy="1828800"/>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822960" y="3703320"/>
            <a:ext cx="4572000" cy="365760"/>
          </a:xfrm>
          <a:prstGeom prst="rect">
            <a:avLst/>
          </a:prstGeom>
          <a:noFill/>
          <a:ln/>
        </p:spPr>
        <p:txBody>
          <a:bodyPr wrap="square" lIns="0" tIns="0" rIns="0" bIns="0" rtlCol="0" anchor="t"/>
          <a:lstStyle/>
          <a:p>
            <a:pPr indent="0" marL="0">
              <a:buNone/>
            </a:pPr>
            <a:r>
              <a:rPr lang="en-US" sz="1800" b="1" dirty="0">
                <a:solidFill>
                  <a:srgbClr val="12284C"/>
                </a:solidFill>
                <a:latin typeface="Calibri" pitchFamily="34" charset="0"/>
                <a:ea typeface="Calibri" pitchFamily="34" charset="-122"/>
                <a:cs typeface="Calibri" pitchFamily="34" charset="-120"/>
              </a:rPr>
              <a:t>Kondisi eksisting</a:t>
            </a:r>
            <a:endParaRPr lang="en-US" sz="1800" dirty="0"/>
          </a:p>
        </p:txBody>
      </p:sp>
      <p:sp>
        <p:nvSpPr>
          <p:cNvPr id="18" name="Text 15"/>
          <p:cNvSpPr txBox="1"/>
          <p:nvPr/>
        </p:nvSpPr>
        <p:spPr>
          <a:xfrm>
            <a:off x="822960" y="4114800"/>
            <a:ext cx="457200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Kasir mandiri di tiap cabang</a:t>
            </a:r>
            <a:endParaRPr lang="en-US" sz="1600" dirty="0"/>
          </a:p>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Excel VBA di gudang distribusi</a:t>
            </a:r>
            <a:endParaRPr lang="en-US" sz="1600" dirty="0"/>
          </a:p>
          <a:p>
            <a:pPr marL="342900" indent="-342900">
              <a:spcAft>
                <a:spcPts val="400"/>
              </a:spcAft>
              <a:buSzPct val="100000"/>
              <a:buChar char="•"/>
            </a:pPr>
            <a:r>
              <a:rPr lang="en-US" sz="1700" dirty="0">
                <a:solidFill>
                  <a:srgbClr val="1B2640"/>
                </a:solidFill>
                <a:latin typeface="Calibri" pitchFamily="34" charset="0"/>
                <a:ea typeface="Calibri" pitchFamily="34" charset="-122"/>
                <a:cs typeface="Calibri" pitchFamily="34" charset="-120"/>
              </a:rPr>
              <a:t>Tanpa sinkronisasi real-time</a:t>
            </a:r>
            <a:endParaRPr lang="en-US" sz="1600" dirty="0"/>
          </a:p>
        </p:txBody>
      </p:sp>
      <p:sp>
        <p:nvSpPr>
          <p:cNvPr id="19" name="Shape 16"/>
          <p:cNvSpPr/>
          <p:nvPr/>
        </p:nvSpPr>
        <p:spPr>
          <a:xfrm>
            <a:off x="5760720" y="4434840"/>
            <a:ext cx="502920" cy="0"/>
          </a:xfrm>
          <a:prstGeom prst="line">
            <a:avLst/>
          </a:prstGeom>
          <a:noFill/>
          <a:ln w="22225">
            <a:solidFill>
              <a:srgbClr val="12284C"/>
            </a:solidFill>
            <a:prstDash val="solid"/>
            <a:tailEnd type="triangle"/>
          </a:ln>
        </p:spPr>
        <p:txBody>
          <a:bodyPr/>
          <a:p/>
        </p:txBody>
      </p:sp>
      <p:sp>
        <p:nvSpPr>
          <p:cNvPr id="20" name="risiko"/>
          <p:cNvSpPr/>
          <p:nvPr/>
        </p:nvSpPr>
        <p:spPr>
          <a:xfrm>
            <a:off x="6355080" y="3520440"/>
            <a:ext cx="5257800" cy="1828800"/>
          </a:xfrm>
          <a:prstGeom prst="roundRect">
            <a:avLst>
              <a:gd name="adj" fmla="val 14000"/>
            </a:avLst>
          </a:prstGeom>
          <a:solidFill>
            <a:srgbClr val="12284C"/>
          </a:solidFill>
          <a:ln w="9525">
            <a:solidFill>
              <a:srgbClr val="12284C"/>
            </a:solidFill>
            <a:prstDash val="solid"/>
          </a:ln>
        </p:spPr>
        <p:txBody>
          <a:bodyPr/>
          <a:p/>
        </p:txBody>
      </p:sp>
      <p:sp>
        <p:nvSpPr>
          <p:cNvPr id="21" name="Text 18"/>
          <p:cNvSpPr txBox="1"/>
          <p:nvPr/>
        </p:nvSpPr>
        <p:spPr>
          <a:xfrm>
            <a:off x="6629400" y="3703320"/>
            <a:ext cx="4754880" cy="365760"/>
          </a:xfrm>
          <a:prstGeom prst="rect">
            <a:avLst/>
          </a:prstGeom>
          <a:noFill/>
          <a:ln/>
        </p:spPr>
        <p:txBody>
          <a:bodyPr wrap="square" lIns="0" tIns="0" rIns="0" bIns="0" rtlCol="0" anchor="t"/>
          <a:lstStyle/>
          <a:p>
            <a:pPr indent="0" marL="0">
              <a:buNone/>
            </a:pPr>
            <a:r>
              <a:rPr lang="en-US" sz="1800" b="1" dirty="0">
                <a:solidFill>
                  <a:srgbClr val="C9A227"/>
                </a:solidFill>
                <a:latin typeface="Calibri" pitchFamily="34" charset="0"/>
                <a:ea typeface="Calibri" pitchFamily="34" charset="-122"/>
                <a:cs typeface="Calibri" pitchFamily="34" charset="-120"/>
              </a:rPr>
              <a:t>Risiko bila sinkronisasi tidak baik</a:t>
            </a:r>
            <a:endParaRPr lang="en-US" sz="1800" dirty="0"/>
          </a:p>
        </p:txBody>
      </p:sp>
      <p:sp>
        <p:nvSpPr>
          <p:cNvPr id="22" name="Text 19"/>
          <p:cNvSpPr txBox="1"/>
          <p:nvPr/>
        </p:nvSpPr>
        <p:spPr>
          <a:xfrm>
            <a:off x="6629400" y="4114800"/>
            <a:ext cx="4754880" cy="109728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Dua transaksi kasir pada produk yang sama bisa saling menimpa stok akhir (lost update).</a:t>
            </a:r>
            <a:endParaRPr lang="en-US" sz="1800" dirty="0"/>
          </a:p>
        </p:txBody>
      </p:sp>
      <p:sp>
        <p:nvSpPr>
          <p:cNvPr id="23" name="Text 20"/>
          <p:cNvSpPr txBox="1"/>
          <p:nvPr/>
        </p:nvSpPr>
        <p:spPr>
          <a:xfrm>
            <a:off x="548640" y="5532120"/>
            <a:ext cx="11064240" cy="411480"/>
          </a:xfrm>
          <a:prstGeom prst="rect">
            <a:avLst/>
          </a:prstGeom>
          <a:noFill/>
          <a:ln/>
        </p:spPr>
        <p:txBody>
          <a:bodyPr wrap="square" lIns="0" tIns="0" rIns="0" bIns="0" rtlCol="0" anchor="ctr"/>
          <a:lstStyle/>
          <a:p>
            <a:pPr indent="0" marL="0">
              <a:buNone/>
            </a:pPr>
            <a:r>
              <a:rPr lang="en-US" sz="2000" b="1" dirty="0">
                <a:solidFill>
                  <a:srgbClr val="12284C"/>
                </a:solidFill>
                <a:latin typeface="Calibri" pitchFamily="34" charset="0"/>
                <a:ea typeface="Calibri" pitchFamily="34" charset="-122"/>
                <a:cs typeface="Calibri" pitchFamily="34" charset="-120"/>
              </a:rPr>
              <a:t>Pertanyaan penelitian: ketika catatan dihubungkan, apakah transaksi tetap benar?</a:t>
            </a:r>
            <a:endParaRPr lang="en-US" sz="2000" dirty="0"/>
          </a:p>
        </p:txBody>
      </p:sp>
      <p:sp>
        <p:nvSpPr>
          <p:cNvPr id="24" name="Text 21"/>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200" dirty="0">
                <a:solidFill>
                  <a:srgbClr val="5B6B8A"/>
                </a:solidFill>
                <a:latin typeface="Calibri" pitchFamily="34" charset="0"/>
                <a:ea typeface="Calibri" pitchFamily="34" charset="-122"/>
                <a:cs typeface="Calibri" pitchFamily="34" charset="-120"/>
              </a:rPr>
              <a:t>Sumber: wawancara dan observasi dengan pemilik Apotek Bisma, 5 Juli 2026</a:t>
            </a:r>
            <a:endParaRPr lang="en-US" sz="11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Lima masalah; perebutan stok diutamakan sebagai skenario uji</a:t>
            </a:r>
            <a:endParaRPr lang="en-US" sz="2800" dirty="0"/>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Rekonsiliasi memakan 1-5 hari kerja</a:t>
            </a:r>
            <a:endParaRPr lang="en-US" sz="16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p/>
        </p:txBody>
      </p:sp>
      <p:sp>
        <p:nvSpPr>
          <p:cNvPr id="13" name="Shape 10"/>
          <p:cNvSpPr/>
          <p:nvPr/>
        </p:nvSpPr>
        <p:spPr>
          <a:xfrm>
            <a:off x="731520" y="3410712"/>
            <a:ext cx="438912" cy="438912"/>
          </a:xfrm>
          <a:prstGeom prst="ellipse">
            <a:avLst/>
          </a:prstGeom>
          <a:solidFill>
            <a:srgbClr val="8A6D0B"/>
          </a:solidFill>
          <a:ln w="12700">
            <a:solidFill>
              <a:srgbClr val="8A6D0B"/>
            </a:solidFill>
            <a:prstDash val="solid"/>
          </a:ln>
        </p:spPr>
        <p:txBody>
          <a:body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indent="0" marL="0">
              <a:buNone/>
            </a:pPr>
            <a:r>
              <a:rPr lang="en-US" sz="1700" b="1" dirty="0">
                <a:solidFill>
                  <a:srgbClr val="1B2640"/>
                </a:solidFill>
                <a:latin typeface="Calibri" pitchFamily="34" charset="0"/>
                <a:ea typeface="Calibri" pitchFamily="34" charset="-122"/>
                <a:cs typeface="Calibri" pitchFamily="34" charset="-120"/>
              </a:rPr>
              <a:t>Integrasi tanpa sinkronisasi: risiko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Konsekuensi tiap arsitektur belum terbukti</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indent="0" marL="0">
              <a:buNone/>
            </a:pPr>
            <a:r>
              <a:rPr lang="en-US" sz="1800" b="1" dirty="0">
                <a:solidFill>
                  <a:srgbClr val="12284C"/>
                </a:solidFill>
                <a:latin typeface="Calibri" pitchFamily="34" charset="0"/>
                <a:ea typeface="Calibri" pitchFamily="34" charset="-122"/>
                <a:cs typeface="Calibri" pitchFamily="34" charset="-120"/>
              </a:rPr>
              <a:t>Ilustrasi perebutan stok (F5)</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Stok awal = 1 unit</a:t>
            </a:r>
            <a:endParaRPr lang="en-US" sz="14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Kasir A</a:t>
            </a:r>
            <a:endParaRPr lang="en-US" sz="15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Baca stok = 1</a:t>
            </a:r>
            <a:endParaRPr lang="en-US" sz="14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Jual 1 unit</a:t>
            </a:r>
            <a:endParaRPr lang="en-US" sz="1400" dirty="0"/>
          </a:p>
        </p:txBody>
      </p:sp>
      <p:sp>
        <p:nvSpPr>
          <p:cNvPr id="33" name="Shape 30"/>
          <p:cNvSpPr/>
          <p:nvPr/>
        </p:nvSpPr>
        <p:spPr>
          <a:xfrm>
            <a:off x="6126480" y="38862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Simpan stok = 0</a:t>
            </a:r>
            <a:endParaRPr lang="en-US" sz="14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Kasir B</a:t>
            </a:r>
            <a:endParaRPr lang="en-US" sz="15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Baca stok = 1</a:t>
            </a:r>
            <a:endParaRPr lang="en-US" sz="14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Jual 1 unit</a:t>
            </a:r>
            <a:endParaRPr lang="en-US" sz="1400" dirty="0"/>
          </a:p>
        </p:txBody>
      </p:sp>
      <p:sp>
        <p:nvSpPr>
          <p:cNvPr id="41" name="Shape 38"/>
          <p:cNvSpPr/>
          <p:nvPr/>
        </p:nvSpPr>
        <p:spPr>
          <a:xfrm>
            <a:off x="8869680" y="3886200"/>
            <a:ext cx="2468880" cy="365760"/>
          </a:xfrm>
          <a:prstGeom prst="roundRect">
            <a:avLst>
              <a:gd name="adj" fmla="val 12500"/>
            </a:avLst>
          </a:prstGeom>
          <a:solidFill>
            <a:srgbClr val="FFFFFF"/>
          </a:solidFill>
          <a:ln w="12700">
            <a:solidFill>
              <a:srgbClr val="D5DEEC"/>
            </a:solidFill>
            <a:prstDash val="solid"/>
          </a:ln>
        </p:spPr>
        <p:txBody>
          <a:body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algn="ctr" indent="0" marL="0">
              <a:buNone/>
            </a:pPr>
            <a:r>
              <a:rPr lang="en-US" sz="1500" dirty="0">
                <a:solidFill>
                  <a:srgbClr val="1B2640"/>
                </a:solidFill>
                <a:latin typeface="Calibri" pitchFamily="34" charset="0"/>
                <a:ea typeface="Calibri" pitchFamily="34" charset="-122"/>
                <a:cs typeface="Calibri" pitchFamily="34" charset="-120"/>
              </a:rPr>
              <a:t>Simpan stok = 0</a:t>
            </a:r>
            <a:endParaRPr lang="en-US" sz="14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indent="0" marL="0">
              <a:spcAft>
                <a:spcPts val="400"/>
              </a:spcAft>
              <a:buNone/>
            </a:pPr>
            <a:r>
              <a:rPr lang="en-US" sz="1700" b="1" dirty="0">
                <a:solidFill>
                  <a:srgbClr val="8A6D0B"/>
                </a:solidFill>
                <a:latin typeface="Calibri" pitchFamily="34" charset="0"/>
                <a:ea typeface="Calibri" pitchFamily="34" charset="-122"/>
                <a:cs typeface="Calibri" pitchFamily="34" charset="-120"/>
              </a:rPr>
              <a:t>Oversell: </a:t>
            </a:r>
            <a:pPr indent="0" marL="0">
              <a:spcAft>
                <a:spcPts val="400"/>
              </a:spcAft>
              <a:buNone/>
            </a:pPr>
            <a:r>
              <a:rPr lang="en-US" sz="1700" dirty="0">
                <a:solidFill>
                  <a:srgbClr val="1B2640"/>
                </a:solidFill>
                <a:latin typeface="Calibri" pitchFamily="34" charset="0"/>
                <a:ea typeface="Calibri" pitchFamily="34" charset="-122"/>
                <a:cs typeface="Calibri" pitchFamily="34" charset="-120"/>
              </a:rPr>
              <a:t>terjual 2 dari stok 1</a:t>
            </a:r>
            <a:endParaRPr lang="en-US" sz="1600" dirty="0"/>
          </a:p>
          <a:p>
            <a:pPr indent="0" marL="0">
              <a:spcAft>
                <a:spcPts val="400"/>
              </a:spcAft>
              <a:buNone/>
            </a:pPr>
            <a:r>
              <a:rPr lang="en-US" sz="1700" b="1" dirty="0">
                <a:solidFill>
                  <a:srgbClr val="8A6D0B"/>
                </a:solidFill>
                <a:latin typeface="Calibri" pitchFamily="34" charset="0"/>
                <a:ea typeface="Calibri" pitchFamily="34" charset="-122"/>
                <a:cs typeface="Calibri" pitchFamily="34" charset="-120"/>
              </a:rPr>
              <a:t>Lost update: </a:t>
            </a:r>
            <a:pPr indent="0" marL="0">
              <a:spcAft>
                <a:spcPts val="400"/>
              </a:spcAft>
              <a:buNone/>
            </a:pPr>
            <a:r>
              <a:rPr lang="en-US" sz="1700" dirty="0">
                <a:solidFill>
                  <a:srgbClr val="1B2640"/>
                </a:solidFill>
                <a:latin typeface="Calibri" pitchFamily="34" charset="0"/>
                <a:ea typeface="Calibri" pitchFamily="34" charset="-122"/>
                <a:cs typeface="Calibri" pitchFamily="34" charset="-120"/>
              </a:rPr>
              <a:t>dua pembaruan saling menimpa</a:t>
            </a:r>
            <a:endParaRPr lang="en-US" sz="16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Studi terdahulu menjadi landasan; pengujian langsungnya masih terbuka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Blinowski et al.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Söylemez et al.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Faustino et al. (2024)</a:t>
            </a:r>
            <a:endParaRPr lang="en-US" sz="12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Monolith unggul pada beban tertentu; konsistensi data dan operasi menjadi tantangan microservices; migrasi berbiaya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monolith sebagai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Rochman &amp; Suartana (2026)</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Bação &amp; Guerreiro (2026)</a:t>
            </a:r>
            <a:endParaRPr lang="en-US" sz="12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EDA memangkas waktu proses, tetapi penguncian data memicu kemacetan stok</a:t>
            </a:r>
            <a:endParaRPr lang="en-US" sz="14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Al-Said Ahmad &amp; Andras (2022)</a:t>
            </a:r>
            <a:endParaRPr lang="en-US" sz="1200" dirty="0"/>
          </a:p>
          <a:p>
            <a:pPr indent="0" marL="0">
              <a:buNone/>
            </a:pPr>
            <a:r>
              <a:rPr lang="en-US" sz="1300" dirty="0">
                <a:solidFill>
                  <a:srgbClr val="5B6B8A"/>
                </a:solidFill>
                <a:latin typeface="Calibri" pitchFamily="34" charset="0"/>
                <a:ea typeface="Calibri" pitchFamily="34" charset="-122"/>
                <a:cs typeface="Calibri" pitchFamily="34" charset="-120"/>
              </a:rPr>
              <a:t>Hui et al. (2025)</a:t>
            </a:r>
            <a:endParaRPr lang="en-US" sz="12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Gangguan sengaja efektif menguji ketahanan; hasil butuh aturan acuan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fault injection dan test oracle</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Rodrigues et al. (2025)</a:t>
            </a:r>
            <a:endParaRPr lang="en-US" sz="12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Perbandingan butuh beban dan perangkat yang setara</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indent="0" marL="0">
              <a:buNone/>
            </a:pPr>
            <a:r>
              <a:rPr lang="en-US" sz="1400" b="1" dirty="0">
                <a:solidFill>
                  <a:srgbClr val="12284C"/>
                </a:solidFill>
                <a:latin typeface="Calibri" pitchFamily="34" charset="0"/>
                <a:ea typeface="Calibri" pitchFamily="34" charset="-122"/>
                <a:cs typeface="Calibri" pitchFamily="34" charset="-120"/>
              </a:rPr>
              <a:t>Dasar: lingkungan uji setara</a:t>
            </a:r>
            <a:endParaRPr lang="en-US" sz="1300" dirty="0"/>
          </a:p>
        </p:txBody>
      </p:sp>
      <p:sp>
        <p:nvSpPr>
          <p:cNvPr id="24" name="gap"/>
          <p:cNvSpPr/>
          <p:nvPr/>
        </p:nvSpPr>
        <p:spPr>
          <a:xfrm>
            <a:off x="548640" y="5166360"/>
            <a:ext cx="11064240" cy="1051560"/>
          </a:xfrm>
          <a:prstGeom prst="roundRect">
            <a:avLst>
              <a:gd name="adj" fmla="val 14000"/>
            </a:avLst>
          </a:prstGeom>
          <a:solidFill>
            <a:srgbClr val="12284C"/>
          </a:solidFill>
          <a:ln w="9525">
            <a:solidFill>
              <a:srgbClr val="12284C"/>
            </a:solidFill>
            <a:prstDash val="solid"/>
          </a:ln>
        </p:spPr>
        <p:txBody>
          <a:body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indent="0" marL="0">
              <a:buNone/>
            </a:pPr>
            <a:r>
              <a:rPr lang="en-US" sz="1300" b="1" spc="300" kern="0" dirty="0">
                <a:solidFill>
                  <a:srgbClr val="C9A227"/>
                </a:solidFill>
                <a:latin typeface="Calibri" pitchFamily="34" charset="0"/>
                <a:ea typeface="Calibri" pitchFamily="34" charset="-122"/>
                <a:cs typeface="Calibri" pitchFamily="34" charset="-120"/>
              </a:rPr>
              <a:t>RUANG PENELITIAN</a:t>
            </a:r>
            <a:endParaRPr lang="en-US" sz="12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Menguji dampak pemisahan layanan dan proteksi konsistensi data terhadap konsistensi transaksi pada apotek multicabang.</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Empat rumusan masalah dijawab oleh empat tujuan yang sejajar</a:t>
            </a:r>
            <a:endParaRPr lang="en-US" sz="2800" dirty="0"/>
          </a:p>
        </p:txBody>
      </p:sp>
      <p:sp>
        <p:nvSpPr>
          <p:cNvPr id="4" name="rm0"/>
          <p:cNvSpPr/>
          <p:nvPr/>
        </p:nvSpPr>
        <p:spPr>
          <a:xfrm>
            <a:off x="548640" y="1463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548640" y="1463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6" name="Text 3"/>
          <p:cNvSpPr txBox="1"/>
          <p:nvPr/>
        </p:nvSpPr>
        <p:spPr>
          <a:xfrm>
            <a:off x="548640" y="1463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874520" y="1463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merancang dan mengimplementasikan event-driven microservices pada apotek multicabang dengan sumber kebenaran data per layanan?</a:t>
            </a:r>
            <a:endParaRPr lang="en-US" sz="1600" dirty="0"/>
          </a:p>
        </p:txBody>
      </p:sp>
      <p:sp>
        <p:nvSpPr>
          <p:cNvPr id="8" name="Text 5"/>
          <p:cNvSpPr txBox="1"/>
          <p:nvPr/>
        </p:nvSpPr>
        <p:spPr>
          <a:xfrm>
            <a:off x="8503920" y="1463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Empat layanan, otoritas data</a:t>
            </a:r>
            <a:endParaRPr lang="en-US" sz="1400" dirty="0"/>
          </a:p>
        </p:txBody>
      </p:sp>
      <p:sp>
        <p:nvSpPr>
          <p:cNvPr id="9" name="rm1"/>
          <p:cNvSpPr/>
          <p:nvPr/>
        </p:nvSpPr>
        <p:spPr>
          <a:xfrm>
            <a:off x="548640" y="2606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10" name="Shape 7"/>
          <p:cNvSpPr/>
          <p:nvPr/>
        </p:nvSpPr>
        <p:spPr>
          <a:xfrm>
            <a:off x="548640" y="2606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11" name="Text 8"/>
          <p:cNvSpPr txBox="1"/>
          <p:nvPr/>
        </p:nvSpPr>
        <p:spPr>
          <a:xfrm>
            <a:off x="548640" y="2606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874520" y="2606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503920" y="2606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Invariant bisnis, konkurensi (F5)</a:t>
            </a:r>
            <a:endParaRPr lang="en-US" sz="1400" dirty="0"/>
          </a:p>
        </p:txBody>
      </p:sp>
      <p:sp>
        <p:nvSpPr>
          <p:cNvPr id="14" name="rm2"/>
          <p:cNvSpPr/>
          <p:nvPr/>
        </p:nvSpPr>
        <p:spPr>
          <a:xfrm>
            <a:off x="548640" y="3749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15" name="Shape 12"/>
          <p:cNvSpPr/>
          <p:nvPr/>
        </p:nvSpPr>
        <p:spPr>
          <a:xfrm>
            <a:off x="548640" y="3749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16" name="Text 13"/>
          <p:cNvSpPr txBox="1"/>
          <p:nvPr/>
        </p:nvSpPr>
        <p:spPr>
          <a:xfrm>
            <a:off x="548640" y="3749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874520" y="3749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503920" y="3749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Fault injection dan pemulihan (F1-F6)</a:t>
            </a:r>
            <a:endParaRPr lang="en-US" sz="1400" dirty="0"/>
          </a:p>
        </p:txBody>
      </p:sp>
      <p:sp>
        <p:nvSpPr>
          <p:cNvPr id="19" name="rm3"/>
          <p:cNvSpPr/>
          <p:nvPr/>
        </p:nvSpPr>
        <p:spPr>
          <a:xfrm>
            <a:off x="548640" y="4892040"/>
            <a:ext cx="11064240" cy="987552"/>
          </a:xfrm>
          <a:prstGeom prst="roundRect">
            <a:avLst>
              <a:gd name="adj" fmla="val 14000"/>
            </a:avLst>
          </a:prstGeom>
          <a:solidFill>
            <a:srgbClr val="EEF2F8"/>
          </a:solidFill>
          <a:ln w="9525">
            <a:solidFill>
              <a:srgbClr val="D5DEEC"/>
            </a:solidFill>
            <a:prstDash val="solid"/>
          </a:ln>
        </p:spPr>
        <p:txBody>
          <a:bodyPr/>
          <a:p/>
        </p:txBody>
      </p:sp>
      <p:sp>
        <p:nvSpPr>
          <p:cNvPr id="20" name="Shape 17"/>
          <p:cNvSpPr/>
          <p:nvPr/>
        </p:nvSpPr>
        <p:spPr>
          <a:xfrm>
            <a:off x="548640" y="4892040"/>
            <a:ext cx="1097280" cy="987552"/>
          </a:xfrm>
          <a:prstGeom prst="roundRect">
            <a:avLst>
              <a:gd name="adj" fmla="val 14000"/>
            </a:avLst>
          </a:prstGeom>
          <a:solidFill>
            <a:srgbClr val="12284C"/>
          </a:solidFill>
          <a:ln w="12700">
            <a:solidFill>
              <a:srgbClr val="12284C"/>
            </a:solidFill>
            <a:prstDash val="solid"/>
          </a:ln>
        </p:spPr>
        <p:txBody>
          <a:bodyPr/>
          <a:p/>
        </p:txBody>
      </p:sp>
      <p:sp>
        <p:nvSpPr>
          <p:cNvPr id="21" name="Text 18"/>
          <p:cNvSpPr txBox="1"/>
          <p:nvPr/>
        </p:nvSpPr>
        <p:spPr>
          <a:xfrm>
            <a:off x="548640" y="4892040"/>
            <a:ext cx="109728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874520" y="4892040"/>
            <a:ext cx="6309360" cy="98755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Bagaimana perbandingan konsistensi data dan keandalan transaksi pada ketiga arsitektur dengan beban kerja dan kondisi pengujian yang setara?</a:t>
            </a:r>
            <a:endParaRPr lang="en-US" sz="1600" dirty="0"/>
          </a:p>
        </p:txBody>
      </p:sp>
      <p:sp>
        <p:nvSpPr>
          <p:cNvPr id="23" name="Text 20"/>
          <p:cNvSpPr txBox="1"/>
          <p:nvPr/>
        </p:nvSpPr>
        <p:spPr>
          <a:xfrm>
            <a:off x="8503920" y="4892040"/>
            <a:ext cx="2926080" cy="987552"/>
          </a:xfrm>
          <a:prstGeom prst="rect">
            <a:avLst/>
          </a:prstGeom>
          <a:noFill/>
          <a:ln/>
        </p:spPr>
        <p:txBody>
          <a:bodyPr wrap="square" lIns="0" tIns="0" rIns="0" bIns="0" rtlCol="0" anchor="ctr"/>
          <a:lstStyle/>
          <a:p>
            <a:pPr indent="0" marL="0">
              <a:buNone/>
            </a:pPr>
            <a:r>
              <a:rPr lang="en-US" sz="1500" b="1" dirty="0">
                <a:solidFill>
                  <a:srgbClr val="12284C"/>
                </a:solidFill>
                <a:latin typeface="Calibri" pitchFamily="34" charset="0"/>
                <a:ea typeface="Calibri" pitchFamily="34" charset="-122"/>
                <a:cs typeface="Calibri" pitchFamily="34" charset="-120"/>
              </a:rPr>
              <a:t>3 kondisi, 3.330 run</a:t>
            </a:r>
            <a:endParaRPr lang="en-US" sz="1400" dirty="0"/>
          </a:p>
        </p:txBody>
      </p:sp>
      <p:sp>
        <p:nvSpPr>
          <p:cNvPr id="24" name="Text 21"/>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400" dirty="0">
                <a:solidFill>
                  <a:srgbClr val="5B6B8A"/>
                </a:solidFill>
                <a:latin typeface="Calibri" pitchFamily="34" charset="0"/>
                <a:ea typeface="Calibri" pitchFamily="34" charset="-122"/>
                <a:cs typeface="Calibri" pitchFamily="34" charset="-120"/>
              </a:rPr>
              <a:t>Tujuan 1-4 sejajar dengan RM 1-4. Performa dan kompleksitas operasional menjadi dimensi pendukung.</a:t>
            </a:r>
            <a:endParaRPr lang="en-US" sz="13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Tiga kondisi arsitektur dibandingkan dengan fungsi bisnis yang sama</a:t>
            </a:r>
            <a:endParaRPr lang="en-US" sz="2800" dirty="0"/>
          </a:p>
        </p:txBody>
      </p:sp>
      <p:sp>
        <p:nvSpPr>
          <p:cNvPr id="4" name="k0"/>
          <p:cNvSpPr/>
          <p:nvPr/>
        </p:nvSpPr>
        <p:spPr>
          <a:xfrm>
            <a:off x="548640" y="1463040"/>
            <a:ext cx="3566160" cy="402336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77240" y="1600200"/>
            <a:ext cx="3108960" cy="411480"/>
          </a:xfrm>
          <a:prstGeom prst="rect">
            <a:avLst/>
          </a:prstGeom>
          <a:noFill/>
          <a:ln/>
        </p:spPr>
        <p:txBody>
          <a:bodyPr wrap="square" lIns="0" tIns="0" rIns="0" bIns="0" rtlCol="0" anchor="t"/>
          <a:lstStyle/>
          <a:p>
            <a:pPr indent="0" marL="0">
              <a:buNone/>
            </a:pPr>
            <a:r>
              <a:rPr lang="en-US" sz="2000" b="1" dirty="0">
                <a:solidFill>
                  <a:srgbClr val="12284C"/>
                </a:solidFill>
                <a:latin typeface="Calibri" pitchFamily="34" charset="0"/>
                <a:ea typeface="Calibri" pitchFamily="34" charset="-122"/>
                <a:cs typeface="Calibri" pitchFamily="34" charset="-120"/>
              </a:rPr>
              <a:t>Monolith Terpusat</a:t>
            </a:r>
            <a:endParaRPr lang="en-US" sz="2000" dirty="0"/>
          </a:p>
        </p:txBody>
      </p:sp>
      <p:sp>
        <p:nvSpPr>
          <p:cNvPr id="6" name="Text 3"/>
          <p:cNvSpPr txBox="1"/>
          <p:nvPr/>
        </p:nvSpPr>
        <p:spPr>
          <a:xfrm>
            <a:off x="777240" y="2057400"/>
            <a:ext cx="3108960" cy="59436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Aplikasi tunggal, satu basis data</a:t>
            </a:r>
            <a:endParaRPr lang="en-US" sz="1400" dirty="0"/>
          </a:p>
        </p:txBody>
      </p:sp>
      <p:sp>
        <p:nvSpPr>
          <p:cNvPr id="7" name="Shape 4"/>
          <p:cNvSpPr/>
          <p:nvPr/>
        </p:nvSpPr>
        <p:spPr>
          <a:xfrm>
            <a:off x="960120" y="2880360"/>
            <a:ext cx="2743200" cy="685800"/>
          </a:xfrm>
          <a:prstGeom prst="roundRect">
            <a:avLst>
              <a:gd name="adj" fmla="val 14000"/>
            </a:avLst>
          </a:prstGeom>
          <a:solidFill>
            <a:srgbClr val="FFFFFF"/>
          </a:solidFill>
          <a:ln w="12700">
            <a:solidFill>
              <a:srgbClr val="D5DEEC"/>
            </a:solidFill>
            <a:prstDash val="solid"/>
          </a:ln>
        </p:spPr>
        <p:txBody>
          <a:bodyPr/>
          <a:p/>
        </p:txBody>
      </p:sp>
      <p:sp>
        <p:nvSpPr>
          <p:cNvPr id="8" name="Text 5"/>
          <p:cNvSpPr txBox="1"/>
          <p:nvPr/>
        </p:nvSpPr>
        <p:spPr>
          <a:xfrm>
            <a:off x="960120" y="2880360"/>
            <a:ext cx="2743200" cy="685800"/>
          </a:xfrm>
          <a:prstGeom prst="rect">
            <a:avLst/>
          </a:prstGeom>
          <a:noFill/>
          <a:ln/>
        </p:spPr>
        <p:txBody>
          <a:bodyPr wrap="square" lIns="0" tIns="0" rIns="0" bIns="0" rtlCol="0" anchor="ctr"/>
          <a:lstStyle/>
          <a:p>
            <a:pPr algn="ctr" indent="0" marL="0">
              <a:buNone/>
            </a:pPr>
            <a:r>
              <a:rPr lang="en-US" sz="1700" b="1" dirty="0">
                <a:solidFill>
                  <a:srgbClr val="12284C"/>
                </a:solidFill>
                <a:latin typeface="Calibri" pitchFamily="34" charset="0"/>
                <a:ea typeface="Calibri" pitchFamily="34" charset="-122"/>
                <a:cs typeface="Calibri" pitchFamily="34" charset="-120"/>
              </a:rPr>
              <a:t>1 aplikasi · 4 modul</a:t>
            </a:r>
            <a:endParaRPr lang="en-US" sz="1600" dirty="0"/>
          </a:p>
        </p:txBody>
      </p:sp>
      <p:sp>
        <p:nvSpPr>
          <p:cNvPr id="9" name="Shape 6"/>
          <p:cNvSpPr/>
          <p:nvPr/>
        </p:nvSpPr>
        <p:spPr>
          <a:xfrm>
            <a:off x="2331720" y="3611880"/>
            <a:ext cx="0" cy="365760"/>
          </a:xfrm>
          <a:prstGeom prst="line">
            <a:avLst/>
          </a:prstGeom>
          <a:noFill/>
          <a:ln w="22225">
            <a:solidFill>
              <a:srgbClr val="12284C"/>
            </a:solidFill>
            <a:prstDash val="solid"/>
            <a:tailEnd type="triangle"/>
          </a:ln>
        </p:spPr>
        <p:txBody>
          <a:bodyPr/>
          <a:p/>
        </p:txBody>
      </p:sp>
      <p:sp>
        <p:nvSpPr>
          <p:cNvPr id="10" name="Shape 7"/>
          <p:cNvSpPr/>
          <p:nvPr/>
        </p:nvSpPr>
        <p:spPr>
          <a:xfrm>
            <a:off x="960120" y="4023360"/>
            <a:ext cx="2743200" cy="685800"/>
          </a:xfrm>
          <a:prstGeom prst="roundRect">
            <a:avLst>
              <a:gd name="adj" fmla="val 14000"/>
            </a:avLst>
          </a:prstGeom>
          <a:solidFill>
            <a:srgbClr val="12284C"/>
          </a:solidFill>
          <a:ln w="12700">
            <a:solidFill>
              <a:srgbClr val="12284C"/>
            </a:solidFill>
            <a:prstDash val="solid"/>
          </a:ln>
        </p:spPr>
        <p:txBody>
          <a:bodyPr/>
          <a:p/>
        </p:txBody>
      </p:sp>
      <p:sp>
        <p:nvSpPr>
          <p:cNvPr id="11" name="Text 8"/>
          <p:cNvSpPr txBox="1"/>
          <p:nvPr/>
        </p:nvSpPr>
        <p:spPr>
          <a:xfrm>
            <a:off x="960120" y="4023360"/>
            <a:ext cx="2743200" cy="6858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 MySQL bersama</a:t>
            </a:r>
            <a:endParaRPr lang="en-US" sz="1600" dirty="0"/>
          </a:p>
        </p:txBody>
      </p:sp>
      <p:sp>
        <p:nvSpPr>
          <p:cNvPr id="12" name="Text 9"/>
          <p:cNvSpPr txBox="1"/>
          <p:nvPr/>
        </p:nvSpPr>
        <p:spPr>
          <a:xfrm>
            <a:off x="777240" y="5074920"/>
            <a:ext cx="3108960" cy="320040"/>
          </a:xfrm>
          <a:prstGeom prst="rect">
            <a:avLst/>
          </a:prstGeom>
          <a:noFill/>
          <a:ln/>
        </p:spPr>
        <p:txBody>
          <a:bodyPr wrap="square" lIns="0" tIns="0" rIns="0" bIns="0" rtlCol="0" anchor="b"/>
          <a:lstStyle/>
          <a:p>
            <a:pPr indent="0" marL="0">
              <a:buNone/>
            </a:pPr>
            <a:r>
              <a:rPr lang="en-US" sz="1300" dirty="0">
                <a:solidFill>
                  <a:srgbClr val="5B6B8A"/>
                </a:solidFill>
                <a:latin typeface="Calibri" pitchFamily="34" charset="0"/>
                <a:ea typeface="Calibri" pitchFamily="34" charset="-122"/>
                <a:cs typeface="Calibri" pitchFamily="34" charset="-120"/>
              </a:rPr>
              <a:t>Laravel · MySQL</a:t>
            </a:r>
            <a:endParaRPr lang="en-US" sz="1200" dirty="0"/>
          </a:p>
        </p:txBody>
      </p:sp>
      <p:sp>
        <p:nvSpPr>
          <p:cNvPr id="13" name="k1"/>
          <p:cNvSpPr/>
          <p:nvPr/>
        </p:nvSpPr>
        <p:spPr>
          <a:xfrm>
            <a:off x="4297680" y="1463040"/>
            <a:ext cx="3566160" cy="4023360"/>
          </a:xfrm>
          <a:prstGeom prst="roundRect">
            <a:avLst>
              <a:gd name="adj" fmla="val 14000"/>
            </a:avLst>
          </a:prstGeom>
          <a:solidFill>
            <a:srgbClr val="EEF2F8"/>
          </a:solidFill>
          <a:ln w="9525">
            <a:solidFill>
              <a:srgbClr val="D5DEEC"/>
            </a:solidFill>
            <a:prstDash val="solid"/>
          </a:ln>
        </p:spPr>
        <p:txBody>
          <a:bodyPr/>
          <a:p/>
        </p:txBody>
      </p:sp>
      <p:sp>
        <p:nvSpPr>
          <p:cNvPr id="14" name="Text 11"/>
          <p:cNvSpPr txBox="1"/>
          <p:nvPr/>
        </p:nvSpPr>
        <p:spPr>
          <a:xfrm>
            <a:off x="4526280" y="1600200"/>
            <a:ext cx="3108960" cy="411480"/>
          </a:xfrm>
          <a:prstGeom prst="rect">
            <a:avLst/>
          </a:prstGeom>
          <a:noFill/>
          <a:ln/>
        </p:spPr>
        <p:txBody>
          <a:bodyPr wrap="square" lIns="0" tIns="0" rIns="0" bIns="0" rtlCol="0" anchor="t"/>
          <a:lstStyle/>
          <a:p>
            <a:pPr indent="0" marL="0">
              <a:buNone/>
            </a:pPr>
            <a:r>
              <a:rPr lang="en-US" sz="2000" b="1" dirty="0">
                <a:solidFill>
                  <a:srgbClr val="12284C"/>
                </a:solidFill>
                <a:latin typeface="Calibri" pitchFamily="34" charset="0"/>
                <a:ea typeface="Calibri" pitchFamily="34" charset="-122"/>
                <a:cs typeface="Calibri" pitchFamily="34" charset="-120"/>
              </a:rPr>
              <a:t>EDA tanpa Proteksi</a:t>
            </a:r>
            <a:endParaRPr lang="en-US" sz="2000" dirty="0"/>
          </a:p>
        </p:txBody>
      </p:sp>
      <p:sp>
        <p:nvSpPr>
          <p:cNvPr id="15" name="Text 12"/>
          <p:cNvSpPr txBox="1"/>
          <p:nvPr/>
        </p:nvSpPr>
        <p:spPr>
          <a:xfrm>
            <a:off x="4526280" y="2057400"/>
            <a:ext cx="3108960" cy="594360"/>
          </a:xfrm>
          <a:prstGeom prst="rect">
            <a:avLst/>
          </a:prstGeom>
          <a:noFill/>
          <a:ln/>
        </p:spPr>
        <p:txBody>
          <a:bodyPr wrap="square" lIns="0" tIns="0" rIns="0" bIns="0" rtlCol="0" anchor="t"/>
          <a:lstStyle/>
          <a:p>
            <a:pPr indent="0" marL="0">
              <a:buNone/>
            </a:pPr>
            <a:r>
              <a:rPr lang="en-US" sz="1500" dirty="0">
                <a:solidFill>
                  <a:srgbClr val="5B6B8A"/>
                </a:solidFill>
                <a:latin typeface="Calibri" pitchFamily="34" charset="0"/>
                <a:ea typeface="Calibri" pitchFamily="34" charset="-122"/>
                <a:cs typeface="Calibri" pitchFamily="34" charset="-120"/>
              </a:rPr>
              <a:t>Event-driven microservices tanpa proteksi konsistensi data</a:t>
            </a:r>
            <a:endParaRPr lang="en-US" sz="1400" dirty="0"/>
          </a:p>
        </p:txBody>
      </p:sp>
      <p:sp>
        <p:nvSpPr>
          <p:cNvPr id="16" name="Shape 13"/>
          <p:cNvSpPr/>
          <p:nvPr/>
        </p:nvSpPr>
        <p:spPr>
          <a:xfrm>
            <a:off x="45262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17" name="Text 14"/>
          <p:cNvSpPr txBox="1"/>
          <p:nvPr/>
        </p:nvSpPr>
        <p:spPr>
          <a:xfrm>
            <a:off x="45262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Penjualan</a:t>
            </a:r>
            <a:endParaRPr lang="en-US" sz="1000" dirty="0"/>
          </a:p>
        </p:txBody>
      </p:sp>
      <p:sp>
        <p:nvSpPr>
          <p:cNvPr id="18" name="Shape 15"/>
          <p:cNvSpPr/>
          <p:nvPr/>
        </p:nvSpPr>
        <p:spPr>
          <a:xfrm>
            <a:off x="4880610" y="3337560"/>
            <a:ext cx="0" cy="182880"/>
          </a:xfrm>
          <a:prstGeom prst="line">
            <a:avLst/>
          </a:prstGeom>
          <a:noFill/>
          <a:ln w="15875">
            <a:solidFill>
              <a:srgbClr val="5B6B8A"/>
            </a:solidFill>
            <a:prstDash val="solid"/>
          </a:ln>
        </p:spPr>
        <p:txBody>
          <a:bodyPr/>
          <a:p/>
        </p:txBody>
      </p:sp>
      <p:sp>
        <p:nvSpPr>
          <p:cNvPr id="19" name="Shape 16"/>
          <p:cNvSpPr/>
          <p:nvPr/>
        </p:nvSpPr>
        <p:spPr>
          <a:xfrm>
            <a:off x="45902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20" name="Text 17"/>
          <p:cNvSpPr txBox="1"/>
          <p:nvPr/>
        </p:nvSpPr>
        <p:spPr>
          <a:xfrm>
            <a:off x="45902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21" name="Shape 18"/>
          <p:cNvSpPr/>
          <p:nvPr/>
        </p:nvSpPr>
        <p:spPr>
          <a:xfrm>
            <a:off x="53263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22" name="Text 19"/>
          <p:cNvSpPr txBox="1"/>
          <p:nvPr/>
        </p:nvSpPr>
        <p:spPr>
          <a:xfrm>
            <a:off x="53263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Persediaan</a:t>
            </a:r>
            <a:endParaRPr lang="en-US" sz="1000" dirty="0"/>
          </a:p>
        </p:txBody>
      </p:sp>
      <p:sp>
        <p:nvSpPr>
          <p:cNvPr id="23" name="Shape 20"/>
          <p:cNvSpPr/>
          <p:nvPr/>
        </p:nvSpPr>
        <p:spPr>
          <a:xfrm>
            <a:off x="5680710" y="3337560"/>
            <a:ext cx="0" cy="182880"/>
          </a:xfrm>
          <a:prstGeom prst="line">
            <a:avLst/>
          </a:prstGeom>
          <a:noFill/>
          <a:ln w="15875">
            <a:solidFill>
              <a:srgbClr val="5B6B8A"/>
            </a:solidFill>
            <a:prstDash val="solid"/>
          </a:ln>
        </p:spPr>
        <p:txBody>
          <a:bodyPr/>
          <a:p/>
        </p:txBody>
      </p:sp>
      <p:sp>
        <p:nvSpPr>
          <p:cNvPr id="24" name="Shape 21"/>
          <p:cNvSpPr/>
          <p:nvPr/>
        </p:nvSpPr>
        <p:spPr>
          <a:xfrm>
            <a:off x="53903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25" name="Text 22"/>
          <p:cNvSpPr txBox="1"/>
          <p:nvPr/>
        </p:nvSpPr>
        <p:spPr>
          <a:xfrm>
            <a:off x="53903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26" name="Shape 23"/>
          <p:cNvSpPr/>
          <p:nvPr/>
        </p:nvSpPr>
        <p:spPr>
          <a:xfrm>
            <a:off x="61264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27" name="Text 24"/>
          <p:cNvSpPr txBox="1"/>
          <p:nvPr/>
        </p:nvSpPr>
        <p:spPr>
          <a:xfrm>
            <a:off x="61264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Pembayaran</a:t>
            </a:r>
            <a:endParaRPr lang="en-US" sz="1000" dirty="0"/>
          </a:p>
        </p:txBody>
      </p:sp>
      <p:sp>
        <p:nvSpPr>
          <p:cNvPr id="28" name="Shape 25"/>
          <p:cNvSpPr/>
          <p:nvPr/>
        </p:nvSpPr>
        <p:spPr>
          <a:xfrm>
            <a:off x="6480810" y="3337560"/>
            <a:ext cx="0" cy="182880"/>
          </a:xfrm>
          <a:prstGeom prst="line">
            <a:avLst/>
          </a:prstGeom>
          <a:noFill/>
          <a:ln w="15875">
            <a:solidFill>
              <a:srgbClr val="5B6B8A"/>
            </a:solidFill>
            <a:prstDash val="solid"/>
          </a:ln>
        </p:spPr>
        <p:txBody>
          <a:bodyPr/>
          <a:p/>
        </p:txBody>
      </p:sp>
      <p:sp>
        <p:nvSpPr>
          <p:cNvPr id="29" name="Shape 26"/>
          <p:cNvSpPr/>
          <p:nvPr/>
        </p:nvSpPr>
        <p:spPr>
          <a:xfrm>
            <a:off x="61904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30" name="Text 27"/>
          <p:cNvSpPr txBox="1"/>
          <p:nvPr/>
        </p:nvSpPr>
        <p:spPr>
          <a:xfrm>
            <a:off x="61904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31" name="Shape 28"/>
          <p:cNvSpPr/>
          <p:nvPr/>
        </p:nvSpPr>
        <p:spPr>
          <a:xfrm>
            <a:off x="692658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32" name="Text 29"/>
          <p:cNvSpPr txBox="1"/>
          <p:nvPr/>
        </p:nvSpPr>
        <p:spPr>
          <a:xfrm>
            <a:off x="692658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Pelaporan</a:t>
            </a:r>
            <a:endParaRPr lang="en-US" sz="1000" dirty="0"/>
          </a:p>
        </p:txBody>
      </p:sp>
      <p:sp>
        <p:nvSpPr>
          <p:cNvPr id="33" name="Shape 30"/>
          <p:cNvSpPr/>
          <p:nvPr/>
        </p:nvSpPr>
        <p:spPr>
          <a:xfrm>
            <a:off x="7280910" y="3337560"/>
            <a:ext cx="0" cy="182880"/>
          </a:xfrm>
          <a:prstGeom prst="line">
            <a:avLst/>
          </a:prstGeom>
          <a:noFill/>
          <a:ln w="15875">
            <a:solidFill>
              <a:srgbClr val="5B6B8A"/>
            </a:solidFill>
            <a:prstDash val="solid"/>
          </a:ln>
        </p:spPr>
        <p:txBody>
          <a:bodyPr/>
          <a:p/>
        </p:txBody>
      </p:sp>
      <p:sp>
        <p:nvSpPr>
          <p:cNvPr id="34" name="Shape 31"/>
          <p:cNvSpPr/>
          <p:nvPr/>
        </p:nvSpPr>
        <p:spPr>
          <a:xfrm>
            <a:off x="6990588" y="3520440"/>
            <a:ext cx="580644" cy="320040"/>
          </a:xfrm>
          <a:prstGeom prst="roundRect">
            <a:avLst>
              <a:gd name="adj" fmla="val 14286"/>
            </a:avLst>
          </a:prstGeom>
          <a:solidFill>
            <a:srgbClr val="D5DEEC"/>
          </a:solidFill>
          <a:ln w="12700">
            <a:solidFill>
              <a:srgbClr val="D5DEEC"/>
            </a:solidFill>
            <a:prstDash val="solid"/>
          </a:ln>
        </p:spPr>
        <p:txBody>
          <a:bodyPr/>
          <a:p/>
        </p:txBody>
      </p:sp>
      <p:sp>
        <p:nvSpPr>
          <p:cNvPr id="35" name="Text 32"/>
          <p:cNvSpPr txBox="1"/>
          <p:nvPr/>
        </p:nvSpPr>
        <p:spPr>
          <a:xfrm>
            <a:off x="6990588" y="3520440"/>
            <a:ext cx="580644" cy="320040"/>
          </a:xfrm>
          <a:prstGeom prst="rect">
            <a:avLst/>
          </a:prstGeom>
          <a:noFill/>
          <a:ln/>
        </p:spPr>
        <p:txBody>
          <a:bodyPr wrap="square" lIns="0" tIns="0" rIns="0" bIns="0" rtlCol="0" anchor="ctr"/>
          <a:lstStyle/>
          <a:p>
            <a:pPr algn="ctr" indent="0" marL="0">
              <a:buNone/>
            </a:pPr>
            <a:r>
              <a:rPr lang="en-US" sz="1200" b="1" dirty="0">
                <a:solidFill>
                  <a:srgbClr val="12284C"/>
                </a:solidFill>
                <a:latin typeface="Calibri" pitchFamily="34" charset="0"/>
                <a:ea typeface="Calibri" pitchFamily="34" charset="-122"/>
                <a:cs typeface="Calibri" pitchFamily="34" charset="-120"/>
              </a:rPr>
              <a:t>DB</a:t>
            </a:r>
            <a:endParaRPr lang="en-US" sz="1000" dirty="0"/>
          </a:p>
        </p:txBody>
      </p:sp>
      <p:sp>
        <p:nvSpPr>
          <p:cNvPr id="36" name="Shape 33"/>
          <p:cNvSpPr/>
          <p:nvPr/>
        </p:nvSpPr>
        <p:spPr>
          <a:xfrm>
            <a:off x="4526280" y="4023360"/>
            <a:ext cx="3108960" cy="457200"/>
          </a:xfrm>
          <a:prstGeom prst="roundRect">
            <a:avLst>
              <a:gd name="adj" fmla="val 14000"/>
            </a:avLst>
          </a:prstGeom>
          <a:solidFill>
            <a:srgbClr val="12284C"/>
          </a:solidFill>
          <a:ln w="12700">
            <a:solidFill>
              <a:srgbClr val="12284C"/>
            </a:solidFill>
            <a:prstDash val="solid"/>
          </a:ln>
        </p:spPr>
        <p:txBody>
          <a:bodyPr/>
          <a:p/>
        </p:txBody>
      </p:sp>
      <p:sp>
        <p:nvSpPr>
          <p:cNvPr id="37" name="Text 34"/>
          <p:cNvSpPr txBox="1"/>
          <p:nvPr/>
        </p:nvSpPr>
        <p:spPr>
          <a:xfrm>
            <a:off x="4526280" y="4023360"/>
            <a:ext cx="3108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RabbitMQ (asinkron)</a:t>
            </a:r>
            <a:endParaRPr lang="en-US" sz="1400" dirty="0"/>
          </a:p>
        </p:txBody>
      </p:sp>
      <p:sp>
        <p:nvSpPr>
          <p:cNvPr id="38" name="Text 35"/>
          <p:cNvSpPr txBox="1"/>
          <p:nvPr/>
        </p:nvSpPr>
        <p:spPr>
          <a:xfrm>
            <a:off x="4526280" y="5074920"/>
            <a:ext cx="3108960" cy="320040"/>
          </a:xfrm>
          <a:prstGeom prst="rect">
            <a:avLst/>
          </a:prstGeom>
          <a:noFill/>
          <a:ln/>
        </p:spPr>
        <p:txBody>
          <a:bodyPr wrap="square" lIns="0" tIns="0" rIns="0" bIns="0" rtlCol="0" anchor="b"/>
          <a:lstStyle/>
          <a:p>
            <a:pPr indent="0" marL="0">
              <a:buNone/>
            </a:pPr>
            <a:r>
              <a:rPr lang="en-US" sz="1300" dirty="0">
                <a:solidFill>
                  <a:srgbClr val="5B6B8A"/>
                </a:solidFill>
                <a:latin typeface="Calibri" pitchFamily="34" charset="0"/>
                <a:ea typeface="Calibri" pitchFamily="34" charset="-122"/>
                <a:cs typeface="Calibri" pitchFamily="34" charset="-120"/>
              </a:rPr>
              <a:t>NestJS · MySQL per layanan · RabbitMQ</a:t>
            </a:r>
            <a:endParaRPr lang="en-US" sz="1200" dirty="0"/>
          </a:p>
        </p:txBody>
      </p:sp>
      <p:sp>
        <p:nvSpPr>
          <p:cNvPr id="39" name="k2"/>
          <p:cNvSpPr/>
          <p:nvPr/>
        </p:nvSpPr>
        <p:spPr>
          <a:xfrm>
            <a:off x="8046720" y="1463040"/>
            <a:ext cx="3566160" cy="4023360"/>
          </a:xfrm>
          <a:prstGeom prst="roundRect">
            <a:avLst>
              <a:gd name="adj" fmla="val 14000"/>
            </a:avLst>
          </a:prstGeom>
          <a:solidFill>
            <a:srgbClr val="12284C"/>
          </a:solidFill>
          <a:ln w="9525">
            <a:solidFill>
              <a:srgbClr val="12284C"/>
            </a:solidFill>
            <a:prstDash val="solid"/>
          </a:ln>
        </p:spPr>
        <p:txBody>
          <a:bodyPr/>
          <a:p/>
        </p:txBody>
      </p:sp>
      <p:sp>
        <p:nvSpPr>
          <p:cNvPr id="40" name="Text 37"/>
          <p:cNvSpPr txBox="1"/>
          <p:nvPr/>
        </p:nvSpPr>
        <p:spPr>
          <a:xfrm>
            <a:off x="8275320" y="1600200"/>
            <a:ext cx="310896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EDA dengan Proteksi</a:t>
            </a:r>
            <a:endParaRPr lang="en-US" sz="2000" dirty="0"/>
          </a:p>
        </p:txBody>
      </p:sp>
      <p:sp>
        <p:nvSpPr>
          <p:cNvPr id="41" name="Text 38"/>
          <p:cNvSpPr txBox="1"/>
          <p:nvPr/>
        </p:nvSpPr>
        <p:spPr>
          <a:xfrm>
            <a:off x="8275320" y="2057400"/>
            <a:ext cx="3108960" cy="5943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Susunan sama, plus paket proteksi konsistensi data</a:t>
            </a:r>
            <a:endParaRPr lang="en-US" sz="1400" dirty="0"/>
          </a:p>
        </p:txBody>
      </p:sp>
      <p:sp>
        <p:nvSpPr>
          <p:cNvPr id="42" name="Shape 39"/>
          <p:cNvSpPr/>
          <p:nvPr/>
        </p:nvSpPr>
        <p:spPr>
          <a:xfrm>
            <a:off x="82753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43" name="Text 40"/>
          <p:cNvSpPr txBox="1"/>
          <p:nvPr/>
        </p:nvSpPr>
        <p:spPr>
          <a:xfrm>
            <a:off x="82753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Penjualan</a:t>
            </a:r>
            <a:endParaRPr lang="en-US" sz="1000" dirty="0"/>
          </a:p>
        </p:txBody>
      </p:sp>
      <p:sp>
        <p:nvSpPr>
          <p:cNvPr id="44" name="Shape 41"/>
          <p:cNvSpPr/>
          <p:nvPr/>
        </p:nvSpPr>
        <p:spPr>
          <a:xfrm>
            <a:off x="8629650" y="3337560"/>
            <a:ext cx="0" cy="182880"/>
          </a:xfrm>
          <a:prstGeom prst="line">
            <a:avLst/>
          </a:prstGeom>
          <a:noFill/>
          <a:ln w="15875">
            <a:solidFill>
              <a:srgbClr val="CADCFC"/>
            </a:solidFill>
            <a:prstDash val="solid"/>
          </a:ln>
        </p:spPr>
        <p:txBody>
          <a:bodyPr/>
          <a:p/>
        </p:txBody>
      </p:sp>
      <p:sp>
        <p:nvSpPr>
          <p:cNvPr id="45" name="Shape 42"/>
          <p:cNvSpPr/>
          <p:nvPr/>
        </p:nvSpPr>
        <p:spPr>
          <a:xfrm>
            <a:off x="83393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46" name="Text 43"/>
          <p:cNvSpPr txBox="1"/>
          <p:nvPr/>
        </p:nvSpPr>
        <p:spPr>
          <a:xfrm>
            <a:off x="83393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47" name="Shape 44"/>
          <p:cNvSpPr/>
          <p:nvPr/>
        </p:nvSpPr>
        <p:spPr>
          <a:xfrm>
            <a:off x="90754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48" name="Text 45"/>
          <p:cNvSpPr txBox="1"/>
          <p:nvPr/>
        </p:nvSpPr>
        <p:spPr>
          <a:xfrm>
            <a:off x="90754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Persediaan</a:t>
            </a:r>
            <a:endParaRPr lang="en-US" sz="1000" dirty="0"/>
          </a:p>
        </p:txBody>
      </p:sp>
      <p:sp>
        <p:nvSpPr>
          <p:cNvPr id="49" name="Shape 46"/>
          <p:cNvSpPr/>
          <p:nvPr/>
        </p:nvSpPr>
        <p:spPr>
          <a:xfrm>
            <a:off x="9429750" y="3337560"/>
            <a:ext cx="0" cy="182880"/>
          </a:xfrm>
          <a:prstGeom prst="line">
            <a:avLst/>
          </a:prstGeom>
          <a:noFill/>
          <a:ln w="15875">
            <a:solidFill>
              <a:srgbClr val="CADCFC"/>
            </a:solidFill>
            <a:prstDash val="solid"/>
          </a:ln>
        </p:spPr>
        <p:txBody>
          <a:bodyPr/>
          <a:p/>
        </p:txBody>
      </p:sp>
      <p:sp>
        <p:nvSpPr>
          <p:cNvPr id="50" name="Shape 47"/>
          <p:cNvSpPr/>
          <p:nvPr/>
        </p:nvSpPr>
        <p:spPr>
          <a:xfrm>
            <a:off x="91394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51" name="Text 48"/>
          <p:cNvSpPr txBox="1"/>
          <p:nvPr/>
        </p:nvSpPr>
        <p:spPr>
          <a:xfrm>
            <a:off x="91394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52" name="Shape 49"/>
          <p:cNvSpPr/>
          <p:nvPr/>
        </p:nvSpPr>
        <p:spPr>
          <a:xfrm>
            <a:off x="98755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53" name="Text 50"/>
          <p:cNvSpPr txBox="1"/>
          <p:nvPr/>
        </p:nvSpPr>
        <p:spPr>
          <a:xfrm>
            <a:off x="98755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Pembayaran</a:t>
            </a:r>
            <a:endParaRPr lang="en-US" sz="1000" dirty="0"/>
          </a:p>
        </p:txBody>
      </p:sp>
      <p:sp>
        <p:nvSpPr>
          <p:cNvPr id="54" name="Shape 51"/>
          <p:cNvSpPr/>
          <p:nvPr/>
        </p:nvSpPr>
        <p:spPr>
          <a:xfrm>
            <a:off x="10229850" y="3337560"/>
            <a:ext cx="0" cy="182880"/>
          </a:xfrm>
          <a:prstGeom prst="line">
            <a:avLst/>
          </a:prstGeom>
          <a:noFill/>
          <a:ln w="15875">
            <a:solidFill>
              <a:srgbClr val="CADCFC"/>
            </a:solidFill>
            <a:prstDash val="solid"/>
          </a:ln>
        </p:spPr>
        <p:txBody>
          <a:bodyPr/>
          <a:p/>
        </p:txBody>
      </p:sp>
      <p:sp>
        <p:nvSpPr>
          <p:cNvPr id="55" name="Shape 52"/>
          <p:cNvSpPr/>
          <p:nvPr/>
        </p:nvSpPr>
        <p:spPr>
          <a:xfrm>
            <a:off x="99395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56" name="Text 53"/>
          <p:cNvSpPr txBox="1"/>
          <p:nvPr/>
        </p:nvSpPr>
        <p:spPr>
          <a:xfrm>
            <a:off x="99395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57" name="Shape 54"/>
          <p:cNvSpPr/>
          <p:nvPr/>
        </p:nvSpPr>
        <p:spPr>
          <a:xfrm>
            <a:off x="10675620" y="2834640"/>
            <a:ext cx="708660" cy="502920"/>
          </a:xfrm>
          <a:prstGeom prst="roundRect">
            <a:avLst>
              <a:gd name="adj" fmla="val 14000"/>
            </a:avLst>
          </a:prstGeom>
          <a:solidFill>
            <a:srgbClr val="FFFFFF"/>
          </a:solidFill>
          <a:ln w="12700">
            <a:solidFill>
              <a:srgbClr val="D5DEEC"/>
            </a:solidFill>
            <a:prstDash val="solid"/>
          </a:ln>
        </p:spPr>
        <p:txBody>
          <a:bodyPr/>
          <a:p/>
        </p:txBody>
      </p:sp>
      <p:sp>
        <p:nvSpPr>
          <p:cNvPr id="58" name="Text 55"/>
          <p:cNvSpPr txBox="1"/>
          <p:nvPr/>
        </p:nvSpPr>
        <p:spPr>
          <a:xfrm>
            <a:off x="10675620" y="2834640"/>
            <a:ext cx="708660" cy="502920"/>
          </a:xfrm>
          <a:prstGeom prst="rect">
            <a:avLst/>
          </a:prstGeom>
          <a:noFill/>
          <a:ln/>
        </p:spPr>
        <p:txBody>
          <a:bodyPr wrap="none" lIns="0" tIns="0" rIns="0" bIns="0" rtlCol="0" anchor="ctr"/>
          <a:lstStyle/>
          <a:p>
            <a:pPr algn="ctr" indent="0" marL="0">
              <a:buNone/>
            </a:pPr>
            <a:r>
              <a:rPr lang="en-US" sz="1050" b="1" dirty="0">
                <a:solidFill>
                  <a:srgbClr val="12284C"/>
                </a:solidFill>
                <a:latin typeface="Calibri" pitchFamily="34" charset="0"/>
                <a:ea typeface="Calibri" pitchFamily="34" charset="-122"/>
                <a:cs typeface="Calibri" pitchFamily="34" charset="-120"/>
              </a:rPr>
              <a:t>Pelaporan</a:t>
            </a:r>
            <a:endParaRPr lang="en-US" sz="1000" dirty="0"/>
          </a:p>
        </p:txBody>
      </p:sp>
      <p:sp>
        <p:nvSpPr>
          <p:cNvPr id="59" name="Shape 56"/>
          <p:cNvSpPr/>
          <p:nvPr/>
        </p:nvSpPr>
        <p:spPr>
          <a:xfrm>
            <a:off x="11029950" y="3337560"/>
            <a:ext cx="0" cy="182880"/>
          </a:xfrm>
          <a:prstGeom prst="line">
            <a:avLst/>
          </a:prstGeom>
          <a:noFill/>
          <a:ln w="15875">
            <a:solidFill>
              <a:srgbClr val="CADCFC"/>
            </a:solidFill>
            <a:prstDash val="solid"/>
          </a:ln>
        </p:spPr>
        <p:txBody>
          <a:bodyPr/>
          <a:p/>
        </p:txBody>
      </p:sp>
      <p:sp>
        <p:nvSpPr>
          <p:cNvPr id="60" name="Shape 57"/>
          <p:cNvSpPr/>
          <p:nvPr/>
        </p:nvSpPr>
        <p:spPr>
          <a:xfrm>
            <a:off x="10739628" y="3520440"/>
            <a:ext cx="580644" cy="320040"/>
          </a:xfrm>
          <a:prstGeom prst="roundRect">
            <a:avLst>
              <a:gd name="adj" fmla="val 14286"/>
            </a:avLst>
          </a:prstGeom>
          <a:solidFill>
            <a:srgbClr val="2A4373"/>
          </a:solidFill>
          <a:ln w="12700">
            <a:solidFill>
              <a:srgbClr val="2A4373"/>
            </a:solidFill>
            <a:prstDash val="solid"/>
          </a:ln>
        </p:spPr>
        <p:txBody>
          <a:bodyPr/>
          <a:p/>
        </p:txBody>
      </p:sp>
      <p:sp>
        <p:nvSpPr>
          <p:cNvPr id="61" name="Text 58"/>
          <p:cNvSpPr txBox="1"/>
          <p:nvPr/>
        </p:nvSpPr>
        <p:spPr>
          <a:xfrm>
            <a:off x="10739628" y="3520440"/>
            <a:ext cx="580644"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000" dirty="0"/>
          </a:p>
        </p:txBody>
      </p:sp>
      <p:sp>
        <p:nvSpPr>
          <p:cNvPr id="62" name="Shape 59"/>
          <p:cNvSpPr/>
          <p:nvPr/>
        </p:nvSpPr>
        <p:spPr>
          <a:xfrm>
            <a:off x="8275320" y="4023360"/>
            <a:ext cx="3108960" cy="457200"/>
          </a:xfrm>
          <a:prstGeom prst="roundRect">
            <a:avLst>
              <a:gd name="adj" fmla="val 14000"/>
            </a:avLst>
          </a:prstGeom>
          <a:solidFill>
            <a:srgbClr val="FFFFFF"/>
          </a:solidFill>
          <a:ln w="12700">
            <a:solidFill>
              <a:srgbClr val="FFFFFF"/>
            </a:solidFill>
            <a:prstDash val="solid"/>
          </a:ln>
        </p:spPr>
        <p:txBody>
          <a:bodyPr/>
          <a:p/>
        </p:txBody>
      </p:sp>
      <p:sp>
        <p:nvSpPr>
          <p:cNvPr id="63" name="Text 60"/>
          <p:cNvSpPr txBox="1"/>
          <p:nvPr/>
        </p:nvSpPr>
        <p:spPr>
          <a:xfrm>
            <a:off x="8275320" y="4023360"/>
            <a:ext cx="3108960" cy="45720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RabbitMQ (asinkron)</a:t>
            </a:r>
            <a:endParaRPr lang="en-US" sz="1400" dirty="0"/>
          </a:p>
        </p:txBody>
      </p:sp>
      <p:sp>
        <p:nvSpPr>
          <p:cNvPr id="64" name="Shape 61"/>
          <p:cNvSpPr/>
          <p:nvPr/>
        </p:nvSpPr>
        <p:spPr>
          <a:xfrm>
            <a:off x="8275320" y="4572000"/>
            <a:ext cx="3108960" cy="411480"/>
          </a:xfrm>
          <a:prstGeom prst="roundRect">
            <a:avLst>
              <a:gd name="adj" fmla="val 14000"/>
            </a:avLst>
          </a:prstGeom>
          <a:solidFill>
            <a:srgbClr val="C9A227"/>
          </a:solidFill>
          <a:ln w="12700">
            <a:solidFill>
              <a:srgbClr val="C9A227"/>
            </a:solidFill>
            <a:prstDash val="solid"/>
          </a:ln>
        </p:spPr>
        <p:txBody>
          <a:bodyPr/>
          <a:p/>
        </p:txBody>
      </p:sp>
      <p:sp>
        <p:nvSpPr>
          <p:cNvPr id="65" name="Text 62"/>
          <p:cNvSpPr txBox="1"/>
          <p:nvPr/>
        </p:nvSpPr>
        <p:spPr>
          <a:xfrm>
            <a:off x="8275320" y="4572000"/>
            <a:ext cx="3108960" cy="41148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+ 5 mekanisme proteksi</a:t>
            </a:r>
            <a:endParaRPr lang="en-US" sz="1400" dirty="0"/>
          </a:p>
        </p:txBody>
      </p:sp>
      <p:sp>
        <p:nvSpPr>
          <p:cNvPr id="66" name="Text 63"/>
          <p:cNvSpPr txBox="1"/>
          <p:nvPr/>
        </p:nvSpPr>
        <p:spPr>
          <a:xfrm>
            <a:off x="8275320" y="5074920"/>
            <a:ext cx="3108960" cy="320040"/>
          </a:xfrm>
          <a:prstGeom prst="rect">
            <a:avLst/>
          </a:prstGeom>
          <a:noFill/>
          <a:ln/>
        </p:spPr>
        <p:txBody>
          <a:bodyPr wrap="square" lIns="0" tIns="0" rIns="0" bIns="0" rtlCol="0" anchor="b"/>
          <a:lstStyle/>
          <a:p>
            <a:pPr indent="0" marL="0">
              <a:buNone/>
            </a:pPr>
            <a:r>
              <a:rPr lang="en-US" sz="1300" dirty="0">
                <a:solidFill>
                  <a:srgbClr val="CADCFC"/>
                </a:solidFill>
                <a:latin typeface="Calibri" pitchFamily="34" charset="0"/>
                <a:ea typeface="Calibri" pitchFamily="34" charset="-122"/>
                <a:cs typeface="Calibri" pitchFamily="34" charset="-120"/>
              </a:rPr>
              <a:t>NestJS · MySQL per layanan · RabbitMQ</a:t>
            </a:r>
            <a:endParaRPr lang="en-US" sz="1200" dirty="0"/>
          </a:p>
        </p:txBody>
      </p:sp>
      <p:sp>
        <p:nvSpPr>
          <p:cNvPr id="67" name="pesan"/>
          <p:cNvSpPr/>
          <p:nvPr/>
        </p:nvSpPr>
        <p:spPr>
          <a:xfrm>
            <a:off x="548640" y="5669280"/>
            <a:ext cx="11064240" cy="640080"/>
          </a:xfrm>
          <a:prstGeom prst="roundRect">
            <a:avLst>
              <a:gd name="adj" fmla="val 14000"/>
            </a:avLst>
          </a:prstGeom>
          <a:solidFill>
            <a:srgbClr val="FFFFFF"/>
          </a:solidFill>
          <a:ln w="9525">
            <a:solidFill>
              <a:srgbClr val="FFFFFF"/>
            </a:solidFill>
            <a:prstDash val="solid"/>
          </a:ln>
        </p:spPr>
        <p:txBody>
          <a:bodyPr/>
          <a:p/>
        </p:txBody>
      </p:sp>
      <p:sp>
        <p:nvSpPr>
          <p:cNvPr id="68" name="Text 65"/>
          <p:cNvSpPr txBox="1"/>
          <p:nvPr/>
        </p:nvSpPr>
        <p:spPr>
          <a:xfrm>
            <a:off x="822960" y="5669280"/>
            <a:ext cx="10515600" cy="64008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EDA vs EDA: hanya paket proteksi yang berbeda. Monolith vs EDA: framework, jumlah basis data, dan komunikasi ikut berbeda, jadi bukan efek satu variabel.</a:t>
            </a:r>
            <a:pPr indent="0" marL="0">
              <a:buNone/>
            </a:pP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Konsistensi dinilai dari kondisi akhir data, bukan dari selisih sementara</a:t>
            </a:r>
            <a:endParaRPr lang="en-US" sz="2800" dirty="0"/>
          </a:p>
        </p:txBody>
      </p:sp>
      <p:sp>
        <p:nvSpPr>
          <p:cNvPr id="4" name="dim0"/>
          <p:cNvSpPr/>
          <p:nvPr/>
        </p:nvSpPr>
        <p:spPr>
          <a:xfrm>
            <a:off x="548640" y="1417320"/>
            <a:ext cx="5440680" cy="868680"/>
          </a:xfrm>
          <a:prstGeom prst="roundRect">
            <a:avLst>
              <a:gd name="adj" fmla="val 14000"/>
            </a:avLst>
          </a:prstGeom>
          <a:solidFill>
            <a:srgbClr val="12284C"/>
          </a:solidFill>
          <a:ln w="9525">
            <a:solidFill>
              <a:srgbClr val="12284C"/>
            </a:solidFill>
            <a:prstDash val="solid"/>
          </a:ln>
        </p:spPr>
        <p:txBody>
          <a:bodyPr/>
          <a:p/>
        </p:txBody>
      </p:sp>
      <p:sp>
        <p:nvSpPr>
          <p:cNvPr id="5" name="Text 2"/>
          <p:cNvSpPr txBox="1"/>
          <p:nvPr/>
        </p:nvSpPr>
        <p:spPr>
          <a:xfrm>
            <a:off x="777240" y="1481328"/>
            <a:ext cx="50292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Konsistensi data</a:t>
            </a:r>
            <a:endParaRPr lang="en-US" sz="1800" dirty="0"/>
          </a:p>
        </p:txBody>
      </p:sp>
      <p:sp>
        <p:nvSpPr>
          <p:cNvPr id="6" name="Text 3"/>
          <p:cNvSpPr txBox="1"/>
          <p:nvPr/>
        </p:nvSpPr>
        <p:spPr>
          <a:xfrm>
            <a:off x="777240" y="1847088"/>
            <a:ext cx="5029200" cy="3657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kondisi akhir memenuhi aturan bisnis stok dan saldo</a:t>
            </a:r>
            <a:endParaRPr lang="en-US" sz="1400" dirty="0"/>
          </a:p>
        </p:txBody>
      </p:sp>
      <p:sp>
        <p:nvSpPr>
          <p:cNvPr id="7" name="dim1"/>
          <p:cNvSpPr/>
          <p:nvPr/>
        </p:nvSpPr>
        <p:spPr>
          <a:xfrm>
            <a:off x="6172200" y="1417320"/>
            <a:ext cx="5440680" cy="868680"/>
          </a:xfrm>
          <a:prstGeom prst="roundRect">
            <a:avLst>
              <a:gd name="adj" fmla="val 14000"/>
            </a:avLst>
          </a:prstGeom>
          <a:solidFill>
            <a:srgbClr val="12284C"/>
          </a:solidFill>
          <a:ln w="9525">
            <a:solidFill>
              <a:srgbClr val="12284C"/>
            </a:solidFill>
            <a:prstDash val="solid"/>
          </a:ln>
        </p:spPr>
        <p:txBody>
          <a:bodyPr/>
          <a:p/>
        </p:txBody>
      </p:sp>
      <p:sp>
        <p:nvSpPr>
          <p:cNvPr id="8" name="Text 5"/>
          <p:cNvSpPr txBox="1"/>
          <p:nvPr/>
        </p:nvSpPr>
        <p:spPr>
          <a:xfrm>
            <a:off x="6400800" y="1481328"/>
            <a:ext cx="502920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Keandalan transaksi</a:t>
            </a:r>
            <a:endParaRPr lang="en-US" sz="1800" dirty="0"/>
          </a:p>
        </p:txBody>
      </p:sp>
      <p:sp>
        <p:nvSpPr>
          <p:cNvPr id="9" name="Text 6"/>
          <p:cNvSpPr txBox="1"/>
          <p:nvPr/>
        </p:nvSpPr>
        <p:spPr>
          <a:xfrm>
            <a:off x="6400800" y="1847088"/>
            <a:ext cx="5029200" cy="36576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transaksi selesai sesuai aturan atau pulih ke kondisi yang benar</a:t>
            </a:r>
            <a:endParaRPr lang="en-US" sz="1400" dirty="0"/>
          </a:p>
        </p:txBody>
      </p:sp>
      <p:sp>
        <p:nvSpPr>
          <p:cNvPr id="10" name="Text 7"/>
          <p:cNvSpPr txBox="1"/>
          <p:nvPr/>
        </p:nvSpPr>
        <p:spPr>
          <a:xfrm>
            <a:off x="548640" y="2514600"/>
            <a:ext cx="5486400" cy="32004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Empat invariant bisnis</a:t>
            </a:r>
            <a:endParaRPr lang="en-US" sz="1600" dirty="0"/>
          </a:p>
        </p:txBody>
      </p:sp>
      <p:sp>
        <p:nvSpPr>
          <p:cNvPr id="11" name="inv0"/>
          <p:cNvSpPr/>
          <p:nvPr/>
        </p:nvSpPr>
        <p:spPr>
          <a:xfrm>
            <a:off x="548640" y="2926080"/>
            <a:ext cx="5394960" cy="621792"/>
          </a:xfrm>
          <a:prstGeom prst="roundRect">
            <a:avLst>
              <a:gd name="adj" fmla="val 14000"/>
            </a:avLst>
          </a:prstGeom>
          <a:solidFill>
            <a:srgbClr val="EEF2F8"/>
          </a:solidFill>
          <a:ln w="9525">
            <a:solidFill>
              <a:srgbClr val="D5DEEC"/>
            </a:solidFill>
            <a:prstDash val="solid"/>
          </a:ln>
        </p:spPr>
        <p:txBody>
          <a:bodyPr/>
          <a:p/>
        </p:txBody>
      </p:sp>
      <p:sp>
        <p:nvSpPr>
          <p:cNvPr id="12" name="Shape 9"/>
          <p:cNvSpPr/>
          <p:nvPr/>
        </p:nvSpPr>
        <p:spPr>
          <a:xfrm>
            <a:off x="713232" y="3035808"/>
            <a:ext cx="402336" cy="402336"/>
          </a:xfrm>
          <a:prstGeom prst="ellipse">
            <a:avLst/>
          </a:prstGeom>
          <a:solidFill>
            <a:srgbClr val="12284C"/>
          </a:solidFill>
          <a:ln w="12700">
            <a:solidFill>
              <a:srgbClr val="12284C"/>
            </a:solidFill>
            <a:prstDash val="solid"/>
          </a:ln>
        </p:spPr>
        <p:txBody>
          <a:bodyPr/>
          <a:p/>
        </p:txBody>
      </p:sp>
      <p:sp>
        <p:nvSpPr>
          <p:cNvPr id="13" name="Text 10"/>
          <p:cNvSpPr txBox="1"/>
          <p:nvPr/>
        </p:nvSpPr>
        <p:spPr>
          <a:xfrm>
            <a:off x="713232" y="30358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txBox="1"/>
          <p:nvPr/>
        </p:nvSpPr>
        <p:spPr>
          <a:xfrm>
            <a:off x="1280160" y="292608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Available = On-Hand - Reserved</a:t>
            </a:r>
            <a:endParaRPr lang="en-US" sz="1600" dirty="0"/>
          </a:p>
        </p:txBody>
      </p:sp>
      <p:sp>
        <p:nvSpPr>
          <p:cNvPr id="15" name="inv1"/>
          <p:cNvSpPr/>
          <p:nvPr/>
        </p:nvSpPr>
        <p:spPr>
          <a:xfrm>
            <a:off x="548640" y="3657600"/>
            <a:ext cx="5394960" cy="621792"/>
          </a:xfrm>
          <a:prstGeom prst="roundRect">
            <a:avLst>
              <a:gd name="adj" fmla="val 14000"/>
            </a:avLst>
          </a:prstGeom>
          <a:solidFill>
            <a:srgbClr val="EEF2F8"/>
          </a:solidFill>
          <a:ln w="9525">
            <a:solidFill>
              <a:srgbClr val="D5DEEC"/>
            </a:solidFill>
            <a:prstDash val="solid"/>
          </a:ln>
        </p:spPr>
        <p:txBody>
          <a:bodyPr/>
          <a:p/>
        </p:txBody>
      </p:sp>
      <p:sp>
        <p:nvSpPr>
          <p:cNvPr id="16" name="Shape 13"/>
          <p:cNvSpPr/>
          <p:nvPr/>
        </p:nvSpPr>
        <p:spPr>
          <a:xfrm>
            <a:off x="713232" y="3767328"/>
            <a:ext cx="402336" cy="402336"/>
          </a:xfrm>
          <a:prstGeom prst="ellipse">
            <a:avLst/>
          </a:prstGeom>
          <a:solidFill>
            <a:srgbClr val="12284C"/>
          </a:solidFill>
          <a:ln w="12700">
            <a:solidFill>
              <a:srgbClr val="12284C"/>
            </a:solidFill>
            <a:prstDash val="solid"/>
          </a:ln>
        </p:spPr>
        <p:txBody>
          <a:bodyPr/>
          <a:p/>
        </p:txBody>
      </p:sp>
      <p:sp>
        <p:nvSpPr>
          <p:cNvPr id="17" name="Text 14"/>
          <p:cNvSpPr txBox="1"/>
          <p:nvPr/>
        </p:nvSpPr>
        <p:spPr>
          <a:xfrm>
            <a:off x="713232" y="37673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1280160" y="365760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Available tidak boleh di bawah 0</a:t>
            </a:r>
            <a:endParaRPr lang="en-US" sz="1600" dirty="0"/>
          </a:p>
        </p:txBody>
      </p:sp>
      <p:sp>
        <p:nvSpPr>
          <p:cNvPr id="19" name="inv2"/>
          <p:cNvSpPr/>
          <p:nvPr/>
        </p:nvSpPr>
        <p:spPr>
          <a:xfrm>
            <a:off x="548640" y="4389120"/>
            <a:ext cx="5394960" cy="621792"/>
          </a:xfrm>
          <a:prstGeom prst="roundRect">
            <a:avLst>
              <a:gd name="adj" fmla="val 14000"/>
            </a:avLst>
          </a:prstGeom>
          <a:solidFill>
            <a:srgbClr val="EEF2F8"/>
          </a:solidFill>
          <a:ln w="9525">
            <a:solidFill>
              <a:srgbClr val="D5DEEC"/>
            </a:solidFill>
            <a:prstDash val="solid"/>
          </a:ln>
        </p:spPr>
        <p:txBody>
          <a:bodyPr/>
          <a:p/>
        </p:txBody>
      </p:sp>
      <p:sp>
        <p:nvSpPr>
          <p:cNvPr id="20" name="Shape 17"/>
          <p:cNvSpPr/>
          <p:nvPr/>
        </p:nvSpPr>
        <p:spPr>
          <a:xfrm>
            <a:off x="713232" y="4498848"/>
            <a:ext cx="402336" cy="402336"/>
          </a:xfrm>
          <a:prstGeom prst="ellipse">
            <a:avLst/>
          </a:prstGeom>
          <a:solidFill>
            <a:srgbClr val="12284C"/>
          </a:solidFill>
          <a:ln w="12700">
            <a:solidFill>
              <a:srgbClr val="12284C"/>
            </a:solidFill>
            <a:prstDash val="solid"/>
          </a:ln>
        </p:spPr>
        <p:txBody>
          <a:bodyPr/>
          <a:p/>
        </p:txBody>
      </p:sp>
      <p:sp>
        <p:nvSpPr>
          <p:cNvPr id="21" name="Text 18"/>
          <p:cNvSpPr txBox="1"/>
          <p:nvPr/>
        </p:nvSpPr>
        <p:spPr>
          <a:xfrm>
            <a:off x="713232" y="4498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1280160" y="438912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Saldo akhir = awal + masuk - terjual</a:t>
            </a:r>
            <a:endParaRPr lang="en-US" sz="1600" dirty="0"/>
          </a:p>
        </p:txBody>
      </p:sp>
      <p:sp>
        <p:nvSpPr>
          <p:cNvPr id="23" name="inv3"/>
          <p:cNvSpPr/>
          <p:nvPr/>
        </p:nvSpPr>
        <p:spPr>
          <a:xfrm>
            <a:off x="548640" y="5120640"/>
            <a:ext cx="5394960" cy="621792"/>
          </a:xfrm>
          <a:prstGeom prst="roundRect">
            <a:avLst>
              <a:gd name="adj" fmla="val 14000"/>
            </a:avLst>
          </a:prstGeom>
          <a:solidFill>
            <a:srgbClr val="EEF2F8"/>
          </a:solidFill>
          <a:ln w="9525">
            <a:solidFill>
              <a:srgbClr val="D5DEEC"/>
            </a:solidFill>
            <a:prstDash val="solid"/>
          </a:ln>
        </p:spPr>
        <p:txBody>
          <a:bodyPr/>
          <a:p/>
        </p:txBody>
      </p:sp>
      <p:sp>
        <p:nvSpPr>
          <p:cNvPr id="24" name="Shape 21"/>
          <p:cNvSpPr/>
          <p:nvPr/>
        </p:nvSpPr>
        <p:spPr>
          <a:xfrm>
            <a:off x="713232" y="5230368"/>
            <a:ext cx="402336" cy="402336"/>
          </a:xfrm>
          <a:prstGeom prst="ellipse">
            <a:avLst/>
          </a:prstGeom>
          <a:solidFill>
            <a:srgbClr val="8A6D0B"/>
          </a:solidFill>
          <a:ln w="12700">
            <a:solidFill>
              <a:srgbClr val="8A6D0B"/>
            </a:solidFill>
            <a:prstDash val="solid"/>
          </a:ln>
        </p:spPr>
        <p:txBody>
          <a:bodyPr/>
          <a:p/>
        </p:txBody>
      </p:sp>
      <p:sp>
        <p:nvSpPr>
          <p:cNvPr id="25" name="Text 22"/>
          <p:cNvSpPr txBox="1"/>
          <p:nvPr/>
        </p:nvSpPr>
        <p:spPr>
          <a:xfrm>
            <a:off x="713232" y="52303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1280160" y="5120640"/>
            <a:ext cx="4572000" cy="621792"/>
          </a:xfrm>
          <a:prstGeom prst="rect">
            <a:avLst/>
          </a:prstGeom>
          <a:noFill/>
          <a:ln/>
        </p:spPr>
        <p:txBody>
          <a:bodyPr wrap="square" lIns="0" tIns="0" rIns="0" bIns="0" rtlCol="0" anchor="ctr"/>
          <a:lstStyle/>
          <a:p>
            <a:pPr indent="0" marL="0">
              <a:buNone/>
            </a:pPr>
            <a:r>
              <a:rPr lang="en-US" sz="1700" dirty="0">
                <a:solidFill>
                  <a:srgbClr val="1B2640"/>
                </a:solidFill>
                <a:latin typeface="Calibri" pitchFamily="34" charset="0"/>
                <a:ea typeface="Calibri" pitchFamily="34" charset="-122"/>
                <a:cs typeface="Calibri" pitchFamily="34" charset="-120"/>
              </a:rPr>
              <a:t>Status final tidak kembali aktif</a:t>
            </a:r>
            <a:endParaRPr lang="en-US" sz="1600" dirty="0"/>
          </a:p>
        </p:txBody>
      </p:sp>
      <p:sp>
        <p:nvSpPr>
          <p:cNvPr id="27" name="state"/>
          <p:cNvSpPr/>
          <p:nvPr/>
        </p:nvSpPr>
        <p:spPr>
          <a:xfrm>
            <a:off x="6217920" y="2514600"/>
            <a:ext cx="5394960" cy="3520440"/>
          </a:xfrm>
          <a:prstGeom prst="roundRect">
            <a:avLst>
              <a:gd name="adj" fmla="val 14000"/>
            </a:avLst>
          </a:prstGeom>
          <a:solidFill>
            <a:srgbClr val="EEF2F8"/>
          </a:solidFill>
          <a:ln w="9525">
            <a:solidFill>
              <a:srgbClr val="D5DEEC"/>
            </a:solidFill>
            <a:prstDash val="solid"/>
          </a:ln>
        </p:spPr>
        <p:txBody>
          <a:bodyPr/>
          <a:p/>
        </p:txBody>
      </p:sp>
      <p:sp>
        <p:nvSpPr>
          <p:cNvPr id="28" name="Text 25"/>
          <p:cNvSpPr txBox="1"/>
          <p:nvPr/>
        </p:nvSpPr>
        <p:spPr>
          <a:xfrm>
            <a:off x="6446520" y="2606040"/>
            <a:ext cx="493776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Invariant 4: siklus status transaksi</a:t>
            </a:r>
            <a:endParaRPr lang="en-US" sz="1400" dirty="0"/>
          </a:p>
        </p:txBody>
      </p:sp>
      <p:sp>
        <p:nvSpPr>
          <p:cNvPr id="29" name="Shape 26"/>
          <p:cNvSpPr/>
          <p:nvPr/>
        </p:nvSpPr>
        <p:spPr>
          <a:xfrm>
            <a:off x="6400800" y="3200400"/>
            <a:ext cx="1051560" cy="411480"/>
          </a:xfrm>
          <a:prstGeom prst="roundRect">
            <a:avLst>
              <a:gd name="adj" fmla="val 14000"/>
            </a:avLst>
          </a:prstGeom>
          <a:solidFill>
            <a:srgbClr val="FFFFFF"/>
          </a:solidFill>
          <a:ln w="12700">
            <a:solidFill>
              <a:srgbClr val="D5DEEC"/>
            </a:solidFill>
            <a:prstDash val="solid"/>
          </a:ln>
        </p:spPr>
        <p:txBody>
          <a:bodyPr/>
          <a:p/>
        </p:txBody>
      </p:sp>
      <p:sp>
        <p:nvSpPr>
          <p:cNvPr id="30" name="Text 27"/>
          <p:cNvSpPr txBox="1"/>
          <p:nvPr/>
        </p:nvSpPr>
        <p:spPr>
          <a:xfrm>
            <a:off x="6400800" y="3200400"/>
            <a:ext cx="105156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Pending</a:t>
            </a:r>
            <a:endParaRPr lang="en-US" sz="1200" dirty="0"/>
          </a:p>
        </p:txBody>
      </p:sp>
      <p:sp>
        <p:nvSpPr>
          <p:cNvPr id="31" name="Shape 28"/>
          <p:cNvSpPr/>
          <p:nvPr/>
        </p:nvSpPr>
        <p:spPr>
          <a:xfrm>
            <a:off x="7452360" y="3401568"/>
            <a:ext cx="274320" cy="0"/>
          </a:xfrm>
          <a:prstGeom prst="line">
            <a:avLst/>
          </a:prstGeom>
          <a:noFill/>
          <a:ln w="22225">
            <a:solidFill>
              <a:srgbClr val="12284C"/>
            </a:solidFill>
            <a:prstDash val="solid"/>
            <a:tailEnd type="triangle"/>
          </a:ln>
        </p:spPr>
        <p:txBody>
          <a:bodyPr/>
          <a:p/>
        </p:txBody>
      </p:sp>
      <p:sp>
        <p:nvSpPr>
          <p:cNvPr id="32" name="Shape 29"/>
          <p:cNvSpPr/>
          <p:nvPr/>
        </p:nvSpPr>
        <p:spPr>
          <a:xfrm>
            <a:off x="7726680" y="3200400"/>
            <a:ext cx="1097280" cy="411480"/>
          </a:xfrm>
          <a:prstGeom prst="roundRect">
            <a:avLst>
              <a:gd name="adj" fmla="val 14000"/>
            </a:avLst>
          </a:prstGeom>
          <a:solidFill>
            <a:srgbClr val="FFFFFF"/>
          </a:solidFill>
          <a:ln w="12700">
            <a:solidFill>
              <a:srgbClr val="D5DEEC"/>
            </a:solidFill>
            <a:prstDash val="solid"/>
          </a:ln>
        </p:spPr>
        <p:txBody>
          <a:bodyPr/>
          <a:p/>
        </p:txBody>
      </p:sp>
      <p:sp>
        <p:nvSpPr>
          <p:cNvPr id="33" name="Text 30"/>
          <p:cNvSpPr txBox="1"/>
          <p:nvPr/>
        </p:nvSpPr>
        <p:spPr>
          <a:xfrm>
            <a:off x="7726680" y="3200400"/>
            <a:ext cx="109728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Reserved</a:t>
            </a:r>
            <a:endParaRPr lang="en-US" sz="1200" dirty="0"/>
          </a:p>
        </p:txBody>
      </p:sp>
      <p:sp>
        <p:nvSpPr>
          <p:cNvPr id="34" name="Shape 31"/>
          <p:cNvSpPr/>
          <p:nvPr/>
        </p:nvSpPr>
        <p:spPr>
          <a:xfrm>
            <a:off x="8823960" y="3401568"/>
            <a:ext cx="274320" cy="0"/>
          </a:xfrm>
          <a:prstGeom prst="line">
            <a:avLst/>
          </a:prstGeom>
          <a:noFill/>
          <a:ln w="22225">
            <a:solidFill>
              <a:srgbClr val="12284C"/>
            </a:solidFill>
            <a:prstDash val="solid"/>
            <a:tailEnd type="triangle"/>
          </a:ln>
        </p:spPr>
        <p:txBody>
          <a:bodyPr/>
          <a:p/>
        </p:txBody>
      </p:sp>
      <p:sp>
        <p:nvSpPr>
          <p:cNvPr id="35" name="Shape 32"/>
          <p:cNvSpPr/>
          <p:nvPr/>
        </p:nvSpPr>
        <p:spPr>
          <a:xfrm>
            <a:off x="9098280" y="3200400"/>
            <a:ext cx="822960" cy="411480"/>
          </a:xfrm>
          <a:prstGeom prst="roundRect">
            <a:avLst>
              <a:gd name="adj" fmla="val 14000"/>
            </a:avLst>
          </a:prstGeom>
          <a:solidFill>
            <a:srgbClr val="FFFFFF"/>
          </a:solidFill>
          <a:ln w="12700">
            <a:solidFill>
              <a:srgbClr val="D5DEEC"/>
            </a:solidFill>
            <a:prstDash val="solid"/>
          </a:ln>
        </p:spPr>
        <p:txBody>
          <a:bodyPr/>
          <a:p/>
        </p:txBody>
      </p:sp>
      <p:sp>
        <p:nvSpPr>
          <p:cNvPr id="36" name="Text 33"/>
          <p:cNvSpPr txBox="1"/>
          <p:nvPr/>
        </p:nvSpPr>
        <p:spPr>
          <a:xfrm>
            <a:off x="9098280" y="3200400"/>
            <a:ext cx="822960" cy="411480"/>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Paid</a:t>
            </a:r>
            <a:endParaRPr lang="en-US" sz="1200" dirty="0"/>
          </a:p>
        </p:txBody>
      </p:sp>
      <p:sp>
        <p:nvSpPr>
          <p:cNvPr id="37" name="Shape 34"/>
          <p:cNvSpPr/>
          <p:nvPr/>
        </p:nvSpPr>
        <p:spPr>
          <a:xfrm>
            <a:off x="9921240" y="3401568"/>
            <a:ext cx="274320" cy="0"/>
          </a:xfrm>
          <a:prstGeom prst="line">
            <a:avLst/>
          </a:prstGeom>
          <a:noFill/>
          <a:ln w="22225">
            <a:solidFill>
              <a:srgbClr val="12284C"/>
            </a:solidFill>
            <a:prstDash val="solid"/>
            <a:tailEnd type="triangle"/>
          </a:ln>
        </p:spPr>
        <p:txBody>
          <a:bodyPr/>
          <a:p/>
        </p:txBody>
      </p:sp>
      <p:sp>
        <p:nvSpPr>
          <p:cNvPr id="38" name="Shape 35"/>
          <p:cNvSpPr/>
          <p:nvPr/>
        </p:nvSpPr>
        <p:spPr>
          <a:xfrm>
            <a:off x="10195560" y="3200400"/>
            <a:ext cx="1234440" cy="411480"/>
          </a:xfrm>
          <a:prstGeom prst="roundRect">
            <a:avLst>
              <a:gd name="adj" fmla="val 14000"/>
            </a:avLst>
          </a:prstGeom>
          <a:solidFill>
            <a:srgbClr val="2F5D9E"/>
          </a:solidFill>
          <a:ln w="12700">
            <a:solidFill>
              <a:srgbClr val="2F5D9E"/>
            </a:solidFill>
            <a:prstDash val="solid"/>
          </a:ln>
        </p:spPr>
        <p:txBody>
          <a:bodyPr/>
          <a:p/>
        </p:txBody>
      </p:sp>
      <p:sp>
        <p:nvSpPr>
          <p:cNvPr id="39" name="Text 36"/>
          <p:cNvSpPr txBox="1"/>
          <p:nvPr/>
        </p:nvSpPr>
        <p:spPr>
          <a:xfrm>
            <a:off x="10195560" y="3200400"/>
            <a:ext cx="1234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Completed</a:t>
            </a:r>
            <a:endParaRPr lang="en-US" sz="1200" dirty="0"/>
          </a:p>
        </p:txBody>
      </p:sp>
      <p:sp>
        <p:nvSpPr>
          <p:cNvPr id="40" name="Shape 37"/>
          <p:cNvSpPr/>
          <p:nvPr/>
        </p:nvSpPr>
        <p:spPr>
          <a:xfrm>
            <a:off x="8275320" y="3611880"/>
            <a:ext cx="0" cy="411480"/>
          </a:xfrm>
          <a:prstGeom prst="line">
            <a:avLst/>
          </a:prstGeom>
          <a:noFill/>
          <a:ln w="22225">
            <a:solidFill>
              <a:srgbClr val="8A6D0B"/>
            </a:solidFill>
            <a:prstDash val="solid"/>
            <a:tailEnd type="triangle"/>
          </a:ln>
        </p:spPr>
        <p:txBody>
          <a:bodyPr/>
          <a:p/>
        </p:txBody>
      </p:sp>
      <p:sp>
        <p:nvSpPr>
          <p:cNvPr id="41" name="Text 38"/>
          <p:cNvSpPr txBox="1"/>
          <p:nvPr/>
        </p:nvSpPr>
        <p:spPr>
          <a:xfrm>
            <a:off x="6537960" y="3749040"/>
            <a:ext cx="1691640" cy="274320"/>
          </a:xfrm>
          <a:prstGeom prst="rect">
            <a:avLst/>
          </a:prstGeom>
          <a:noFill/>
          <a:ln/>
        </p:spPr>
        <p:txBody>
          <a:bodyPr wrap="square" lIns="0" tIns="0" rIns="0" bIns="0" rtlCol="0" anchor="ctr"/>
          <a:lstStyle/>
          <a:p>
            <a:pPr algn="r" indent="0" marL="0">
              <a:buNone/>
            </a:pPr>
            <a:r>
              <a:rPr lang="en-US" sz="1200" dirty="0">
                <a:solidFill>
                  <a:srgbClr val="8A6D0B"/>
                </a:solidFill>
                <a:latin typeface="Calibri" pitchFamily="34" charset="0"/>
                <a:ea typeface="Calibri" pitchFamily="34" charset="-122"/>
                <a:cs typeface="Calibri" pitchFamily="34" charset="-120"/>
              </a:rPr>
              <a:t>bayar gagal / timeout</a:t>
            </a:r>
            <a:endParaRPr lang="en-US" sz="1100" dirty="0"/>
          </a:p>
        </p:txBody>
      </p:sp>
      <p:sp>
        <p:nvSpPr>
          <p:cNvPr id="42" name="Shape 39"/>
          <p:cNvSpPr/>
          <p:nvPr/>
        </p:nvSpPr>
        <p:spPr>
          <a:xfrm>
            <a:off x="7223760" y="4069080"/>
            <a:ext cx="1371600" cy="411480"/>
          </a:xfrm>
          <a:prstGeom prst="roundRect">
            <a:avLst>
              <a:gd name="adj" fmla="val 14000"/>
            </a:avLst>
          </a:prstGeom>
          <a:solidFill>
            <a:srgbClr val="FFFFFF"/>
          </a:solidFill>
          <a:ln w="12700">
            <a:solidFill>
              <a:srgbClr val="D5DEEC"/>
            </a:solidFill>
            <a:prstDash val="solid"/>
          </a:ln>
        </p:spPr>
        <p:txBody>
          <a:bodyPr/>
          <a:p/>
        </p:txBody>
      </p:sp>
      <p:sp>
        <p:nvSpPr>
          <p:cNvPr id="43" name="Text 40"/>
          <p:cNvSpPr txBox="1"/>
          <p:nvPr/>
        </p:nvSpPr>
        <p:spPr>
          <a:xfrm>
            <a:off x="7223760" y="4069080"/>
            <a:ext cx="1371600" cy="411480"/>
          </a:xfrm>
          <a:prstGeom prst="rect">
            <a:avLst/>
          </a:prstGeom>
          <a:noFill/>
          <a:ln/>
        </p:spPr>
        <p:txBody>
          <a:bodyPr wrap="square" lIns="0" tIns="0" rIns="0" bIns="0" rtlCol="0" anchor="ctr"/>
          <a:lstStyle/>
          <a:p>
            <a:pPr algn="ctr" indent="0" marL="0">
              <a:buNone/>
            </a:pPr>
            <a:r>
              <a:rPr lang="en-US" sz="1300" b="1" dirty="0">
                <a:solidFill>
                  <a:srgbClr val="8A6D0B"/>
                </a:solidFill>
                <a:latin typeface="Calibri" pitchFamily="34" charset="0"/>
                <a:ea typeface="Calibri" pitchFamily="34" charset="-122"/>
                <a:cs typeface="Calibri" pitchFamily="34" charset="-120"/>
              </a:rPr>
              <a:t>Failed / Expired</a:t>
            </a:r>
            <a:endParaRPr lang="en-US" sz="1200" dirty="0"/>
          </a:p>
        </p:txBody>
      </p:sp>
      <p:sp>
        <p:nvSpPr>
          <p:cNvPr id="44" name="Shape 41"/>
          <p:cNvSpPr/>
          <p:nvPr/>
        </p:nvSpPr>
        <p:spPr>
          <a:xfrm>
            <a:off x="8595360" y="4270248"/>
            <a:ext cx="457200" cy="0"/>
          </a:xfrm>
          <a:prstGeom prst="line">
            <a:avLst/>
          </a:prstGeom>
          <a:noFill/>
          <a:ln w="22225">
            <a:solidFill>
              <a:srgbClr val="8A6D0B"/>
            </a:solidFill>
            <a:prstDash val="solid"/>
            <a:tailEnd type="triangle"/>
          </a:ln>
        </p:spPr>
        <p:txBody>
          <a:bodyPr/>
          <a:p/>
        </p:txBody>
      </p:sp>
      <p:sp>
        <p:nvSpPr>
          <p:cNvPr id="45" name="Shape 42"/>
          <p:cNvSpPr/>
          <p:nvPr/>
        </p:nvSpPr>
        <p:spPr>
          <a:xfrm>
            <a:off x="9098280" y="4069080"/>
            <a:ext cx="1463040" cy="411480"/>
          </a:xfrm>
          <a:prstGeom prst="roundRect">
            <a:avLst>
              <a:gd name="adj" fmla="val 14000"/>
            </a:avLst>
          </a:prstGeom>
          <a:solidFill>
            <a:srgbClr val="2F5D9E"/>
          </a:solidFill>
          <a:ln w="12700">
            <a:solidFill>
              <a:srgbClr val="2F5D9E"/>
            </a:solidFill>
            <a:prstDash val="solid"/>
          </a:ln>
        </p:spPr>
        <p:txBody>
          <a:bodyPr/>
          <a:p/>
        </p:txBody>
      </p:sp>
      <p:sp>
        <p:nvSpPr>
          <p:cNvPr id="46" name="Text 43"/>
          <p:cNvSpPr txBox="1"/>
          <p:nvPr/>
        </p:nvSpPr>
        <p:spPr>
          <a:xfrm>
            <a:off x="9098280" y="4069080"/>
            <a:ext cx="14630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Compensated</a:t>
            </a:r>
            <a:endParaRPr lang="en-US" sz="1200" dirty="0"/>
          </a:p>
        </p:txBody>
      </p:sp>
      <p:sp>
        <p:nvSpPr>
          <p:cNvPr id="47" name="Text 44"/>
          <p:cNvSpPr txBox="1"/>
          <p:nvPr/>
        </p:nvSpPr>
        <p:spPr>
          <a:xfrm>
            <a:off x="9098280" y="4526280"/>
            <a:ext cx="1554480" cy="256032"/>
          </a:xfrm>
          <a:prstGeom prst="rect">
            <a:avLst/>
          </a:prstGeom>
          <a:noFill/>
          <a:ln/>
        </p:spPr>
        <p:txBody>
          <a:bodyPr wrap="square" lIns="0" tIns="0" rIns="0" bIns="0" rtlCol="0" anchor="t"/>
          <a:lstStyle/>
          <a:p>
            <a:pPr indent="0" marL="0">
              <a:buNone/>
            </a:pPr>
            <a:r>
              <a:rPr lang="en-US" sz="1200" dirty="0">
                <a:solidFill>
                  <a:srgbClr val="5B6B8A"/>
                </a:solidFill>
                <a:latin typeface="Calibri" pitchFamily="34" charset="0"/>
                <a:ea typeface="Calibri" pitchFamily="34" charset="-122"/>
                <a:cs typeface="Calibri" pitchFamily="34" charset="-120"/>
              </a:rPr>
              <a:t>reservasi dilepas</a:t>
            </a:r>
            <a:endParaRPr lang="en-US" sz="1100" dirty="0"/>
          </a:p>
        </p:txBody>
      </p:sp>
      <p:sp>
        <p:nvSpPr>
          <p:cNvPr id="48" name="late"/>
          <p:cNvSpPr/>
          <p:nvPr/>
        </p:nvSpPr>
        <p:spPr>
          <a:xfrm>
            <a:off x="6400800" y="4983480"/>
            <a:ext cx="5029200" cy="868680"/>
          </a:xfrm>
          <a:prstGeom prst="roundRect">
            <a:avLst>
              <a:gd name="adj" fmla="val 14000"/>
            </a:avLst>
          </a:prstGeom>
          <a:solidFill>
            <a:srgbClr val="FFFFFF"/>
          </a:solidFill>
          <a:ln w="9525">
            <a:solidFill>
              <a:srgbClr val="FFFFFF"/>
            </a:solidFill>
            <a:prstDash val="solid"/>
          </a:ln>
        </p:spPr>
        <p:txBody>
          <a:bodyPr/>
          <a:p/>
        </p:txBody>
      </p:sp>
      <p:sp>
        <p:nvSpPr>
          <p:cNvPr id="49" name="Text 46"/>
          <p:cNvSpPr txBox="1"/>
          <p:nvPr/>
        </p:nvSpPr>
        <p:spPr>
          <a:xfrm>
            <a:off x="6583680" y="4983480"/>
            <a:ext cx="4663440" cy="868680"/>
          </a:xfrm>
          <a:prstGeom prst="rect">
            <a:avLst/>
          </a:prstGeom>
          <a:noFill/>
          <a:ln/>
        </p:spPr>
        <p:txBody>
          <a:bodyPr wrap="square" lIns="0" tIns="0" rIns="0" bIns="0" rtlCol="0" anchor="ctr"/>
          <a:lstStyle/>
          <a:p>
            <a:pPr indent="0" marL="0">
              <a:buNone/>
            </a:pPr>
            <a:r>
              <a:rPr lang="en-US" sz="1600" b="1" dirty="0">
                <a:solidFill>
                  <a:srgbClr val="8A6D0B"/>
                </a:solidFill>
                <a:latin typeface="Calibri" pitchFamily="34" charset="0"/>
                <a:ea typeface="Calibri" pitchFamily="34" charset="-122"/>
                <a:cs typeface="Calibri" pitchFamily="34" charset="-120"/>
              </a:rPr>
              <a:t>Terlambat = diterima sistem (received_at) lebih dari 30 dtk sejak reservasi. Transaksi final tidak boleh aktif lagi, kapan pun diproses.</a:t>
            </a:r>
            <a:pPr indent="0" marL="0">
              <a:buNone/>
            </a:pPr>
            <a:endParaRPr lang="en-US" sz="1500" dirty="0"/>
          </a:p>
        </p:txBody>
      </p:sp>
      <p:sp>
        <p:nvSpPr>
          <p:cNvPr id="50" name="Text 47"/>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Berbeda dari properti Consistency pada ACID, yang hanya berlaku dalam satu transaksi basis data.</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Satu data, satu pemilik: empat domain dengan otoritas data yang jelas</a:t>
            </a:r>
            <a:endParaRPr lang="en-US" sz="2800" dirty="0"/>
          </a:p>
        </p:txBody>
      </p:sp>
      <p:sp>
        <p:nvSpPr>
          <p:cNvPr id="4" name="svc0"/>
          <p:cNvSpPr/>
          <p:nvPr/>
        </p:nvSpPr>
        <p:spPr>
          <a:xfrm>
            <a:off x="54864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Penjualan</a:t>
            </a:r>
            <a:endParaRPr lang="en-US" sz="2000" dirty="0"/>
          </a:p>
        </p:txBody>
      </p:sp>
      <p:sp>
        <p:nvSpPr>
          <p:cNvPr id="6" name="Text 3"/>
          <p:cNvSpPr txBox="1"/>
          <p:nvPr/>
        </p:nvSpPr>
        <p:spPr>
          <a:xfrm>
            <a:off x="73152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order, item, status</a:t>
            </a:r>
            <a:endParaRPr lang="en-US" sz="1400" dirty="0"/>
          </a:p>
        </p:txBody>
      </p:sp>
      <p:sp>
        <p:nvSpPr>
          <p:cNvPr id="7" name="Shape 4"/>
          <p:cNvSpPr/>
          <p:nvPr/>
        </p:nvSpPr>
        <p:spPr>
          <a:xfrm>
            <a:off x="77724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8" name="Text 5"/>
          <p:cNvSpPr txBox="1"/>
          <p:nvPr/>
        </p:nvSpPr>
        <p:spPr>
          <a:xfrm>
            <a:off x="77724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Sales DB</a:t>
            </a:r>
            <a:endParaRPr lang="en-US" sz="1400" dirty="0"/>
          </a:p>
        </p:txBody>
      </p:sp>
      <p:sp>
        <p:nvSpPr>
          <p:cNvPr id="9" name="Shape 6"/>
          <p:cNvSpPr/>
          <p:nvPr/>
        </p:nvSpPr>
        <p:spPr>
          <a:xfrm>
            <a:off x="1851660" y="3886200"/>
            <a:ext cx="0" cy="365760"/>
          </a:xfrm>
          <a:prstGeom prst="line">
            <a:avLst/>
          </a:prstGeom>
          <a:noFill/>
          <a:ln w="22225">
            <a:solidFill>
              <a:srgbClr val="12284C"/>
            </a:solidFill>
            <a:prstDash val="solid"/>
            <a:tailEnd type="triangle"/>
          </a:ln>
        </p:spPr>
        <p:txBody>
          <a:bodyPr/>
          <a:p/>
        </p:txBody>
      </p:sp>
      <p:sp>
        <p:nvSpPr>
          <p:cNvPr id="10" name="svc1"/>
          <p:cNvSpPr/>
          <p:nvPr/>
        </p:nvSpPr>
        <p:spPr>
          <a:xfrm>
            <a:off x="333756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11" name="Text 8"/>
          <p:cNvSpPr txBox="1"/>
          <p:nvPr/>
        </p:nvSpPr>
        <p:spPr>
          <a:xfrm>
            <a:off x="352044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Persediaan</a:t>
            </a:r>
            <a:endParaRPr lang="en-US" sz="2000" dirty="0"/>
          </a:p>
        </p:txBody>
      </p:sp>
      <p:sp>
        <p:nvSpPr>
          <p:cNvPr id="12" name="Text 9"/>
          <p:cNvSpPr txBox="1"/>
          <p:nvPr/>
        </p:nvSpPr>
        <p:spPr>
          <a:xfrm>
            <a:off x="352044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stok fisik, dipesan, siap jual, mutasi</a:t>
            </a:r>
            <a:endParaRPr lang="en-US" sz="1400" dirty="0"/>
          </a:p>
        </p:txBody>
      </p:sp>
      <p:sp>
        <p:nvSpPr>
          <p:cNvPr id="13" name="Shape 10"/>
          <p:cNvSpPr/>
          <p:nvPr/>
        </p:nvSpPr>
        <p:spPr>
          <a:xfrm>
            <a:off x="356616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14" name="Text 11"/>
          <p:cNvSpPr txBox="1"/>
          <p:nvPr/>
        </p:nvSpPr>
        <p:spPr>
          <a:xfrm>
            <a:off x="356616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Inventory DB</a:t>
            </a:r>
            <a:endParaRPr lang="en-US" sz="1400" dirty="0"/>
          </a:p>
        </p:txBody>
      </p:sp>
      <p:sp>
        <p:nvSpPr>
          <p:cNvPr id="15" name="Shape 12"/>
          <p:cNvSpPr/>
          <p:nvPr/>
        </p:nvSpPr>
        <p:spPr>
          <a:xfrm>
            <a:off x="4640580" y="3886200"/>
            <a:ext cx="0" cy="365760"/>
          </a:xfrm>
          <a:prstGeom prst="line">
            <a:avLst/>
          </a:prstGeom>
          <a:noFill/>
          <a:ln w="22225">
            <a:solidFill>
              <a:srgbClr val="12284C"/>
            </a:solidFill>
            <a:prstDash val="solid"/>
            <a:tailEnd type="triangle"/>
          </a:ln>
        </p:spPr>
        <p:txBody>
          <a:bodyPr/>
          <a:p/>
        </p:txBody>
      </p:sp>
      <p:sp>
        <p:nvSpPr>
          <p:cNvPr id="16" name="svc2"/>
          <p:cNvSpPr/>
          <p:nvPr/>
        </p:nvSpPr>
        <p:spPr>
          <a:xfrm>
            <a:off x="6126480" y="1463040"/>
            <a:ext cx="2606040" cy="2377440"/>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6309360" y="1600200"/>
            <a:ext cx="2240280" cy="411480"/>
          </a:xfrm>
          <a:prstGeom prst="rect">
            <a:avLst/>
          </a:prstGeom>
          <a:noFill/>
          <a:ln/>
        </p:spPr>
        <p:txBody>
          <a:bodyPr wrap="square" lIns="0" tIns="0" rIns="0" bIns="0" rtlCol="0" anchor="t"/>
          <a:lstStyle/>
          <a:p>
            <a:pPr algn="ctr" indent="0" marL="0">
              <a:buNone/>
            </a:pPr>
            <a:r>
              <a:rPr lang="en-US" sz="2000" b="1" dirty="0">
                <a:solidFill>
                  <a:srgbClr val="12284C"/>
                </a:solidFill>
                <a:latin typeface="Calibri" pitchFamily="34" charset="0"/>
                <a:ea typeface="Calibri" pitchFamily="34" charset="-122"/>
                <a:cs typeface="Calibri" pitchFamily="34" charset="-120"/>
              </a:rPr>
              <a:t>Pembayaran</a:t>
            </a:r>
            <a:endParaRPr lang="en-US" sz="2000" dirty="0"/>
          </a:p>
        </p:txBody>
      </p:sp>
      <p:sp>
        <p:nvSpPr>
          <p:cNvPr id="18" name="Text 15"/>
          <p:cNvSpPr txBox="1"/>
          <p:nvPr/>
        </p:nvSpPr>
        <p:spPr>
          <a:xfrm>
            <a:off x="6309360" y="2057400"/>
            <a:ext cx="2240280" cy="68580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percobaan, nominal, status bayar</a:t>
            </a:r>
            <a:endParaRPr lang="en-US" sz="1400" dirty="0"/>
          </a:p>
        </p:txBody>
      </p:sp>
      <p:sp>
        <p:nvSpPr>
          <p:cNvPr id="19" name="Shape 16"/>
          <p:cNvSpPr/>
          <p:nvPr/>
        </p:nvSpPr>
        <p:spPr>
          <a:xfrm>
            <a:off x="6355080" y="2926080"/>
            <a:ext cx="2148840" cy="548640"/>
          </a:xfrm>
          <a:prstGeom prst="roundRect">
            <a:avLst>
              <a:gd name="adj" fmla="val 14000"/>
            </a:avLst>
          </a:prstGeom>
          <a:solidFill>
            <a:srgbClr val="FFFFFF"/>
          </a:solidFill>
          <a:ln w="12700">
            <a:solidFill>
              <a:srgbClr val="D5DEEC"/>
            </a:solidFill>
            <a:prstDash val="solid"/>
          </a:ln>
        </p:spPr>
        <p:txBody>
          <a:bodyPr/>
          <a:p/>
        </p:txBody>
      </p:sp>
      <p:sp>
        <p:nvSpPr>
          <p:cNvPr id="20" name="Text 17"/>
          <p:cNvSpPr txBox="1"/>
          <p:nvPr/>
        </p:nvSpPr>
        <p:spPr>
          <a:xfrm>
            <a:off x="635508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Payment DB</a:t>
            </a:r>
            <a:endParaRPr lang="en-US" sz="1400" dirty="0"/>
          </a:p>
        </p:txBody>
      </p:sp>
      <p:sp>
        <p:nvSpPr>
          <p:cNvPr id="21" name="Shape 18"/>
          <p:cNvSpPr/>
          <p:nvPr/>
        </p:nvSpPr>
        <p:spPr>
          <a:xfrm>
            <a:off x="7429500" y="3886200"/>
            <a:ext cx="0" cy="365760"/>
          </a:xfrm>
          <a:prstGeom prst="line">
            <a:avLst/>
          </a:prstGeom>
          <a:noFill/>
          <a:ln w="22225">
            <a:solidFill>
              <a:srgbClr val="12284C"/>
            </a:solidFill>
            <a:prstDash val="solid"/>
            <a:tailEnd type="triangle"/>
          </a:ln>
        </p:spPr>
        <p:txBody>
          <a:bodyPr/>
          <a:p/>
        </p:txBody>
      </p:sp>
      <p:sp>
        <p:nvSpPr>
          <p:cNvPr id="22" name="svc3"/>
          <p:cNvSpPr/>
          <p:nvPr/>
        </p:nvSpPr>
        <p:spPr>
          <a:xfrm>
            <a:off x="8915400" y="1463040"/>
            <a:ext cx="2606040" cy="2377440"/>
          </a:xfrm>
          <a:prstGeom prst="roundRect">
            <a:avLst>
              <a:gd name="adj" fmla="val 14000"/>
            </a:avLst>
          </a:prstGeom>
          <a:solidFill>
            <a:srgbClr val="12284C"/>
          </a:solidFill>
          <a:ln w="9525">
            <a:solidFill>
              <a:srgbClr val="12284C"/>
            </a:solidFill>
            <a:prstDash val="solid"/>
          </a:ln>
        </p:spPr>
        <p:txBody>
          <a:bodyPr/>
          <a:p/>
        </p:txBody>
      </p:sp>
      <p:sp>
        <p:nvSpPr>
          <p:cNvPr id="23" name="Text 20"/>
          <p:cNvSpPr txBox="1"/>
          <p:nvPr/>
        </p:nvSpPr>
        <p:spPr>
          <a:xfrm>
            <a:off x="9098280" y="1600200"/>
            <a:ext cx="224028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Pelaporan</a:t>
            </a:r>
            <a:endParaRPr lang="en-US" sz="2000" dirty="0"/>
          </a:p>
        </p:txBody>
      </p:sp>
      <p:sp>
        <p:nvSpPr>
          <p:cNvPr id="24" name="Text 21"/>
          <p:cNvSpPr txBox="1"/>
          <p:nvPr/>
        </p:nvSpPr>
        <p:spPr>
          <a:xfrm>
            <a:off x="9098280" y="2057400"/>
            <a:ext cx="2240280" cy="68580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tanpa data otoritatif</a:t>
            </a:r>
            <a:endParaRPr lang="en-US" sz="1400" dirty="0"/>
          </a:p>
        </p:txBody>
      </p:sp>
      <p:sp>
        <p:nvSpPr>
          <p:cNvPr id="25" name="Shape 22"/>
          <p:cNvSpPr/>
          <p:nvPr/>
        </p:nvSpPr>
        <p:spPr>
          <a:xfrm>
            <a:off x="9144000" y="2926080"/>
            <a:ext cx="2148840" cy="548640"/>
          </a:xfrm>
          <a:prstGeom prst="roundRect">
            <a:avLst>
              <a:gd name="adj" fmla="val 14000"/>
            </a:avLst>
          </a:prstGeom>
          <a:solidFill>
            <a:srgbClr val="C9A227"/>
          </a:solidFill>
          <a:ln w="12700">
            <a:solidFill>
              <a:srgbClr val="C9A227"/>
            </a:solidFill>
            <a:prstDash val="solid"/>
          </a:ln>
        </p:spPr>
        <p:txBody>
          <a:bodyPr/>
          <a:p/>
        </p:txBody>
      </p:sp>
      <p:sp>
        <p:nvSpPr>
          <p:cNvPr id="26" name="Text 23"/>
          <p:cNvSpPr txBox="1"/>
          <p:nvPr/>
        </p:nvSpPr>
        <p:spPr>
          <a:xfrm>
            <a:off x="9144000" y="2926080"/>
            <a:ext cx="2148840" cy="5486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Salinan data (read model)</a:t>
            </a:r>
            <a:endParaRPr lang="en-US" sz="1400" dirty="0"/>
          </a:p>
        </p:txBody>
      </p:sp>
      <p:sp>
        <p:nvSpPr>
          <p:cNvPr id="27" name="Shape 24"/>
          <p:cNvSpPr/>
          <p:nvPr/>
        </p:nvSpPr>
        <p:spPr>
          <a:xfrm>
            <a:off x="10218420" y="3886200"/>
            <a:ext cx="0" cy="365760"/>
          </a:xfrm>
          <a:prstGeom prst="line">
            <a:avLst/>
          </a:prstGeom>
          <a:noFill/>
          <a:ln w="22225">
            <a:solidFill>
              <a:srgbClr val="12284C"/>
            </a:solidFill>
            <a:prstDash val="solid"/>
            <a:tailEnd type="triangle"/>
          </a:ln>
        </p:spPr>
        <p:txBody>
          <a:bodyPr/>
          <a:p/>
        </p:txBody>
      </p:sp>
      <p:sp>
        <p:nvSpPr>
          <p:cNvPr id="28" name="Shape 25"/>
          <p:cNvSpPr/>
          <p:nvPr/>
        </p:nvSpPr>
        <p:spPr>
          <a:xfrm>
            <a:off x="548640" y="4297680"/>
            <a:ext cx="11064240" cy="640080"/>
          </a:xfrm>
          <a:prstGeom prst="roundRect">
            <a:avLst>
              <a:gd name="adj" fmla="val 14000"/>
            </a:avLst>
          </a:prstGeom>
          <a:solidFill>
            <a:srgbClr val="12284C"/>
          </a:solidFill>
          <a:ln w="12700">
            <a:solidFill>
              <a:srgbClr val="12284C"/>
            </a:solidFill>
            <a:prstDash val="solid"/>
          </a:ln>
        </p:spPr>
        <p:txBody>
          <a:bodyPr/>
          <a:p/>
        </p:txBody>
      </p:sp>
      <p:sp>
        <p:nvSpPr>
          <p:cNvPr id="29" name="Text 26"/>
          <p:cNvSpPr txBox="1"/>
          <p:nvPr/>
        </p:nvSpPr>
        <p:spPr>
          <a:xfrm>
            <a:off x="548640" y="4297680"/>
            <a:ext cx="1106424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RabbitMQ: pertukaran event asinkron antarlayanan (kedua kondisi EDA)</a:t>
            </a:r>
            <a:endParaRPr lang="en-US" sz="1800" dirty="0"/>
          </a:p>
        </p:txBody>
      </p:sp>
      <p:sp>
        <p:nvSpPr>
          <p:cNvPr id="30" name="aturan"/>
          <p:cNvSpPr/>
          <p:nvPr/>
        </p:nvSpPr>
        <p:spPr>
          <a:xfrm>
            <a:off x="548640" y="5212080"/>
            <a:ext cx="11064240" cy="914400"/>
          </a:xfrm>
          <a:prstGeom prst="roundRect">
            <a:avLst>
              <a:gd name="adj" fmla="val 14000"/>
            </a:avLst>
          </a:prstGeom>
          <a:solidFill>
            <a:srgbClr val="FFFFFF"/>
          </a:solidFill>
          <a:ln w="9525">
            <a:solidFill>
              <a:srgbClr val="FFFFFF"/>
            </a:solidFill>
            <a:prstDash val="solid"/>
          </a:ln>
        </p:spPr>
        <p:txBody>
          <a:bodyPr/>
          <a:p/>
        </p:txBody>
      </p:sp>
      <p:sp>
        <p:nvSpPr>
          <p:cNvPr id="31" name="Text 28"/>
          <p:cNvSpPr txBox="1"/>
          <p:nvPr/>
        </p:nvSpPr>
        <p:spPr>
          <a:xfrm>
            <a:off x="822960" y="5212080"/>
            <a:ext cx="10515600" cy="914400"/>
          </a:xfrm>
          <a:prstGeom prst="rect">
            <a:avLst/>
          </a:prstGeom>
          <a:noFill/>
          <a:ln/>
        </p:spPr>
        <p:txBody>
          <a:bodyPr wrap="square" lIns="0" tIns="0" rIns="0" bIns="0" rtlCol="0" anchor="ctr"/>
          <a:lstStyle/>
          <a:p>
            <a:pPr indent="0" marL="0">
              <a:buNone/>
            </a:pPr>
            <a:r>
              <a:rPr lang="en-US" sz="1800" b="1" dirty="0">
                <a:solidFill>
                  <a:srgbClr val="12284C"/>
                </a:solidFill>
                <a:latin typeface="Calibri" pitchFamily="34" charset="0"/>
                <a:ea typeface="Calibri" pitchFamily="34" charset="-122"/>
                <a:cs typeface="Calibri" pitchFamily="34" charset="-120"/>
              </a:rPr>
              <a:t>Aturan: data hanya diubah oleh layanan pemiliknya; layanan lain tidak mengubah basis datanya langsung. Berlaku pada ketiga kondisi; pada monolith berupa empat modul.</a:t>
            </a:r>
            <a:pPr indent="0" marL="0">
              <a:buNone/>
            </a:pP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Lima mekanisme proteksi, masing-masing menargetkan satu risiko</a:t>
            </a:r>
            <a:endParaRPr lang="en-US" sz="2800" dirty="0"/>
          </a:p>
        </p:txBody>
      </p:sp>
      <p:sp>
        <p:nvSpPr>
          <p:cNvPr id="4" name="mech0"/>
          <p:cNvSpPr/>
          <p:nvPr/>
        </p:nvSpPr>
        <p:spPr>
          <a:xfrm>
            <a:off x="54864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5" name="Shape 2"/>
          <p:cNvSpPr/>
          <p:nvPr/>
        </p:nvSpPr>
        <p:spPr>
          <a:xfrm>
            <a:off x="731520" y="1645920"/>
            <a:ext cx="502920" cy="502920"/>
          </a:xfrm>
          <a:prstGeom prst="ellipse">
            <a:avLst/>
          </a:prstGeom>
          <a:solidFill>
            <a:srgbClr val="12284C"/>
          </a:solidFill>
          <a:ln w="12700">
            <a:solidFill>
              <a:srgbClr val="12284C"/>
            </a:solidFill>
            <a:prstDash val="solid"/>
          </a:ln>
        </p:spPr>
        <p:txBody>
          <a:bodyPr/>
          <a:p/>
        </p:txBody>
      </p:sp>
      <p:sp>
        <p:nvSpPr>
          <p:cNvPr id="6" name="Text 3"/>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73152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Transactional Outbox</a:t>
            </a:r>
            <a:endParaRPr lang="en-US" sz="1700" dirty="0"/>
          </a:p>
        </p:txBody>
      </p:sp>
      <p:sp>
        <p:nvSpPr>
          <p:cNvPr id="8" name="Text 5"/>
          <p:cNvSpPr txBox="1"/>
          <p:nvPr/>
        </p:nvSpPr>
        <p:spPr>
          <a:xfrm>
            <a:off x="73152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9" name="Text 6"/>
          <p:cNvSpPr txBox="1"/>
          <p:nvPr/>
        </p:nvSpPr>
        <p:spPr>
          <a:xfrm>
            <a:off x="73152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Event hilang saat layanan berhenti sebelum menerbitkan</a:t>
            </a:r>
            <a:endParaRPr lang="en-US" sz="1400" dirty="0"/>
          </a:p>
        </p:txBody>
      </p:sp>
      <p:sp>
        <p:nvSpPr>
          <p:cNvPr id="10" name="Shape 7"/>
          <p:cNvSpPr/>
          <p:nvPr/>
        </p:nvSpPr>
        <p:spPr>
          <a:xfrm>
            <a:off x="73152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11" name="Text 8"/>
          <p:cNvSpPr txBox="1"/>
          <p:nvPr/>
        </p:nvSpPr>
        <p:spPr>
          <a:xfrm>
            <a:off x="73152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F1</a:t>
            </a:r>
            <a:endParaRPr lang="en-US" sz="1200" dirty="0"/>
          </a:p>
        </p:txBody>
      </p:sp>
      <p:sp>
        <p:nvSpPr>
          <p:cNvPr id="12" name="mech1"/>
          <p:cNvSpPr/>
          <p:nvPr/>
        </p:nvSpPr>
        <p:spPr>
          <a:xfrm>
            <a:off x="278892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13" name="Shape 10"/>
          <p:cNvSpPr/>
          <p:nvPr/>
        </p:nvSpPr>
        <p:spPr>
          <a:xfrm>
            <a:off x="2971800" y="1645920"/>
            <a:ext cx="502920" cy="502920"/>
          </a:xfrm>
          <a:prstGeom prst="ellipse">
            <a:avLst/>
          </a:prstGeom>
          <a:solidFill>
            <a:srgbClr val="12284C"/>
          </a:solidFill>
          <a:ln w="12700">
            <a:solidFill>
              <a:srgbClr val="12284C"/>
            </a:solidFill>
            <a:prstDash val="solid"/>
          </a:ln>
        </p:spPr>
        <p:txBody>
          <a:bodyPr/>
          <a:p/>
        </p:txBody>
      </p:sp>
      <p:sp>
        <p:nvSpPr>
          <p:cNvPr id="14" name="Text 11"/>
          <p:cNvSpPr txBox="1"/>
          <p:nvPr/>
        </p:nvSpPr>
        <p:spPr>
          <a:xfrm>
            <a:off x="297180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297180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Idempotent Consumer dan Inbox</a:t>
            </a:r>
            <a:endParaRPr lang="en-US" sz="1700" dirty="0"/>
          </a:p>
        </p:txBody>
      </p:sp>
      <p:sp>
        <p:nvSpPr>
          <p:cNvPr id="16" name="Text 13"/>
          <p:cNvSpPr txBox="1"/>
          <p:nvPr/>
        </p:nvSpPr>
        <p:spPr>
          <a:xfrm>
            <a:off x="297180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17" name="Text 14"/>
          <p:cNvSpPr txBox="1"/>
          <p:nvPr/>
        </p:nvSpPr>
        <p:spPr>
          <a:xfrm>
            <a:off x="297180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Pesan ganda menghasilkan efek bisnis ganda</a:t>
            </a:r>
            <a:endParaRPr lang="en-US" sz="1400" dirty="0"/>
          </a:p>
        </p:txBody>
      </p:sp>
      <p:sp>
        <p:nvSpPr>
          <p:cNvPr id="18" name="Shape 15"/>
          <p:cNvSpPr/>
          <p:nvPr/>
        </p:nvSpPr>
        <p:spPr>
          <a:xfrm>
            <a:off x="297180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19" name="Text 16"/>
          <p:cNvSpPr txBox="1"/>
          <p:nvPr/>
        </p:nvSpPr>
        <p:spPr>
          <a:xfrm>
            <a:off x="297180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F2, F3</a:t>
            </a:r>
            <a:endParaRPr lang="en-US" sz="1200" dirty="0"/>
          </a:p>
        </p:txBody>
      </p:sp>
      <p:sp>
        <p:nvSpPr>
          <p:cNvPr id="20" name="mech2"/>
          <p:cNvSpPr/>
          <p:nvPr/>
        </p:nvSpPr>
        <p:spPr>
          <a:xfrm>
            <a:off x="502920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21" name="Shape 18"/>
          <p:cNvSpPr/>
          <p:nvPr/>
        </p:nvSpPr>
        <p:spPr>
          <a:xfrm>
            <a:off x="5212080" y="1645920"/>
            <a:ext cx="502920" cy="502920"/>
          </a:xfrm>
          <a:prstGeom prst="ellipse">
            <a:avLst/>
          </a:prstGeom>
          <a:solidFill>
            <a:srgbClr val="12284C"/>
          </a:solidFill>
          <a:ln w="12700">
            <a:solidFill>
              <a:srgbClr val="12284C"/>
            </a:solidFill>
            <a:prstDash val="solid"/>
          </a:ln>
        </p:spPr>
        <p:txBody>
          <a:bodyPr/>
          <a:p/>
        </p:txBody>
      </p:sp>
      <p:sp>
        <p:nvSpPr>
          <p:cNvPr id="22" name="Text 19"/>
          <p:cNvSpPr txBox="1"/>
          <p:nvPr/>
        </p:nvSpPr>
        <p:spPr>
          <a:xfrm>
            <a:off x="521208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0"/>
          <p:cNvSpPr txBox="1"/>
          <p:nvPr/>
        </p:nvSpPr>
        <p:spPr>
          <a:xfrm>
            <a:off x="521208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Optimistic Concurrency Control</a:t>
            </a:r>
            <a:endParaRPr lang="en-US" sz="1700" dirty="0"/>
          </a:p>
        </p:txBody>
      </p:sp>
      <p:sp>
        <p:nvSpPr>
          <p:cNvPr id="24" name="Text 21"/>
          <p:cNvSpPr txBox="1"/>
          <p:nvPr/>
        </p:nvSpPr>
        <p:spPr>
          <a:xfrm>
            <a:off x="521208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25" name="Text 22"/>
          <p:cNvSpPr txBox="1"/>
          <p:nvPr/>
        </p:nvSpPr>
        <p:spPr>
          <a:xfrm>
            <a:off x="521208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Rebutan stok: oversell dan lost update</a:t>
            </a:r>
            <a:endParaRPr lang="en-US" sz="1400" dirty="0"/>
          </a:p>
        </p:txBody>
      </p:sp>
      <p:sp>
        <p:nvSpPr>
          <p:cNvPr id="26" name="Shape 23"/>
          <p:cNvSpPr/>
          <p:nvPr/>
        </p:nvSpPr>
        <p:spPr>
          <a:xfrm>
            <a:off x="521208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27" name="Text 24"/>
          <p:cNvSpPr txBox="1"/>
          <p:nvPr/>
        </p:nvSpPr>
        <p:spPr>
          <a:xfrm>
            <a:off x="521208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F5</a:t>
            </a:r>
            <a:endParaRPr lang="en-US" sz="1200" dirty="0"/>
          </a:p>
        </p:txBody>
      </p:sp>
      <p:sp>
        <p:nvSpPr>
          <p:cNvPr id="28" name="mech3"/>
          <p:cNvSpPr/>
          <p:nvPr/>
        </p:nvSpPr>
        <p:spPr>
          <a:xfrm>
            <a:off x="726948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29" name="Shape 26"/>
          <p:cNvSpPr/>
          <p:nvPr/>
        </p:nvSpPr>
        <p:spPr>
          <a:xfrm>
            <a:off x="7452360" y="1645920"/>
            <a:ext cx="502920" cy="502920"/>
          </a:xfrm>
          <a:prstGeom prst="ellipse">
            <a:avLst/>
          </a:prstGeom>
          <a:solidFill>
            <a:srgbClr val="12284C"/>
          </a:solidFill>
          <a:ln w="12700">
            <a:solidFill>
              <a:srgbClr val="12284C"/>
            </a:solidFill>
            <a:prstDash val="solid"/>
          </a:ln>
        </p:spPr>
        <p:txBody>
          <a:bodyPr/>
          <a:p/>
        </p:txBody>
      </p:sp>
      <p:sp>
        <p:nvSpPr>
          <p:cNvPr id="30" name="Text 27"/>
          <p:cNvSpPr txBox="1"/>
          <p:nvPr/>
        </p:nvSpPr>
        <p:spPr>
          <a:xfrm>
            <a:off x="745236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8"/>
          <p:cNvSpPr txBox="1"/>
          <p:nvPr/>
        </p:nvSpPr>
        <p:spPr>
          <a:xfrm>
            <a:off x="745236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Saga dan Compensation</a:t>
            </a:r>
            <a:endParaRPr lang="en-US" sz="1700" dirty="0"/>
          </a:p>
        </p:txBody>
      </p:sp>
      <p:sp>
        <p:nvSpPr>
          <p:cNvPr id="32" name="Text 29"/>
          <p:cNvSpPr txBox="1"/>
          <p:nvPr/>
        </p:nvSpPr>
        <p:spPr>
          <a:xfrm>
            <a:off x="745236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33" name="Text 30"/>
          <p:cNvSpPr txBox="1"/>
          <p:nvPr/>
        </p:nvSpPr>
        <p:spPr>
          <a:xfrm>
            <a:off x="745236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Bayar gagal setelah stok direservasi</a:t>
            </a:r>
            <a:endParaRPr lang="en-US" sz="1400" dirty="0"/>
          </a:p>
        </p:txBody>
      </p:sp>
      <p:sp>
        <p:nvSpPr>
          <p:cNvPr id="34" name="Shape 31"/>
          <p:cNvSpPr/>
          <p:nvPr/>
        </p:nvSpPr>
        <p:spPr>
          <a:xfrm>
            <a:off x="7452360" y="4663440"/>
            <a:ext cx="914400" cy="347472"/>
          </a:xfrm>
          <a:prstGeom prst="roundRect">
            <a:avLst>
              <a:gd name="adj" fmla="val 15789"/>
            </a:avLst>
          </a:prstGeom>
          <a:solidFill>
            <a:srgbClr val="C9A227"/>
          </a:solidFill>
          <a:ln w="12700">
            <a:solidFill>
              <a:srgbClr val="C9A227"/>
            </a:solidFill>
            <a:prstDash val="solid"/>
          </a:ln>
        </p:spPr>
        <p:txBody>
          <a:bodyPr/>
          <a:p/>
        </p:txBody>
      </p:sp>
      <p:sp>
        <p:nvSpPr>
          <p:cNvPr id="35" name="Text 32"/>
          <p:cNvSpPr txBox="1"/>
          <p:nvPr/>
        </p:nvSpPr>
        <p:spPr>
          <a:xfrm>
            <a:off x="745236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F6</a:t>
            </a:r>
            <a:endParaRPr lang="en-US" sz="1200" dirty="0"/>
          </a:p>
        </p:txBody>
      </p:sp>
      <p:sp>
        <p:nvSpPr>
          <p:cNvPr id="36" name="mech4"/>
          <p:cNvSpPr/>
          <p:nvPr/>
        </p:nvSpPr>
        <p:spPr>
          <a:xfrm>
            <a:off x="9509760" y="1463040"/>
            <a:ext cx="2103120" cy="3749040"/>
          </a:xfrm>
          <a:prstGeom prst="roundRect">
            <a:avLst>
              <a:gd name="adj" fmla="val 14000"/>
            </a:avLst>
          </a:prstGeom>
          <a:solidFill>
            <a:srgbClr val="EEF2F8"/>
          </a:solidFill>
          <a:ln w="9525">
            <a:solidFill>
              <a:srgbClr val="D5DEEC"/>
            </a:solidFill>
            <a:prstDash val="solid"/>
          </a:ln>
        </p:spPr>
        <p:txBody>
          <a:bodyPr/>
          <a:p/>
        </p:txBody>
      </p:sp>
      <p:sp>
        <p:nvSpPr>
          <p:cNvPr id="37" name="Shape 34"/>
          <p:cNvSpPr/>
          <p:nvPr/>
        </p:nvSpPr>
        <p:spPr>
          <a:xfrm>
            <a:off x="9692640" y="1645920"/>
            <a:ext cx="502920" cy="502920"/>
          </a:xfrm>
          <a:prstGeom prst="ellipse">
            <a:avLst/>
          </a:prstGeom>
          <a:solidFill>
            <a:srgbClr val="12284C"/>
          </a:solidFill>
          <a:ln w="12700">
            <a:solidFill>
              <a:srgbClr val="12284C"/>
            </a:solidFill>
            <a:prstDash val="solid"/>
          </a:ln>
        </p:spPr>
        <p:txBody>
          <a:bodyPr/>
          <a:p/>
        </p:txBody>
      </p:sp>
      <p:sp>
        <p:nvSpPr>
          <p:cNvPr id="38" name="Text 35"/>
          <p:cNvSpPr txBox="1"/>
          <p:nvPr/>
        </p:nvSpPr>
        <p:spPr>
          <a:xfrm>
            <a:off x="9692640" y="1645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9" name="Text 36"/>
          <p:cNvSpPr txBox="1"/>
          <p:nvPr/>
        </p:nvSpPr>
        <p:spPr>
          <a:xfrm>
            <a:off x="9692640" y="2286000"/>
            <a:ext cx="1737360" cy="868680"/>
          </a:xfrm>
          <a:prstGeom prst="rect">
            <a:avLst/>
          </a:prstGeom>
          <a:noFill/>
          <a:ln/>
        </p:spPr>
        <p:txBody>
          <a:bodyPr wrap="square" lIns="0" tIns="0" rIns="0" bIns="0" rtlCol="0" anchor="t"/>
          <a:lstStyle/>
          <a:p>
            <a:pPr indent="0" marL="0">
              <a:buNone/>
            </a:pPr>
            <a:r>
              <a:rPr lang="en-US" sz="1700" b="1" dirty="0">
                <a:solidFill>
                  <a:srgbClr val="12284C"/>
                </a:solidFill>
                <a:latin typeface="Calibri" pitchFamily="34" charset="0"/>
                <a:ea typeface="Calibri" pitchFamily="34" charset="-122"/>
                <a:cs typeface="Calibri" pitchFamily="34" charset="-120"/>
              </a:rPr>
              <a:t>Retry dan</a:t>
            </a:r>
            <a:endParaRPr lang="en-US" sz="1700" dirty="0"/>
          </a:p>
          <a:p>
            <a:pPr indent="0" marL="0">
              <a:buNone/>
            </a:pPr>
            <a:r>
              <a:rPr lang="en-US" sz="1700" b="1" dirty="0">
                <a:solidFill>
                  <a:srgbClr val="12284C"/>
                </a:solidFill>
                <a:latin typeface="Calibri" pitchFamily="34" charset="0"/>
                <a:ea typeface="Calibri" pitchFamily="34" charset="-122"/>
                <a:cs typeface="Calibri" pitchFamily="34" charset="-120"/>
              </a:rPr>
              <a:t>Dead-Letter Queue</a:t>
            </a:r>
            <a:endParaRPr lang="en-US" sz="1700" dirty="0"/>
          </a:p>
        </p:txBody>
      </p:sp>
      <p:sp>
        <p:nvSpPr>
          <p:cNvPr id="40" name="Text 37"/>
          <p:cNvSpPr txBox="1"/>
          <p:nvPr/>
        </p:nvSpPr>
        <p:spPr>
          <a:xfrm>
            <a:off x="9692640" y="3200400"/>
            <a:ext cx="1737360" cy="228600"/>
          </a:xfrm>
          <a:prstGeom prst="rect">
            <a:avLst/>
          </a:prstGeom>
          <a:noFill/>
          <a:ln/>
        </p:spPr>
        <p:txBody>
          <a:bodyPr wrap="square" lIns="0" tIns="0" rIns="0" bIns="0" rtlCol="0" anchor="t"/>
          <a:lstStyle/>
          <a:p>
            <a:pPr indent="0" marL="0">
              <a:buNone/>
            </a:pPr>
            <a:r>
              <a:rPr lang="en-US" sz="1200" b="1" dirty="0">
                <a:solidFill>
                  <a:srgbClr val="5B6B8A"/>
                </a:solidFill>
                <a:latin typeface="Calibri" pitchFamily="34" charset="0"/>
                <a:ea typeface="Calibri" pitchFamily="34" charset="-122"/>
                <a:cs typeface="Calibri" pitchFamily="34" charset="-120"/>
              </a:rPr>
              <a:t>Menargetkan risiko</a:t>
            </a:r>
            <a:endParaRPr lang="en-US" sz="1100" dirty="0"/>
          </a:p>
        </p:txBody>
      </p:sp>
      <p:sp>
        <p:nvSpPr>
          <p:cNvPr id="41" name="Text 38"/>
          <p:cNvSpPr txBox="1"/>
          <p:nvPr/>
        </p:nvSpPr>
        <p:spPr>
          <a:xfrm>
            <a:off x="9692640" y="3456432"/>
            <a:ext cx="1737360" cy="114300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Pesan gagal diproses menyumbat antrean</a:t>
            </a:r>
            <a:endParaRPr lang="en-US" sz="1400" dirty="0"/>
          </a:p>
        </p:txBody>
      </p:sp>
      <p:sp>
        <p:nvSpPr>
          <p:cNvPr id="42" name="Shape 39"/>
          <p:cNvSpPr/>
          <p:nvPr/>
        </p:nvSpPr>
        <p:spPr>
          <a:xfrm>
            <a:off x="9692640" y="4663440"/>
            <a:ext cx="914400" cy="347472"/>
          </a:xfrm>
          <a:prstGeom prst="roundRect">
            <a:avLst>
              <a:gd name="adj" fmla="val 15789"/>
            </a:avLst>
          </a:prstGeom>
          <a:solidFill>
            <a:srgbClr val="D5DEEC"/>
          </a:solidFill>
          <a:ln w="12700">
            <a:solidFill>
              <a:srgbClr val="D5DEEC"/>
            </a:solidFill>
            <a:prstDash val="solid"/>
          </a:ln>
        </p:spPr>
        <p:txBody>
          <a:bodyPr/>
          <a:p/>
        </p:txBody>
      </p:sp>
      <p:sp>
        <p:nvSpPr>
          <p:cNvPr id="43" name="Text 40"/>
          <p:cNvSpPr txBox="1"/>
          <p:nvPr/>
        </p:nvSpPr>
        <p:spPr>
          <a:xfrm>
            <a:off x="9692640" y="4663440"/>
            <a:ext cx="914400" cy="347472"/>
          </a:xfrm>
          <a:prstGeom prst="rect">
            <a:avLst/>
          </a:prstGeom>
          <a:noFill/>
          <a:ln/>
        </p:spPr>
        <p:txBody>
          <a:bodyPr wrap="square" lIns="0" tIns="0" rIns="0" bIns="0" rtlCol="0" anchor="ctr"/>
          <a:lstStyle/>
          <a:p>
            <a:pPr algn="ctr" indent="0" marL="0">
              <a:buNone/>
            </a:pPr>
            <a:r>
              <a:rPr lang="en-US" sz="1300" b="1" dirty="0">
                <a:solidFill>
                  <a:srgbClr val="12284C"/>
                </a:solidFill>
                <a:latin typeface="Calibri" pitchFamily="34" charset="0"/>
                <a:ea typeface="Calibri" pitchFamily="34" charset="-122"/>
                <a:cs typeface="Calibri" pitchFamily="34" charset="-120"/>
              </a:rPr>
              <a:t>Paket</a:t>
            </a:r>
            <a:endParaRPr lang="en-US" sz="1200" dirty="0"/>
          </a:p>
        </p:txBody>
      </p:sp>
      <p:sp>
        <p:nvSpPr>
          <p:cNvPr id="44" name="catatan"/>
          <p:cNvSpPr/>
          <p:nvPr/>
        </p:nvSpPr>
        <p:spPr>
          <a:xfrm>
            <a:off x="548640" y="5440680"/>
            <a:ext cx="11064240" cy="777240"/>
          </a:xfrm>
          <a:prstGeom prst="roundRect">
            <a:avLst>
              <a:gd name="adj" fmla="val 14000"/>
            </a:avLst>
          </a:prstGeom>
          <a:solidFill>
            <a:srgbClr val="12284C"/>
          </a:solidFill>
          <a:ln w="9525">
            <a:solidFill>
              <a:srgbClr val="12284C"/>
            </a:solidFill>
            <a:prstDash val="solid"/>
          </a:ln>
        </p:spPr>
        <p:txBody>
          <a:bodyPr/>
          <a:p/>
        </p:txBody>
      </p:sp>
      <p:sp>
        <p:nvSpPr>
          <p:cNvPr id="45" name="Text 42"/>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Tanpa Proteksi = tanpa kelima mekanisme ini. Konfigurasi dasar (publisher confirm, antrean durable, ACK manual, 2 consumer) sama di kedua EDA.</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Alur penelitian lima tahap; pilot test mendahului eksperimen utama</a:t>
            </a:r>
            <a:endParaRPr lang="en-US" sz="2800" dirty="0"/>
          </a:p>
        </p:txBody>
      </p:sp>
      <p:sp>
        <p:nvSpPr>
          <p:cNvPr id="4" name="st0"/>
          <p:cNvSpPr/>
          <p:nvPr/>
        </p:nvSpPr>
        <p:spPr>
          <a:xfrm>
            <a:off x="54864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1</a:t>
            </a:r>
            <a:endParaRPr lang="en-US" sz="3200" dirty="0"/>
          </a:p>
        </p:txBody>
      </p:sp>
      <p:sp>
        <p:nvSpPr>
          <p:cNvPr id="6" name="Text 3"/>
          <p:cNvSpPr txBox="1"/>
          <p:nvPr/>
        </p:nvSpPr>
        <p:spPr>
          <a:xfrm>
            <a:off x="73152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Analisis kebutuhan dan aturan bisnis</a:t>
            </a:r>
            <a:endParaRPr lang="en-US" sz="1500" dirty="0"/>
          </a:p>
        </p:txBody>
      </p:sp>
      <p:sp>
        <p:nvSpPr>
          <p:cNvPr id="7" name="Text 4"/>
          <p:cNvSpPr txBox="1"/>
          <p:nvPr/>
        </p:nvSpPr>
        <p:spPr>
          <a:xfrm>
            <a:off x="73152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Wawancara dan observasi, 5 Juli 2026</a:t>
            </a:r>
            <a:endParaRPr lang="en-US" sz="1200" dirty="0"/>
          </a:p>
        </p:txBody>
      </p:sp>
      <p:sp>
        <p:nvSpPr>
          <p:cNvPr id="8" name="Shape 5"/>
          <p:cNvSpPr/>
          <p:nvPr/>
        </p:nvSpPr>
        <p:spPr>
          <a:xfrm>
            <a:off x="2578608" y="2468880"/>
            <a:ext cx="214884" cy="0"/>
          </a:xfrm>
          <a:prstGeom prst="line">
            <a:avLst/>
          </a:prstGeom>
          <a:noFill/>
          <a:ln w="22225">
            <a:solidFill>
              <a:srgbClr val="5B6B8A"/>
            </a:solidFill>
            <a:prstDash val="solid"/>
            <a:tailEnd type="triangle"/>
          </a:ln>
        </p:spPr>
        <p:txBody>
          <a:bodyPr/>
          <a:p/>
        </p:txBody>
      </p:sp>
      <p:sp>
        <p:nvSpPr>
          <p:cNvPr id="9" name="st1"/>
          <p:cNvSpPr/>
          <p:nvPr/>
        </p:nvSpPr>
        <p:spPr>
          <a:xfrm>
            <a:off x="281178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10" name="Text 7"/>
          <p:cNvSpPr txBox="1"/>
          <p:nvPr/>
        </p:nvSpPr>
        <p:spPr>
          <a:xfrm>
            <a:off x="299466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2</a:t>
            </a:r>
            <a:endParaRPr lang="en-US" sz="3200" dirty="0"/>
          </a:p>
        </p:txBody>
      </p:sp>
      <p:sp>
        <p:nvSpPr>
          <p:cNvPr id="11" name="Text 8"/>
          <p:cNvSpPr txBox="1"/>
          <p:nvPr/>
        </p:nvSpPr>
        <p:spPr>
          <a:xfrm>
            <a:off x="299466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Perancangan arsitektur</a:t>
            </a:r>
            <a:endParaRPr lang="en-US" sz="1500" dirty="0"/>
          </a:p>
        </p:txBody>
      </p:sp>
      <p:sp>
        <p:nvSpPr>
          <p:cNvPr id="12" name="Text 9"/>
          <p:cNvSpPr txBox="1"/>
          <p:nvPr/>
        </p:nvSpPr>
        <p:spPr>
          <a:xfrm>
            <a:off x="299466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4 layanan, otoritas data</a:t>
            </a:r>
            <a:endParaRPr lang="en-US" sz="1200" dirty="0"/>
          </a:p>
        </p:txBody>
      </p:sp>
      <p:sp>
        <p:nvSpPr>
          <p:cNvPr id="13" name="Shape 10"/>
          <p:cNvSpPr/>
          <p:nvPr/>
        </p:nvSpPr>
        <p:spPr>
          <a:xfrm>
            <a:off x="4841748" y="2468880"/>
            <a:ext cx="214884" cy="0"/>
          </a:xfrm>
          <a:prstGeom prst="line">
            <a:avLst/>
          </a:prstGeom>
          <a:noFill/>
          <a:ln w="22225">
            <a:solidFill>
              <a:srgbClr val="5B6B8A"/>
            </a:solidFill>
            <a:prstDash val="solid"/>
            <a:tailEnd type="triangle"/>
          </a:ln>
        </p:spPr>
        <p:txBody>
          <a:bodyPr/>
          <a:p/>
        </p:txBody>
      </p:sp>
      <p:sp>
        <p:nvSpPr>
          <p:cNvPr id="14" name="st2"/>
          <p:cNvSpPr/>
          <p:nvPr/>
        </p:nvSpPr>
        <p:spPr>
          <a:xfrm>
            <a:off x="507492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15" name="Text 12"/>
          <p:cNvSpPr txBox="1"/>
          <p:nvPr/>
        </p:nvSpPr>
        <p:spPr>
          <a:xfrm>
            <a:off x="525780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3</a:t>
            </a:r>
            <a:endParaRPr lang="en-US" sz="3200" dirty="0"/>
          </a:p>
        </p:txBody>
      </p:sp>
      <p:sp>
        <p:nvSpPr>
          <p:cNvPr id="16" name="Text 13"/>
          <p:cNvSpPr txBox="1"/>
          <p:nvPr/>
        </p:nvSpPr>
        <p:spPr>
          <a:xfrm>
            <a:off x="525780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Pengembangan sistem</a:t>
            </a:r>
            <a:endParaRPr lang="en-US" sz="1500" dirty="0"/>
          </a:p>
        </p:txBody>
      </p:sp>
      <p:sp>
        <p:nvSpPr>
          <p:cNvPr id="17" name="Text 14"/>
          <p:cNvSpPr txBox="1"/>
          <p:nvPr/>
        </p:nvSpPr>
        <p:spPr>
          <a:xfrm>
            <a:off x="525780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3 kondisi arsitektur</a:t>
            </a:r>
            <a:endParaRPr lang="en-US" sz="1200" dirty="0"/>
          </a:p>
        </p:txBody>
      </p:sp>
      <p:sp>
        <p:nvSpPr>
          <p:cNvPr id="18" name="Shape 15"/>
          <p:cNvSpPr/>
          <p:nvPr/>
        </p:nvSpPr>
        <p:spPr>
          <a:xfrm>
            <a:off x="7104888" y="2468880"/>
            <a:ext cx="214884" cy="0"/>
          </a:xfrm>
          <a:prstGeom prst="line">
            <a:avLst/>
          </a:prstGeom>
          <a:noFill/>
          <a:ln w="22225">
            <a:solidFill>
              <a:srgbClr val="5B6B8A"/>
            </a:solidFill>
            <a:prstDash val="solid"/>
            <a:tailEnd type="triangle"/>
          </a:ln>
        </p:spPr>
        <p:txBody>
          <a:bodyPr/>
          <a:p/>
        </p:txBody>
      </p:sp>
      <p:sp>
        <p:nvSpPr>
          <p:cNvPr id="19" name="st3"/>
          <p:cNvSpPr/>
          <p:nvPr/>
        </p:nvSpPr>
        <p:spPr>
          <a:xfrm>
            <a:off x="7338060" y="1463040"/>
            <a:ext cx="2011680" cy="2011680"/>
          </a:xfrm>
          <a:prstGeom prst="roundRect">
            <a:avLst>
              <a:gd name="adj" fmla="val 14000"/>
            </a:avLst>
          </a:prstGeom>
          <a:solidFill>
            <a:srgbClr val="12284C"/>
          </a:solidFill>
          <a:ln w="9525">
            <a:solidFill>
              <a:srgbClr val="12284C"/>
            </a:solidFill>
            <a:prstDash val="solid"/>
          </a:ln>
        </p:spPr>
        <p:txBody>
          <a:bodyPr/>
          <a:p/>
        </p:txBody>
      </p:sp>
      <p:sp>
        <p:nvSpPr>
          <p:cNvPr id="20" name="Text 17"/>
          <p:cNvSpPr txBox="1"/>
          <p:nvPr/>
        </p:nvSpPr>
        <p:spPr>
          <a:xfrm>
            <a:off x="7520940" y="1554480"/>
            <a:ext cx="548640" cy="548640"/>
          </a:xfrm>
          <a:prstGeom prst="rect">
            <a:avLst/>
          </a:prstGeom>
          <a:noFill/>
          <a:ln/>
        </p:spPr>
        <p:txBody>
          <a:bodyPr wrap="square" lIns="0" tIns="0" rIns="0" bIns="0" rtlCol="0" anchor="t"/>
          <a:lstStyle/>
          <a:p>
            <a:pPr indent="0" marL="0">
              <a:buNone/>
            </a:pPr>
            <a:r>
              <a:rPr lang="en-US" sz="3200" b="1" dirty="0">
                <a:solidFill>
                  <a:srgbClr val="C9A227"/>
                </a:solidFill>
                <a:latin typeface="Cambria" pitchFamily="34" charset="0"/>
                <a:ea typeface="Calibri" pitchFamily="34" charset="-122"/>
                <a:cs typeface="Calibri" pitchFamily="34" charset="-120"/>
              </a:rPr>
              <a:t>4</a:t>
            </a:r>
            <a:endParaRPr lang="en-US" sz="3200" dirty="0"/>
          </a:p>
        </p:txBody>
      </p:sp>
      <p:sp>
        <p:nvSpPr>
          <p:cNvPr id="21" name="Text 18"/>
          <p:cNvSpPr txBox="1"/>
          <p:nvPr/>
        </p:nvSpPr>
        <p:spPr>
          <a:xfrm>
            <a:off x="7520940" y="2148840"/>
            <a:ext cx="164592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Pengujian dan simulasi gangguan</a:t>
            </a:r>
            <a:endParaRPr lang="en-US" sz="1500" dirty="0"/>
          </a:p>
        </p:txBody>
      </p:sp>
      <p:sp>
        <p:nvSpPr>
          <p:cNvPr id="22" name="Text 19"/>
          <p:cNvSpPr txBox="1"/>
          <p:nvPr/>
        </p:nvSpPr>
        <p:spPr>
          <a:xfrm>
            <a:off x="7520940" y="2880360"/>
            <a:ext cx="1645920" cy="5486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Pilot test, lalu eksperimen utama</a:t>
            </a:r>
            <a:endParaRPr lang="en-US" sz="1200" dirty="0"/>
          </a:p>
        </p:txBody>
      </p:sp>
      <p:sp>
        <p:nvSpPr>
          <p:cNvPr id="23" name="Shape 20"/>
          <p:cNvSpPr/>
          <p:nvPr/>
        </p:nvSpPr>
        <p:spPr>
          <a:xfrm>
            <a:off x="9368028" y="2468880"/>
            <a:ext cx="214884" cy="0"/>
          </a:xfrm>
          <a:prstGeom prst="line">
            <a:avLst/>
          </a:prstGeom>
          <a:noFill/>
          <a:ln w="22225">
            <a:solidFill>
              <a:srgbClr val="5B6B8A"/>
            </a:solidFill>
            <a:prstDash val="solid"/>
            <a:tailEnd type="triangle"/>
          </a:ln>
        </p:spPr>
        <p:txBody>
          <a:bodyPr/>
          <a:p/>
        </p:txBody>
      </p:sp>
      <p:sp>
        <p:nvSpPr>
          <p:cNvPr id="24" name="st4"/>
          <p:cNvSpPr/>
          <p:nvPr/>
        </p:nvSpPr>
        <p:spPr>
          <a:xfrm>
            <a:off x="9601200" y="1463040"/>
            <a:ext cx="2011680" cy="2011680"/>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9784080" y="1554480"/>
            <a:ext cx="548640" cy="548640"/>
          </a:xfrm>
          <a:prstGeom prst="rect">
            <a:avLst/>
          </a:prstGeom>
          <a:noFill/>
          <a:ln/>
        </p:spPr>
        <p:txBody>
          <a:bodyPr wrap="square" lIns="0" tIns="0" rIns="0" bIns="0" rtlCol="0" anchor="t"/>
          <a:lstStyle/>
          <a:p>
            <a:pPr indent="0" marL="0">
              <a:buNone/>
            </a:pPr>
            <a:r>
              <a:rPr lang="en-US" sz="3200" b="1" dirty="0">
                <a:solidFill>
                  <a:srgbClr val="12284C"/>
                </a:solidFill>
                <a:latin typeface="Cambria" pitchFamily="34" charset="0"/>
                <a:ea typeface="Calibri" pitchFamily="34" charset="-122"/>
                <a:cs typeface="Calibri" pitchFamily="34" charset="-120"/>
              </a:rPr>
              <a:t>5</a:t>
            </a:r>
            <a:endParaRPr lang="en-US" sz="3200" dirty="0"/>
          </a:p>
        </p:txBody>
      </p:sp>
      <p:sp>
        <p:nvSpPr>
          <p:cNvPr id="26" name="Text 23"/>
          <p:cNvSpPr txBox="1"/>
          <p:nvPr/>
        </p:nvSpPr>
        <p:spPr>
          <a:xfrm>
            <a:off x="9784080" y="2148840"/>
            <a:ext cx="1645920" cy="73152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Analisis hasil</a:t>
            </a:r>
            <a:endParaRPr lang="en-US" sz="1500" dirty="0"/>
          </a:p>
        </p:txBody>
      </p:sp>
      <p:sp>
        <p:nvSpPr>
          <p:cNvPr id="27" name="Text 24"/>
          <p:cNvSpPr txBox="1"/>
          <p:nvPr/>
        </p:nvSpPr>
        <p:spPr>
          <a:xfrm>
            <a:off x="9784080" y="2880360"/>
            <a:ext cx="1645920" cy="54864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Median, IQR, p95; test oracle</a:t>
            </a:r>
            <a:endParaRPr lang="en-US" sz="1200" dirty="0"/>
          </a:p>
        </p:txBody>
      </p:sp>
      <p:sp>
        <p:nvSpPr>
          <p:cNvPr id="28" name="Text 25"/>
          <p:cNvSpPr txBox="1"/>
          <p:nvPr/>
        </p:nvSpPr>
        <p:spPr>
          <a:xfrm>
            <a:off x="548640" y="3749040"/>
            <a:ext cx="7315200" cy="274320"/>
          </a:xfrm>
          <a:prstGeom prst="rect">
            <a:avLst/>
          </a:prstGeom>
          <a:noFill/>
          <a:ln/>
        </p:spPr>
        <p:txBody>
          <a:bodyPr wrap="square" lIns="0" tIns="0" rIns="0" bIns="0" rtlCol="0" anchor="t"/>
          <a:lstStyle/>
          <a:p>
            <a:pPr indent="0" marL="0">
              <a:buNone/>
            </a:pPr>
            <a:r>
              <a:rPr lang="en-US" sz="1300" b="1" spc="300" kern="0" dirty="0">
                <a:solidFill>
                  <a:srgbClr val="5B6B8A"/>
                </a:solidFill>
                <a:latin typeface="Calibri" pitchFamily="34" charset="0"/>
                <a:ea typeface="Calibri" pitchFamily="34" charset="-122"/>
                <a:cs typeface="Calibri" pitchFamily="34" charset="-120"/>
              </a:rPr>
              <a:t>TAHAP 4: PILOT, LALU EKSPERIMEN UTAMA</a:t>
            </a:r>
            <a:endParaRPr lang="en-US" sz="1200" dirty="0"/>
          </a:p>
        </p:txBody>
      </p:sp>
      <p:sp>
        <p:nvSpPr>
          <p:cNvPr id="29" name="pil0"/>
          <p:cNvSpPr/>
          <p:nvPr/>
        </p:nvSpPr>
        <p:spPr>
          <a:xfrm>
            <a:off x="548640" y="4114800"/>
            <a:ext cx="3017520" cy="1097280"/>
          </a:xfrm>
          <a:prstGeom prst="roundRect">
            <a:avLst>
              <a:gd name="adj" fmla="val 14000"/>
            </a:avLst>
          </a:prstGeom>
          <a:solidFill>
            <a:srgbClr val="EEF2F8"/>
          </a:solidFill>
          <a:ln w="9525">
            <a:solidFill>
              <a:srgbClr val="D5DEEC"/>
            </a:solidFill>
            <a:prstDash val="solid"/>
          </a:ln>
        </p:spPr>
        <p:txBody>
          <a:bodyPr/>
          <a:p/>
        </p:txBody>
      </p:sp>
      <p:sp>
        <p:nvSpPr>
          <p:cNvPr id="30" name="Text 27"/>
          <p:cNvSpPr txBox="1"/>
          <p:nvPr/>
        </p:nvSpPr>
        <p:spPr>
          <a:xfrm>
            <a:off x="731520" y="4187952"/>
            <a:ext cx="2651760" cy="32004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Pilot test</a:t>
            </a:r>
            <a:endParaRPr lang="en-US" sz="1500" dirty="0"/>
          </a:p>
        </p:txBody>
      </p:sp>
      <p:sp>
        <p:nvSpPr>
          <p:cNvPr id="31" name="Text 28"/>
          <p:cNvSpPr txBox="1"/>
          <p:nvPr/>
        </p:nvSpPr>
        <p:spPr>
          <a:xfrm>
            <a:off x="731520" y="4526280"/>
            <a:ext cx="2651760" cy="64008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10, 50, 100 req/s, tanpa gangguan</a:t>
            </a:r>
            <a:endParaRPr lang="en-US" sz="1400" dirty="0"/>
          </a:p>
        </p:txBody>
      </p:sp>
      <p:sp>
        <p:nvSpPr>
          <p:cNvPr id="32" name="Shape 29"/>
          <p:cNvSpPr/>
          <p:nvPr/>
        </p:nvSpPr>
        <p:spPr>
          <a:xfrm>
            <a:off x="3584448" y="4663440"/>
            <a:ext cx="256032" cy="0"/>
          </a:xfrm>
          <a:prstGeom prst="line">
            <a:avLst/>
          </a:prstGeom>
          <a:noFill/>
          <a:ln w="22225">
            <a:solidFill>
              <a:srgbClr val="5B6B8A"/>
            </a:solidFill>
            <a:prstDash val="solid"/>
            <a:tailEnd type="triangle"/>
          </a:ln>
        </p:spPr>
        <p:txBody>
          <a:bodyPr/>
          <a:p/>
        </p:txBody>
      </p:sp>
      <p:sp>
        <p:nvSpPr>
          <p:cNvPr id="33" name="pil1"/>
          <p:cNvSpPr/>
          <p:nvPr/>
        </p:nvSpPr>
        <p:spPr>
          <a:xfrm>
            <a:off x="3840480" y="4114800"/>
            <a:ext cx="5029200" cy="1097280"/>
          </a:xfrm>
          <a:prstGeom prst="roundRect">
            <a:avLst>
              <a:gd name="adj" fmla="val 14000"/>
            </a:avLst>
          </a:prstGeom>
          <a:solidFill>
            <a:srgbClr val="EEF2F8"/>
          </a:solidFill>
          <a:ln w="9525">
            <a:solidFill>
              <a:srgbClr val="D5DEEC"/>
            </a:solidFill>
            <a:prstDash val="solid"/>
          </a:ln>
        </p:spPr>
        <p:txBody>
          <a:bodyPr/>
          <a:p/>
        </p:txBody>
      </p:sp>
      <p:sp>
        <p:nvSpPr>
          <p:cNvPr id="34" name="Text 31"/>
          <p:cNvSpPr txBox="1"/>
          <p:nvPr/>
        </p:nvSpPr>
        <p:spPr>
          <a:xfrm>
            <a:off x="4023360" y="4187952"/>
            <a:ext cx="4663440" cy="320040"/>
          </a:xfrm>
          <a:prstGeom prst="rect">
            <a:avLst/>
          </a:prstGeom>
          <a:noFill/>
          <a:ln/>
        </p:spPr>
        <p:txBody>
          <a:bodyPr wrap="square" lIns="0" tIns="0" rIns="0" bIns="0" rtlCol="0" anchor="t"/>
          <a:lstStyle/>
          <a:p>
            <a:pPr indent="0" marL="0">
              <a:buNone/>
            </a:pPr>
            <a:r>
              <a:rPr lang="en-US" sz="1600" b="1" dirty="0">
                <a:solidFill>
                  <a:srgbClr val="12284C"/>
                </a:solidFill>
                <a:latin typeface="Calibri" pitchFamily="34" charset="0"/>
                <a:ea typeface="Calibri" pitchFamily="34" charset="-122"/>
                <a:cs typeface="Calibri" pitchFamily="34" charset="-120"/>
              </a:rPr>
              <a:t>Pilot lulus bila</a:t>
            </a:r>
            <a:endParaRPr lang="en-US" sz="1500" dirty="0"/>
          </a:p>
        </p:txBody>
      </p:sp>
      <p:sp>
        <p:nvSpPr>
          <p:cNvPr id="35" name="Text 32"/>
          <p:cNvSpPr txBox="1"/>
          <p:nvPr/>
        </p:nvSpPr>
        <p:spPr>
          <a:xfrm>
            <a:off x="4023360" y="4526280"/>
            <a:ext cx="4663440" cy="640080"/>
          </a:xfrm>
          <a:prstGeom prst="rect">
            <a:avLst/>
          </a:prstGeom>
          <a:noFill/>
          <a:ln/>
        </p:spPr>
        <p:txBody>
          <a:bodyPr wrap="square" lIns="0" tIns="0" rIns="0" bIns="0" rtlCol="0" anchor="t"/>
          <a:lstStyle/>
          <a:p>
            <a:pPr indent="0" marL="0">
              <a:buNone/>
            </a:pPr>
            <a:r>
              <a:rPr lang="en-US" sz="1500" dirty="0">
                <a:solidFill>
                  <a:srgbClr val="1B2640"/>
                </a:solidFill>
                <a:latin typeface="Calibri" pitchFamily="34" charset="0"/>
                <a:ea typeface="Calibri" pitchFamily="34" charset="-122"/>
                <a:cs typeface="Calibri" pitchFamily="34" charset="-120"/>
              </a:rPr>
              <a:t>Siap uji: tiap run selesai sampai rekonsiliasi, request dan event terlacak lewat ID, tanpa error alat uji; hasil transaksi hanya validasi fungsional awal</a:t>
            </a:r>
            <a:endParaRPr lang="en-US" sz="1400" dirty="0"/>
          </a:p>
        </p:txBody>
      </p:sp>
      <p:sp>
        <p:nvSpPr>
          <p:cNvPr id="36" name="Shape 33"/>
          <p:cNvSpPr/>
          <p:nvPr/>
        </p:nvSpPr>
        <p:spPr>
          <a:xfrm>
            <a:off x="8887968" y="4663440"/>
            <a:ext cx="256032" cy="0"/>
          </a:xfrm>
          <a:prstGeom prst="line">
            <a:avLst/>
          </a:prstGeom>
          <a:noFill/>
          <a:ln w="22225">
            <a:solidFill>
              <a:srgbClr val="5B6B8A"/>
            </a:solidFill>
            <a:prstDash val="solid"/>
            <a:tailEnd type="triangle"/>
          </a:ln>
        </p:spPr>
        <p:txBody>
          <a:bodyPr/>
          <a:p/>
        </p:txBody>
      </p:sp>
      <p:sp>
        <p:nvSpPr>
          <p:cNvPr id="37" name="pil2"/>
          <p:cNvSpPr/>
          <p:nvPr/>
        </p:nvSpPr>
        <p:spPr>
          <a:xfrm>
            <a:off x="9144000" y="4114800"/>
            <a:ext cx="2468880" cy="1097280"/>
          </a:xfrm>
          <a:prstGeom prst="roundRect">
            <a:avLst>
              <a:gd name="adj" fmla="val 14000"/>
            </a:avLst>
          </a:prstGeom>
          <a:solidFill>
            <a:srgbClr val="12284C"/>
          </a:solidFill>
          <a:ln w="9525">
            <a:solidFill>
              <a:srgbClr val="12284C"/>
            </a:solidFill>
            <a:prstDash val="solid"/>
          </a:ln>
        </p:spPr>
        <p:txBody>
          <a:bodyPr/>
          <a:p/>
        </p:txBody>
      </p:sp>
      <p:sp>
        <p:nvSpPr>
          <p:cNvPr id="38" name="Text 35"/>
          <p:cNvSpPr txBox="1"/>
          <p:nvPr/>
        </p:nvSpPr>
        <p:spPr>
          <a:xfrm>
            <a:off x="9326880" y="4187952"/>
            <a:ext cx="2103120" cy="320040"/>
          </a:xfrm>
          <a:prstGeom prst="rect">
            <a:avLst/>
          </a:prstGeom>
          <a:noFill/>
          <a:ln/>
        </p:spPr>
        <p:txBody>
          <a:bodyPr wrap="square" lIns="0" tIns="0" rIns="0" bIns="0" rtlCol="0" anchor="t"/>
          <a:lstStyle/>
          <a:p>
            <a:pPr indent="0" marL="0">
              <a:buNone/>
            </a:pPr>
            <a:r>
              <a:rPr lang="en-US" sz="1600" b="1" dirty="0">
                <a:solidFill>
                  <a:srgbClr val="C9A227"/>
                </a:solidFill>
                <a:latin typeface="Calibri" pitchFamily="34" charset="0"/>
                <a:ea typeface="Calibri" pitchFamily="34" charset="-122"/>
                <a:cs typeface="Calibri" pitchFamily="34" charset="-120"/>
              </a:rPr>
              <a:t>Pengaturan ditetapkan</a:t>
            </a:r>
            <a:endParaRPr lang="en-US" sz="1500" dirty="0"/>
          </a:p>
        </p:txBody>
      </p:sp>
      <p:sp>
        <p:nvSpPr>
          <p:cNvPr id="39" name="Text 36"/>
          <p:cNvSpPr txBox="1"/>
          <p:nvPr/>
        </p:nvSpPr>
        <p:spPr>
          <a:xfrm>
            <a:off x="9326880" y="4526280"/>
            <a:ext cx="2103120" cy="6400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lalu eksperimen utama</a:t>
            </a:r>
            <a:endParaRPr lang="en-US" sz="1400" dirty="0"/>
          </a:p>
        </p:txBody>
      </p:sp>
      <p:sp>
        <p:nvSpPr>
          <p:cNvPr id="40" name="env"/>
          <p:cNvSpPr/>
          <p:nvPr/>
        </p:nvSpPr>
        <p:spPr>
          <a:xfrm>
            <a:off x="548640" y="5440680"/>
            <a:ext cx="11064240" cy="777240"/>
          </a:xfrm>
          <a:prstGeom prst="roundRect">
            <a:avLst>
              <a:gd name="adj" fmla="val 14000"/>
            </a:avLst>
          </a:prstGeom>
          <a:solidFill>
            <a:srgbClr val="FFFFFF"/>
          </a:solidFill>
          <a:ln w="9525">
            <a:solidFill>
              <a:srgbClr val="FFFFFF"/>
            </a:solidFill>
            <a:prstDash val="solid"/>
          </a:ln>
        </p:spPr>
        <p:txBody>
          <a:bodyPr/>
          <a:p/>
        </p:txBody>
      </p:sp>
      <p:sp>
        <p:nvSpPr>
          <p:cNvPr id="41" name="Text 38"/>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1600" b="1" dirty="0">
                <a:solidFill>
                  <a:srgbClr val="12284C"/>
                </a:solidFill>
                <a:latin typeface="Calibri" pitchFamily="34" charset="0"/>
                <a:ea typeface="Calibri" pitchFamily="34" charset="-122"/>
                <a:cs typeface="Calibri" pitchFamily="34" charset="-120"/>
              </a:rPr>
              <a:t>Lingkungan: </a:t>
            </a:r>
            <a:pPr indent="0" marL="0">
              <a:buNone/>
            </a:pPr>
            <a:r>
              <a:rPr lang="en-US" sz="1600" dirty="0">
                <a:solidFill>
                  <a:srgbClr val="1B2640"/>
                </a:solidFill>
                <a:latin typeface="Calibri" pitchFamily="34" charset="0"/>
                <a:ea typeface="Calibri" pitchFamily="34" charset="-122"/>
                <a:cs typeface="Calibri" pitchFamily="34" charset="-120"/>
              </a:rPr>
              <a:t>Laravel, NestJS, MySQL InnoDB, RabbitMQ, Docker Compose. Satu host, total CPU dan RAM setara, data awal sintetis dan direset tiap run.</a:t>
            </a:r>
            <a:endParaRPr lang="en-US" sz="15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Kriteria integritas bersifat non-kompensatori; performa tidak menutupinya</a:t>
            </a:r>
            <a:endParaRPr lang="en-US" sz="2800" dirty="0"/>
          </a:p>
        </p:txBody>
      </p:sp>
      <p:sp>
        <p:nvSpPr>
          <p:cNvPr id="4" name="cr0"/>
          <p:cNvSpPr/>
          <p:nvPr/>
        </p:nvSpPr>
        <p:spPr>
          <a:xfrm>
            <a:off x="54864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73152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oversell</a:t>
            </a:r>
            <a:endParaRPr lang="en-US" sz="1400" dirty="0"/>
          </a:p>
        </p:txBody>
      </p:sp>
      <p:sp>
        <p:nvSpPr>
          <p:cNvPr id="6" name="Text 3"/>
          <p:cNvSpPr txBox="1"/>
          <p:nvPr/>
        </p:nvSpPr>
        <p:spPr>
          <a:xfrm>
            <a:off x="73152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7" name="Text 4"/>
          <p:cNvSpPr txBox="1"/>
          <p:nvPr/>
        </p:nvSpPr>
        <p:spPr>
          <a:xfrm>
            <a:off x="73152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unit terjual melebihi stok</a:t>
            </a:r>
            <a:endParaRPr lang="en-US" sz="1200" dirty="0"/>
          </a:p>
        </p:txBody>
      </p:sp>
      <p:sp>
        <p:nvSpPr>
          <p:cNvPr id="8" name="cr1"/>
          <p:cNvSpPr/>
          <p:nvPr/>
        </p:nvSpPr>
        <p:spPr>
          <a:xfrm>
            <a:off x="333756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9" name="Text 6"/>
          <p:cNvSpPr txBox="1"/>
          <p:nvPr/>
        </p:nvSpPr>
        <p:spPr>
          <a:xfrm>
            <a:off x="352044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lost update</a:t>
            </a:r>
            <a:endParaRPr lang="en-US" sz="1400" dirty="0"/>
          </a:p>
        </p:txBody>
      </p:sp>
      <p:sp>
        <p:nvSpPr>
          <p:cNvPr id="10" name="Text 7"/>
          <p:cNvSpPr txBox="1"/>
          <p:nvPr/>
        </p:nvSpPr>
        <p:spPr>
          <a:xfrm>
            <a:off x="352044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1" name="Text 8"/>
          <p:cNvSpPr txBox="1"/>
          <p:nvPr/>
        </p:nvSpPr>
        <p:spPr>
          <a:xfrm>
            <a:off x="352044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pembaruan sah tertimpa</a:t>
            </a:r>
            <a:endParaRPr lang="en-US" sz="1200" dirty="0"/>
          </a:p>
        </p:txBody>
      </p:sp>
      <p:sp>
        <p:nvSpPr>
          <p:cNvPr id="12" name="cr2"/>
          <p:cNvSpPr/>
          <p:nvPr/>
        </p:nvSpPr>
        <p:spPr>
          <a:xfrm>
            <a:off x="612648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13" name="Text 10"/>
          <p:cNvSpPr txBox="1"/>
          <p:nvPr/>
        </p:nvSpPr>
        <p:spPr>
          <a:xfrm>
            <a:off x="630936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duplicate effect</a:t>
            </a:r>
            <a:endParaRPr lang="en-US" sz="1400" dirty="0"/>
          </a:p>
        </p:txBody>
      </p:sp>
      <p:sp>
        <p:nvSpPr>
          <p:cNvPr id="14" name="Text 11"/>
          <p:cNvSpPr txBox="1"/>
          <p:nvPr/>
        </p:nvSpPr>
        <p:spPr>
          <a:xfrm>
            <a:off x="630936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5" name="Text 12"/>
          <p:cNvSpPr txBox="1"/>
          <p:nvPr/>
        </p:nvSpPr>
        <p:spPr>
          <a:xfrm>
            <a:off x="630936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satu event, efek bisnis berulang</a:t>
            </a:r>
            <a:endParaRPr lang="en-US" sz="1200" dirty="0"/>
          </a:p>
        </p:txBody>
      </p:sp>
      <p:sp>
        <p:nvSpPr>
          <p:cNvPr id="16" name="cr3"/>
          <p:cNvSpPr/>
          <p:nvPr/>
        </p:nvSpPr>
        <p:spPr>
          <a:xfrm>
            <a:off x="8915400" y="146304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17" name="Text 14"/>
          <p:cNvSpPr txBox="1"/>
          <p:nvPr/>
        </p:nvSpPr>
        <p:spPr>
          <a:xfrm>
            <a:off x="9098280" y="157276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permanent mismatch</a:t>
            </a:r>
            <a:endParaRPr lang="en-US" sz="1400" dirty="0"/>
          </a:p>
        </p:txBody>
      </p:sp>
      <p:sp>
        <p:nvSpPr>
          <p:cNvPr id="18" name="Text 15"/>
          <p:cNvSpPr txBox="1"/>
          <p:nvPr/>
        </p:nvSpPr>
        <p:spPr>
          <a:xfrm>
            <a:off x="9098280" y="192024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19" name="Text 16"/>
          <p:cNvSpPr txBox="1"/>
          <p:nvPr/>
        </p:nvSpPr>
        <p:spPr>
          <a:xfrm>
            <a:off x="9098280" y="245059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data lintas layanan tak sesuai setelah pemulihan</a:t>
            </a:r>
            <a:endParaRPr lang="en-US" sz="1200" dirty="0"/>
          </a:p>
        </p:txBody>
      </p:sp>
      <p:sp>
        <p:nvSpPr>
          <p:cNvPr id="20" name="cr4"/>
          <p:cNvSpPr/>
          <p:nvPr/>
        </p:nvSpPr>
        <p:spPr>
          <a:xfrm>
            <a:off x="54864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1" name="Text 18"/>
          <p:cNvSpPr txBox="1"/>
          <p:nvPr/>
        </p:nvSpPr>
        <p:spPr>
          <a:xfrm>
            <a:off x="73152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untraceable event</a:t>
            </a:r>
            <a:endParaRPr lang="en-US" sz="1400" dirty="0"/>
          </a:p>
        </p:txBody>
      </p:sp>
      <p:sp>
        <p:nvSpPr>
          <p:cNvPr id="22" name="Text 19"/>
          <p:cNvSpPr txBox="1"/>
          <p:nvPr/>
        </p:nvSpPr>
        <p:spPr>
          <a:xfrm>
            <a:off x="73152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0</a:t>
            </a:r>
            <a:endParaRPr lang="en-US" sz="2800" dirty="0"/>
          </a:p>
        </p:txBody>
      </p:sp>
      <p:sp>
        <p:nvSpPr>
          <p:cNvPr id="23" name="Text 20"/>
          <p:cNvSpPr txBox="1"/>
          <p:nvPr/>
        </p:nvSpPr>
        <p:spPr>
          <a:xfrm>
            <a:off x="73152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event tak dapat dilacak pada log setelah pemulihan</a:t>
            </a:r>
            <a:endParaRPr lang="en-US" sz="1200" dirty="0"/>
          </a:p>
        </p:txBody>
      </p:sp>
      <p:sp>
        <p:nvSpPr>
          <p:cNvPr id="24" name="cr5"/>
          <p:cNvSpPr/>
          <p:nvPr/>
        </p:nvSpPr>
        <p:spPr>
          <a:xfrm>
            <a:off x="333756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5" name="Text 22"/>
          <p:cNvSpPr txBox="1"/>
          <p:nvPr/>
        </p:nvSpPr>
        <p:spPr>
          <a:xfrm>
            <a:off x="352044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terminal-state coverage</a:t>
            </a:r>
            <a:endParaRPr lang="en-US" sz="1400" dirty="0"/>
          </a:p>
        </p:txBody>
      </p:sp>
      <p:sp>
        <p:nvSpPr>
          <p:cNvPr id="26" name="Text 23"/>
          <p:cNvSpPr txBox="1"/>
          <p:nvPr/>
        </p:nvSpPr>
        <p:spPr>
          <a:xfrm>
            <a:off x="352044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100%</a:t>
            </a:r>
            <a:endParaRPr lang="en-US" sz="2800" dirty="0"/>
          </a:p>
        </p:txBody>
      </p:sp>
      <p:sp>
        <p:nvSpPr>
          <p:cNvPr id="27" name="Text 24"/>
          <p:cNvSpPr txBox="1"/>
          <p:nvPr/>
        </p:nvSpPr>
        <p:spPr>
          <a:xfrm>
            <a:off x="352044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transaksi mencapai status akhir sah</a:t>
            </a:r>
            <a:endParaRPr lang="en-US" sz="1200" dirty="0"/>
          </a:p>
        </p:txBody>
      </p:sp>
      <p:sp>
        <p:nvSpPr>
          <p:cNvPr id="28" name="cr6"/>
          <p:cNvSpPr/>
          <p:nvPr/>
        </p:nvSpPr>
        <p:spPr>
          <a:xfrm>
            <a:off x="612648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29" name="Text 26"/>
          <p:cNvSpPr txBox="1"/>
          <p:nvPr/>
        </p:nvSpPr>
        <p:spPr>
          <a:xfrm>
            <a:off x="630936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compensation success</a:t>
            </a:r>
            <a:endParaRPr lang="en-US" sz="1400" dirty="0"/>
          </a:p>
        </p:txBody>
      </p:sp>
      <p:sp>
        <p:nvSpPr>
          <p:cNvPr id="30" name="Text 27"/>
          <p:cNvSpPr txBox="1"/>
          <p:nvPr/>
        </p:nvSpPr>
        <p:spPr>
          <a:xfrm>
            <a:off x="630936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100%</a:t>
            </a:r>
            <a:endParaRPr lang="en-US" sz="2800" dirty="0"/>
          </a:p>
        </p:txBody>
      </p:sp>
      <p:sp>
        <p:nvSpPr>
          <p:cNvPr id="31" name="Text 28"/>
          <p:cNvSpPr txBox="1"/>
          <p:nvPr/>
        </p:nvSpPr>
        <p:spPr>
          <a:xfrm>
            <a:off x="630936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transaksi yang perlu kompensasi berhasil dipulihkan</a:t>
            </a:r>
            <a:endParaRPr lang="en-US" sz="1200" dirty="0"/>
          </a:p>
        </p:txBody>
      </p:sp>
      <p:sp>
        <p:nvSpPr>
          <p:cNvPr id="32" name="cr7"/>
          <p:cNvSpPr/>
          <p:nvPr/>
        </p:nvSpPr>
        <p:spPr>
          <a:xfrm>
            <a:off x="8915400" y="3246120"/>
            <a:ext cx="2606040" cy="1627632"/>
          </a:xfrm>
          <a:prstGeom prst="roundRect">
            <a:avLst>
              <a:gd name="adj" fmla="val 14000"/>
            </a:avLst>
          </a:prstGeom>
          <a:solidFill>
            <a:srgbClr val="EEF2F8"/>
          </a:solidFill>
          <a:ln w="9525">
            <a:solidFill>
              <a:srgbClr val="D5DEEC"/>
            </a:solidFill>
            <a:prstDash val="solid"/>
          </a:ln>
        </p:spPr>
        <p:txBody>
          <a:bodyPr/>
          <a:p/>
        </p:txBody>
      </p:sp>
      <p:sp>
        <p:nvSpPr>
          <p:cNvPr id="33" name="Text 30"/>
          <p:cNvSpPr txBox="1"/>
          <p:nvPr/>
        </p:nvSpPr>
        <p:spPr>
          <a:xfrm>
            <a:off x="9098280" y="3355848"/>
            <a:ext cx="2240280" cy="320040"/>
          </a:xfrm>
          <a:prstGeom prst="rect">
            <a:avLst/>
          </a:prstGeom>
          <a:noFill/>
          <a:ln/>
        </p:spPr>
        <p:txBody>
          <a:bodyPr wrap="square" lIns="0" tIns="0" rIns="0" bIns="0" rtlCol="0" anchor="t"/>
          <a:lstStyle/>
          <a:p>
            <a:pPr indent="0" marL="0">
              <a:buNone/>
            </a:pPr>
            <a:r>
              <a:rPr lang="en-US" sz="1500" b="1" dirty="0">
                <a:solidFill>
                  <a:srgbClr val="12284C"/>
                </a:solidFill>
                <a:latin typeface="Calibri" pitchFamily="34" charset="0"/>
                <a:ea typeface="Calibri" pitchFamily="34" charset="-122"/>
                <a:cs typeface="Calibri" pitchFamily="34" charset="-120"/>
              </a:rPr>
              <a:t>read-model lag</a:t>
            </a:r>
            <a:endParaRPr lang="en-US" sz="1400" dirty="0"/>
          </a:p>
        </p:txBody>
      </p:sp>
      <p:sp>
        <p:nvSpPr>
          <p:cNvPr id="34" name="Text 31"/>
          <p:cNvSpPr txBox="1"/>
          <p:nvPr/>
        </p:nvSpPr>
        <p:spPr>
          <a:xfrm>
            <a:off x="9098280" y="3703320"/>
            <a:ext cx="2240280" cy="502920"/>
          </a:xfrm>
          <a:prstGeom prst="rect">
            <a:avLst/>
          </a:prstGeom>
          <a:noFill/>
          <a:ln/>
        </p:spPr>
        <p:txBody>
          <a:bodyPr wrap="square" lIns="0" tIns="0" rIns="0" bIns="0" rtlCol="0" anchor="t"/>
          <a:lstStyle/>
          <a:p>
            <a:pPr indent="0" marL="0">
              <a:buNone/>
            </a:pPr>
            <a:r>
              <a:rPr lang="en-US" sz="3000" b="1" dirty="0">
                <a:solidFill>
                  <a:srgbClr val="12284C"/>
                </a:solidFill>
                <a:latin typeface="Cambria" pitchFamily="34" charset="0"/>
                <a:ea typeface="Calibri" pitchFamily="34" charset="-122"/>
                <a:cs typeface="Calibri" pitchFamily="34" charset="-120"/>
              </a:rPr>
              <a:t>≤ 60 dtk</a:t>
            </a:r>
            <a:endParaRPr lang="en-US" sz="2800" dirty="0"/>
          </a:p>
        </p:txBody>
      </p:sp>
      <p:sp>
        <p:nvSpPr>
          <p:cNvPr id="35" name="Text 32"/>
          <p:cNvSpPr txBox="1"/>
          <p:nvPr/>
        </p:nvSpPr>
        <p:spPr>
          <a:xfrm>
            <a:off x="9098280" y="4233672"/>
            <a:ext cx="2240280" cy="59436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jeda data hingga tampil di Pelaporan</a:t>
            </a:r>
            <a:endParaRPr lang="en-US" sz="1200" dirty="0"/>
          </a:p>
        </p:txBody>
      </p:sp>
      <p:sp>
        <p:nvSpPr>
          <p:cNvPr id="36" name="pendukung"/>
          <p:cNvSpPr/>
          <p:nvPr/>
        </p:nvSpPr>
        <p:spPr>
          <a:xfrm>
            <a:off x="548640" y="5074920"/>
            <a:ext cx="11064240" cy="1188720"/>
          </a:xfrm>
          <a:prstGeom prst="roundRect">
            <a:avLst>
              <a:gd name="adj" fmla="val 14000"/>
            </a:avLst>
          </a:prstGeom>
          <a:solidFill>
            <a:srgbClr val="12284C"/>
          </a:solidFill>
          <a:ln w="9525">
            <a:solidFill>
              <a:srgbClr val="12284C"/>
            </a:solidFill>
            <a:prstDash val="solid"/>
          </a:ln>
        </p:spPr>
        <p:txBody>
          <a:bodyPr/>
          <a:p/>
        </p:txBody>
      </p:sp>
      <p:sp>
        <p:nvSpPr>
          <p:cNvPr id="37" name="Text 34"/>
          <p:cNvSpPr txBox="1"/>
          <p:nvPr/>
        </p:nvSpPr>
        <p:spPr>
          <a:xfrm>
            <a:off x="822960" y="5166360"/>
            <a:ext cx="7315200" cy="274320"/>
          </a:xfrm>
          <a:prstGeom prst="rect">
            <a:avLst/>
          </a:prstGeom>
          <a:noFill/>
          <a:ln/>
        </p:spPr>
        <p:txBody>
          <a:bodyPr wrap="square" lIns="0" tIns="0" rIns="0" bIns="0" rtlCol="0" anchor="t"/>
          <a:lstStyle/>
          <a:p>
            <a:pPr indent="0" marL="0">
              <a:buNone/>
            </a:pPr>
            <a:r>
              <a:rPr lang="en-US" sz="1300" b="1" spc="300" kern="0" dirty="0">
                <a:solidFill>
                  <a:srgbClr val="C9A227"/>
                </a:solidFill>
                <a:latin typeface="Calibri" pitchFamily="34" charset="0"/>
                <a:ea typeface="Calibri" pitchFamily="34" charset="-122"/>
                <a:cs typeface="Calibri" pitchFamily="34" charset="-120"/>
              </a:rPr>
              <a:t>DIMENSI PENDUKUNG, DILAPORKAN TERPISAH</a:t>
            </a:r>
            <a:endParaRPr lang="en-US" sz="1200" dirty="0"/>
          </a:p>
        </p:txBody>
      </p:sp>
      <p:sp>
        <p:nvSpPr>
          <p:cNvPr id="38" name="Text 35"/>
          <p:cNvSpPr txBox="1"/>
          <p:nvPr/>
        </p:nvSpPr>
        <p:spPr>
          <a:xfrm>
            <a:off x="822960" y="5486400"/>
            <a:ext cx="10515600" cy="731520"/>
          </a:xfrm>
          <a:prstGeom prst="rect">
            <a:avLst/>
          </a:prstGeom>
          <a:noFill/>
          <a:ln/>
        </p:spPr>
        <p:txBody>
          <a:bodyPr wrap="square" lIns="0" tIns="0" rIns="0" bIns="0" rtlCol="0" anchor="ctr"/>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Performa: </a:t>
            </a:r>
            <a:pPr indent="0" marL="0">
              <a:spcAft>
                <a:spcPts val="400"/>
              </a:spcAft>
              <a:buNone/>
            </a:pPr>
            <a:r>
              <a:rPr lang="en-US" sz="1600" dirty="0">
                <a:solidFill>
                  <a:srgbClr val="CADCFC"/>
                </a:solidFill>
                <a:latin typeface="Calibri" pitchFamily="34" charset="0"/>
                <a:ea typeface="Calibri" pitchFamily="34" charset="-122"/>
                <a:cs typeface="Calibri" pitchFamily="34" charset="-120"/>
              </a:rPr>
              <a:t>latency, throughput, technical error rate, CPU, RAM</a:t>
            </a:r>
            <a:endParaRPr lang="en-US" sz="1500" dirty="0"/>
          </a:p>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Kompleksitas operasional: </a:t>
            </a:r>
            <a:pPr indent="0" marL="0">
              <a:spcAft>
                <a:spcPts val="400"/>
              </a:spcAft>
              <a:buNone/>
            </a:pPr>
            <a:r>
              <a:rPr lang="en-US" sz="1600" dirty="0">
                <a:solidFill>
                  <a:srgbClr val="CADCFC"/>
                </a:solidFill>
                <a:latin typeface="Calibri" pitchFamily="34" charset="0"/>
                <a:ea typeface="Calibri" pitchFamily="34" charset="-122"/>
                <a:cs typeface="Calibri" pitchFamily="34" charset="-120"/>
              </a:rPr>
              <a:t>komponen aktif, langkah dan waktu pemulihan manual, intervensi manual</a:t>
            </a:r>
            <a:endParaRPr lang="en-US" sz="15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Enam kode gangguan; F1-F4a hanya berlaku pada kedua EDA</a:t>
            </a:r>
            <a:endParaRPr lang="en-US" sz="2800" dirty="0"/>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731520"/>
                <a:gridCol w="3017520"/>
                <a:gridCol w="2651760"/>
                <a:gridCol w="1143000"/>
                <a:gridCol w="3520440"/>
              </a:tblGrid>
              <a:tr h="38404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Bukti utama</a:t>
                      </a:r>
                      <a:endParaRPr lang="en-US" sz="14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Producer dihentikan setelah commit, sebelum publish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Consumer berhenti sebelum ACK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475488">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2F5D9E"/>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L="91440" marR="91440"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indent="0" marL="0">
              <a:buNone/>
            </a:pPr>
            <a:r>
              <a:rPr lang="en-US" sz="1300" b="1" spc="300" kern="0" dirty="0">
                <a:solidFill>
                  <a:srgbClr val="5B6B8A"/>
                </a:solidFill>
                <a:latin typeface="Calibri" pitchFamily="34" charset="0"/>
                <a:ea typeface="Calibri" pitchFamily="34" charset="-122"/>
                <a:cs typeface="Calibri" pitchFamily="34" charset="-120"/>
              </a:rPr>
              <a:t>EMPAT SKENARIO</a:t>
            </a:r>
            <a:endParaRPr lang="en-US" sz="1200" dirty="0"/>
          </a:p>
        </p:txBody>
      </p:sp>
      <p:sp>
        <p:nvSpPr>
          <p:cNvPr id="6" name="Shape 2"/>
          <p:cNvSpPr/>
          <p:nvPr/>
        </p:nvSpPr>
        <p:spPr>
          <a:xfrm>
            <a:off x="2468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7" name="Text 3"/>
          <p:cNvSpPr txBox="1"/>
          <p:nvPr/>
        </p:nvSpPr>
        <p:spPr>
          <a:xfrm>
            <a:off x="2468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300" dirty="0"/>
          </a:p>
        </p:txBody>
      </p:sp>
      <p:sp>
        <p:nvSpPr>
          <p:cNvPr id="8" name="Shape 4"/>
          <p:cNvSpPr/>
          <p:nvPr/>
        </p:nvSpPr>
        <p:spPr>
          <a:xfrm>
            <a:off x="4754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9" name="Text 5"/>
          <p:cNvSpPr txBox="1"/>
          <p:nvPr/>
        </p:nvSpPr>
        <p:spPr>
          <a:xfrm>
            <a:off x="4754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Mutasi Stok</a:t>
            </a:r>
            <a:endParaRPr lang="en-US" sz="1300" dirty="0"/>
          </a:p>
        </p:txBody>
      </p:sp>
      <p:sp>
        <p:nvSpPr>
          <p:cNvPr id="10" name="Shape 6"/>
          <p:cNvSpPr/>
          <p:nvPr/>
        </p:nvSpPr>
        <p:spPr>
          <a:xfrm>
            <a:off x="7040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11" name="Text 7"/>
          <p:cNvSpPr txBox="1"/>
          <p:nvPr/>
        </p:nvSpPr>
        <p:spPr>
          <a:xfrm>
            <a:off x="7040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300" dirty="0"/>
          </a:p>
        </p:txBody>
      </p:sp>
      <p:sp>
        <p:nvSpPr>
          <p:cNvPr id="12" name="Shape 8"/>
          <p:cNvSpPr/>
          <p:nvPr/>
        </p:nvSpPr>
        <p:spPr>
          <a:xfrm>
            <a:off x="9326880" y="1371600"/>
            <a:ext cx="2148840" cy="365760"/>
          </a:xfrm>
          <a:prstGeom prst="roundRect">
            <a:avLst>
              <a:gd name="adj" fmla="val 50000"/>
            </a:avLst>
          </a:prstGeom>
          <a:solidFill>
            <a:srgbClr val="EEF2F8"/>
          </a:solidFill>
          <a:ln w="12700">
            <a:solidFill>
              <a:srgbClr val="D5DEEC"/>
            </a:solidFill>
            <a:prstDash val="solid"/>
          </a:ln>
        </p:spPr>
        <p:txBody>
          <a:bodyPr/>
          <a:p/>
        </p:txBody>
      </p:sp>
      <p:sp>
        <p:nvSpPr>
          <p:cNvPr id="13" name="Text 9"/>
          <p:cNvSpPr txBox="1"/>
          <p:nvPr/>
        </p:nvSpPr>
        <p:spPr>
          <a:xfrm>
            <a:off x="9326880" y="1371600"/>
            <a:ext cx="2148840" cy="365760"/>
          </a:xfrm>
          <a:prstGeom prst="rect">
            <a:avLst/>
          </a:prstGeom>
          <a:noFill/>
          <a:ln/>
        </p:spPr>
        <p:txBody>
          <a:bodyPr wrap="square" lIns="0" tIns="0" rIns="0" bIns="0" rtlCol="0" anchor="ctr"/>
          <a:lstStyle/>
          <a:p>
            <a:pPr algn="ctr" indent="0" marL="0">
              <a:buNone/>
            </a:pPr>
            <a:r>
              <a:rPr lang="en-US" sz="1400" b="1" dirty="0">
                <a:solidFill>
                  <a:srgbClr val="12284C"/>
                </a:solidFill>
                <a:latin typeface="Calibri" pitchFamily="34" charset="0"/>
                <a:ea typeface="Calibri" pitchFamily="34" charset="-122"/>
                <a:cs typeface="Calibri" pitchFamily="34" charset="-120"/>
              </a:rPr>
              <a:t>QRIS Statis</a:t>
            </a:r>
            <a:endParaRPr lang="en-US" sz="1300" dirty="0"/>
          </a:p>
        </p:txBody>
      </p:sp>
      <p:sp>
        <p:nvSpPr>
          <p:cNvPr id="14" name="Text 10"/>
          <p:cNvSpPr txBox="1"/>
          <p:nvPr/>
        </p:nvSpPr>
        <p:spPr>
          <a:xfrm>
            <a:off x="548640" y="5806440"/>
            <a:ext cx="11064240" cy="274320"/>
          </a:xfrm>
          <a:prstGeom prst="rect">
            <a:avLst/>
          </a:prstGeom>
          <a:noFill/>
          <a:ln/>
        </p:spPr>
        <p:txBody>
          <a:bodyPr wrap="square" lIns="0" tIns="0" rIns="0" bIns="0" rtlCol="0" anchor="t"/>
          <a:lstStyle/>
          <a:p>
            <a:pPr indent="0" marL="0">
              <a:buNone/>
            </a:pPr>
            <a:r>
              <a:rPr lang="en-US" sz="1300" dirty="0">
                <a:solidFill>
                  <a:srgbClr val="5B6B8A"/>
                </a:solidFill>
                <a:latin typeface="Calibri" pitchFamily="34" charset="0"/>
                <a:ea typeface="Calibri" pitchFamily="34" charset="-122"/>
                <a:cs typeface="Calibri" pitchFamily="34" charset="-120"/>
              </a:rPr>
              <a:t>2 EDA = tanpa dan dengan Proteksi. Tiga kondisi dibandingkan hanya pada F4b, F5, F6, dan tanpa gangguan; F1-F4a hanya EDA vs EDA; tanpa skor gabungan.</a:t>
            </a:r>
            <a:endParaRPr lang="en-US" sz="12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3.330 run: 37 kombinasi × 3 tingkat beban × 30 replikasi</a:t>
            </a:r>
            <a:endParaRPr lang="en-US" sz="2800" dirty="0"/>
          </a:p>
        </p:txBody>
      </p:sp>
      <p:sp>
        <p:nvSpPr>
          <p:cNvPr id="4" name="big15"/>
          <p:cNvSpPr/>
          <p:nvPr/>
        </p:nvSpPr>
        <p:spPr>
          <a:xfrm>
            <a:off x="548640" y="1463040"/>
            <a:ext cx="3108960" cy="160020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640080" y="1572768"/>
            <a:ext cx="29260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15</a:t>
            </a:r>
            <a:endParaRPr lang="en-US" sz="4000" dirty="0"/>
          </a:p>
        </p:txBody>
      </p:sp>
      <p:sp>
        <p:nvSpPr>
          <p:cNvPr id="6" name="Text 3"/>
          <p:cNvSpPr txBox="1"/>
          <p:nvPr/>
        </p:nvSpPr>
        <p:spPr>
          <a:xfrm>
            <a:off x="685800" y="2377440"/>
            <a:ext cx="28346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dengan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5 kombinasi × 3 kondisi</a:t>
            </a:r>
            <a:endParaRPr lang="en-US" sz="1400" dirty="0"/>
          </a:p>
        </p:txBody>
      </p:sp>
      <p:sp>
        <p:nvSpPr>
          <p:cNvPr id="7" name="Text 4"/>
          <p:cNvSpPr txBox="1"/>
          <p:nvPr/>
        </p:nvSpPr>
        <p:spPr>
          <a:xfrm>
            <a:off x="365760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8" name="big10"/>
          <p:cNvSpPr/>
          <p:nvPr/>
        </p:nvSpPr>
        <p:spPr>
          <a:xfrm>
            <a:off x="4023360" y="1463040"/>
            <a:ext cx="3108960" cy="1600200"/>
          </a:xfrm>
          <a:prstGeom prst="roundRect">
            <a:avLst>
              <a:gd name="adj" fmla="val 14000"/>
            </a:avLst>
          </a:prstGeom>
          <a:solidFill>
            <a:srgbClr val="EEF2F8"/>
          </a:solidFill>
          <a:ln w="9525">
            <a:solidFill>
              <a:srgbClr val="D5DEEC"/>
            </a:solidFill>
            <a:prstDash val="solid"/>
          </a:ln>
        </p:spPr>
        <p:txBody>
          <a:bodyPr/>
          <a:p/>
        </p:txBody>
      </p:sp>
      <p:sp>
        <p:nvSpPr>
          <p:cNvPr id="9" name="Text 6"/>
          <p:cNvSpPr txBox="1"/>
          <p:nvPr/>
        </p:nvSpPr>
        <p:spPr>
          <a:xfrm>
            <a:off x="4114800" y="1572768"/>
            <a:ext cx="29260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10</a:t>
            </a:r>
            <a:endParaRPr lang="en-US" sz="4000" dirty="0"/>
          </a:p>
        </p:txBody>
      </p:sp>
      <p:sp>
        <p:nvSpPr>
          <p:cNvPr id="10" name="Text 7"/>
          <p:cNvSpPr txBox="1"/>
          <p:nvPr/>
        </p:nvSpPr>
        <p:spPr>
          <a:xfrm>
            <a:off x="4160520" y="2377440"/>
            <a:ext cx="28346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dengan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5 kombinasi × 2 EDA</a:t>
            </a:r>
            <a:endParaRPr lang="en-US" sz="1400" dirty="0"/>
          </a:p>
        </p:txBody>
      </p:sp>
      <p:sp>
        <p:nvSpPr>
          <p:cNvPr id="11" name="Text 8"/>
          <p:cNvSpPr txBox="1"/>
          <p:nvPr/>
        </p:nvSpPr>
        <p:spPr>
          <a:xfrm>
            <a:off x="713232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12" name="big12"/>
          <p:cNvSpPr/>
          <p:nvPr/>
        </p:nvSpPr>
        <p:spPr>
          <a:xfrm>
            <a:off x="7498080" y="1463040"/>
            <a:ext cx="2011680" cy="1600200"/>
          </a:xfrm>
          <a:prstGeom prst="roundRect">
            <a:avLst>
              <a:gd name="adj" fmla="val 14000"/>
            </a:avLst>
          </a:prstGeom>
          <a:solidFill>
            <a:srgbClr val="EEF2F8"/>
          </a:solidFill>
          <a:ln w="9525">
            <a:solidFill>
              <a:srgbClr val="D5DEEC"/>
            </a:solidFill>
            <a:prstDash val="solid"/>
          </a:ln>
        </p:spPr>
        <p:txBody>
          <a:bodyPr/>
          <a:p/>
        </p:txBody>
      </p:sp>
      <p:sp>
        <p:nvSpPr>
          <p:cNvPr id="13" name="Text 10"/>
          <p:cNvSpPr txBox="1"/>
          <p:nvPr/>
        </p:nvSpPr>
        <p:spPr>
          <a:xfrm>
            <a:off x="7589520" y="1572768"/>
            <a:ext cx="182880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12</a:t>
            </a:r>
            <a:endParaRPr lang="en-US" sz="4000" dirty="0"/>
          </a:p>
        </p:txBody>
      </p:sp>
      <p:sp>
        <p:nvSpPr>
          <p:cNvPr id="14" name="Text 11"/>
          <p:cNvSpPr txBox="1"/>
          <p:nvPr/>
        </p:nvSpPr>
        <p:spPr>
          <a:xfrm>
            <a:off x="7635240" y="2377440"/>
            <a:ext cx="173736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tanpa gangguan:</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4 skenario × 3</a:t>
            </a:r>
            <a:endParaRPr lang="en-US" sz="1400" dirty="0"/>
          </a:p>
        </p:txBody>
      </p:sp>
      <p:sp>
        <p:nvSpPr>
          <p:cNvPr id="15" name="Text 12"/>
          <p:cNvSpPr txBox="1"/>
          <p:nvPr/>
        </p:nvSpPr>
        <p:spPr>
          <a:xfrm>
            <a:off x="9509760" y="19202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16" name="big37"/>
          <p:cNvSpPr/>
          <p:nvPr/>
        </p:nvSpPr>
        <p:spPr>
          <a:xfrm>
            <a:off x="9875520" y="1463040"/>
            <a:ext cx="1737360" cy="1600200"/>
          </a:xfrm>
          <a:prstGeom prst="roundRect">
            <a:avLst>
              <a:gd name="adj" fmla="val 14000"/>
            </a:avLst>
          </a:prstGeom>
          <a:solidFill>
            <a:srgbClr val="12284C"/>
          </a:solidFill>
          <a:ln w="9525">
            <a:solidFill>
              <a:srgbClr val="12284C"/>
            </a:solidFill>
            <a:prstDash val="solid"/>
          </a:ln>
        </p:spPr>
        <p:txBody>
          <a:bodyPr/>
          <a:p/>
        </p:txBody>
      </p:sp>
      <p:sp>
        <p:nvSpPr>
          <p:cNvPr id="17" name="Text 14"/>
          <p:cNvSpPr txBox="1"/>
          <p:nvPr/>
        </p:nvSpPr>
        <p:spPr>
          <a:xfrm>
            <a:off x="9966960" y="1572768"/>
            <a:ext cx="1554480" cy="77724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libri" pitchFamily="34" charset="-122"/>
                <a:cs typeface="Calibri" pitchFamily="34" charset="-120"/>
              </a:rPr>
              <a:t>37</a:t>
            </a:r>
            <a:endParaRPr lang="en-US" sz="4000" dirty="0"/>
          </a:p>
        </p:txBody>
      </p:sp>
      <p:sp>
        <p:nvSpPr>
          <p:cNvPr id="18" name="Text 15"/>
          <p:cNvSpPr txBox="1"/>
          <p:nvPr/>
        </p:nvSpPr>
        <p:spPr>
          <a:xfrm>
            <a:off x="10012680" y="2377440"/>
            <a:ext cx="1463040" cy="64008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kombinasi</a:t>
            </a:r>
            <a:endParaRPr lang="en-US" sz="1400" dirty="0"/>
          </a:p>
        </p:txBody>
      </p:sp>
      <p:sp>
        <p:nvSpPr>
          <p:cNvPr id="19" name="big37"/>
          <p:cNvSpPr/>
          <p:nvPr/>
        </p:nvSpPr>
        <p:spPr>
          <a:xfrm>
            <a:off x="548640" y="3291840"/>
            <a:ext cx="2560320" cy="1600200"/>
          </a:xfrm>
          <a:prstGeom prst="roundRect">
            <a:avLst>
              <a:gd name="adj" fmla="val 14000"/>
            </a:avLst>
          </a:prstGeom>
          <a:solidFill>
            <a:srgbClr val="EEF2F8"/>
          </a:solidFill>
          <a:ln w="9525">
            <a:solidFill>
              <a:srgbClr val="D5DEEC"/>
            </a:solidFill>
            <a:prstDash val="solid"/>
          </a:ln>
        </p:spPr>
        <p:txBody>
          <a:bodyPr/>
          <a:p/>
        </p:txBody>
      </p:sp>
      <p:sp>
        <p:nvSpPr>
          <p:cNvPr id="20" name="Text 17"/>
          <p:cNvSpPr txBox="1"/>
          <p:nvPr/>
        </p:nvSpPr>
        <p:spPr>
          <a:xfrm>
            <a:off x="640080" y="3401568"/>
            <a:ext cx="237744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37</a:t>
            </a:r>
            <a:endParaRPr lang="en-US" sz="4000" dirty="0"/>
          </a:p>
        </p:txBody>
      </p:sp>
      <p:sp>
        <p:nvSpPr>
          <p:cNvPr id="21" name="Text 18"/>
          <p:cNvSpPr txBox="1"/>
          <p:nvPr/>
        </p:nvSpPr>
        <p:spPr>
          <a:xfrm>
            <a:off x="685800" y="4206240"/>
            <a:ext cx="228600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kombinasi</a:t>
            </a:r>
            <a:endParaRPr lang="en-US" sz="1400" dirty="0"/>
          </a:p>
        </p:txBody>
      </p:sp>
      <p:sp>
        <p:nvSpPr>
          <p:cNvPr id="22" name="Text 19"/>
          <p:cNvSpPr txBox="1"/>
          <p:nvPr/>
        </p:nvSpPr>
        <p:spPr>
          <a:xfrm>
            <a:off x="310896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23" name="big3"/>
          <p:cNvSpPr/>
          <p:nvPr/>
        </p:nvSpPr>
        <p:spPr>
          <a:xfrm>
            <a:off x="3474720" y="3291840"/>
            <a:ext cx="2743200" cy="1600200"/>
          </a:xfrm>
          <a:prstGeom prst="roundRect">
            <a:avLst>
              <a:gd name="adj" fmla="val 14000"/>
            </a:avLst>
          </a:prstGeom>
          <a:solidFill>
            <a:srgbClr val="EEF2F8"/>
          </a:solidFill>
          <a:ln w="9525">
            <a:solidFill>
              <a:srgbClr val="D5DEEC"/>
            </a:solidFill>
            <a:prstDash val="solid"/>
          </a:ln>
        </p:spPr>
        <p:txBody>
          <a:bodyPr/>
          <a:p/>
        </p:txBody>
      </p:sp>
      <p:sp>
        <p:nvSpPr>
          <p:cNvPr id="24" name="Text 21"/>
          <p:cNvSpPr txBox="1"/>
          <p:nvPr/>
        </p:nvSpPr>
        <p:spPr>
          <a:xfrm>
            <a:off x="3566160" y="3401568"/>
            <a:ext cx="256032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a:t>
            </a:r>
            <a:endParaRPr lang="en-US" sz="4000" dirty="0"/>
          </a:p>
        </p:txBody>
      </p:sp>
      <p:sp>
        <p:nvSpPr>
          <p:cNvPr id="25" name="Text 22"/>
          <p:cNvSpPr txBox="1"/>
          <p:nvPr/>
        </p:nvSpPr>
        <p:spPr>
          <a:xfrm>
            <a:off x="3611880" y="4206240"/>
            <a:ext cx="246888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target request rate</a:t>
            </a:r>
            <a:endParaRPr lang="en-US" sz="1400" dirty="0"/>
          </a:p>
          <a:p>
            <a:pPr algn="ctr" indent="0" marL="0">
              <a:buNone/>
            </a:pPr>
            <a:r>
              <a:rPr lang="en-US" sz="1500" dirty="0">
                <a:solidFill>
                  <a:srgbClr val="5B6B8A"/>
                </a:solidFill>
                <a:latin typeface="Calibri" pitchFamily="34" charset="0"/>
                <a:ea typeface="Calibri" pitchFamily="34" charset="-122"/>
                <a:cs typeface="Calibri" pitchFamily="34" charset="-120"/>
              </a:rPr>
              <a:t>10, 50, 100 req/s</a:t>
            </a:r>
            <a:endParaRPr lang="en-US" sz="1400" dirty="0"/>
          </a:p>
        </p:txBody>
      </p:sp>
      <p:sp>
        <p:nvSpPr>
          <p:cNvPr id="26" name="Text 23"/>
          <p:cNvSpPr txBox="1"/>
          <p:nvPr/>
        </p:nvSpPr>
        <p:spPr>
          <a:xfrm>
            <a:off x="621792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27" name="big30"/>
          <p:cNvSpPr/>
          <p:nvPr/>
        </p:nvSpPr>
        <p:spPr>
          <a:xfrm>
            <a:off x="6583680" y="3291840"/>
            <a:ext cx="2194560" cy="1600200"/>
          </a:xfrm>
          <a:prstGeom prst="roundRect">
            <a:avLst>
              <a:gd name="adj" fmla="val 14000"/>
            </a:avLst>
          </a:prstGeom>
          <a:solidFill>
            <a:srgbClr val="EEF2F8"/>
          </a:solidFill>
          <a:ln w="9525">
            <a:solidFill>
              <a:srgbClr val="D5DEEC"/>
            </a:solidFill>
            <a:prstDash val="solid"/>
          </a:ln>
        </p:spPr>
        <p:txBody>
          <a:bodyPr/>
          <a:p/>
        </p:txBody>
      </p:sp>
      <p:sp>
        <p:nvSpPr>
          <p:cNvPr id="28" name="Text 25"/>
          <p:cNvSpPr txBox="1"/>
          <p:nvPr/>
        </p:nvSpPr>
        <p:spPr>
          <a:xfrm>
            <a:off x="6675120" y="3401568"/>
            <a:ext cx="2011680" cy="777240"/>
          </a:xfrm>
          <a:prstGeom prst="rect">
            <a:avLst/>
          </a:prstGeom>
          <a:noFill/>
          <a:ln/>
        </p:spPr>
        <p:txBody>
          <a:bodyPr wrap="square" lIns="0" tIns="0" rIns="0" bIns="0" rtlCol="0" anchor="ctr"/>
          <a:lstStyle/>
          <a:p>
            <a:pPr algn="ctr" indent="0" marL="0">
              <a:buNone/>
            </a:pPr>
            <a:r>
              <a:rPr lang="en-US" sz="4000" b="1" dirty="0">
                <a:solidFill>
                  <a:srgbClr val="12284C"/>
                </a:solidFill>
                <a:latin typeface="Cambria" pitchFamily="34" charset="0"/>
                <a:ea typeface="Calibri" pitchFamily="34" charset="-122"/>
                <a:cs typeface="Calibri" pitchFamily="34" charset="-120"/>
              </a:rPr>
              <a:t>30</a:t>
            </a:r>
            <a:endParaRPr lang="en-US" sz="4000" dirty="0"/>
          </a:p>
        </p:txBody>
      </p:sp>
      <p:sp>
        <p:nvSpPr>
          <p:cNvPr id="29" name="Text 26"/>
          <p:cNvSpPr txBox="1"/>
          <p:nvPr/>
        </p:nvSpPr>
        <p:spPr>
          <a:xfrm>
            <a:off x="6720840" y="4206240"/>
            <a:ext cx="1920240" cy="640080"/>
          </a:xfrm>
          <a:prstGeom prst="rect">
            <a:avLst/>
          </a:prstGeom>
          <a:noFill/>
          <a:ln/>
        </p:spPr>
        <p:txBody>
          <a:bodyPr wrap="square" lIns="0" tIns="0" rIns="0" bIns="0" rtlCol="0" anchor="t"/>
          <a:lstStyle/>
          <a:p>
            <a:pPr algn="ctr" indent="0" marL="0">
              <a:buNone/>
            </a:pPr>
            <a:r>
              <a:rPr lang="en-US" sz="1500" dirty="0">
                <a:solidFill>
                  <a:srgbClr val="5B6B8A"/>
                </a:solidFill>
                <a:latin typeface="Calibri" pitchFamily="34" charset="0"/>
                <a:ea typeface="Calibri" pitchFamily="34" charset="-122"/>
                <a:cs typeface="Calibri" pitchFamily="34" charset="-120"/>
              </a:rPr>
              <a:t>replikasi per konfigurasi</a:t>
            </a:r>
            <a:endParaRPr lang="en-US" sz="1400" dirty="0"/>
          </a:p>
        </p:txBody>
      </p:sp>
      <p:sp>
        <p:nvSpPr>
          <p:cNvPr id="30" name="Text 27"/>
          <p:cNvSpPr txBox="1"/>
          <p:nvPr/>
        </p:nvSpPr>
        <p:spPr>
          <a:xfrm>
            <a:off x="8778240" y="3749040"/>
            <a:ext cx="365760" cy="548640"/>
          </a:xfrm>
          <a:prstGeom prst="rect">
            <a:avLst/>
          </a:prstGeom>
          <a:noFill/>
          <a:ln/>
        </p:spPr>
        <p:txBody>
          <a:bodyPr wrap="square" lIns="0" tIns="0" rIns="0" bIns="0" rtlCol="0" anchor="ctr"/>
          <a:lstStyle/>
          <a:p>
            <a:pPr algn="ctr" indent="0" marL="0">
              <a:buNone/>
            </a:pPr>
            <a:r>
              <a:rPr lang="en-US" sz="3000" b="1" dirty="0">
                <a:solidFill>
                  <a:srgbClr val="5B6B8A"/>
                </a:solidFill>
                <a:latin typeface="Cambria" pitchFamily="34" charset="0"/>
                <a:ea typeface="Calibri" pitchFamily="34" charset="-122"/>
                <a:cs typeface="Calibri" pitchFamily="34" charset="-120"/>
              </a:rPr>
              <a:t>=</a:t>
            </a:r>
            <a:endParaRPr lang="en-US" sz="2800" dirty="0"/>
          </a:p>
        </p:txBody>
      </p:sp>
      <p:sp>
        <p:nvSpPr>
          <p:cNvPr id="31" name="big3.330"/>
          <p:cNvSpPr/>
          <p:nvPr/>
        </p:nvSpPr>
        <p:spPr>
          <a:xfrm>
            <a:off x="9144000" y="3291840"/>
            <a:ext cx="2468880" cy="1600200"/>
          </a:xfrm>
          <a:prstGeom prst="roundRect">
            <a:avLst>
              <a:gd name="adj" fmla="val 14000"/>
            </a:avLst>
          </a:prstGeom>
          <a:solidFill>
            <a:srgbClr val="12284C"/>
          </a:solidFill>
          <a:ln w="9525">
            <a:solidFill>
              <a:srgbClr val="12284C"/>
            </a:solidFill>
            <a:prstDash val="solid"/>
          </a:ln>
        </p:spPr>
        <p:txBody>
          <a:bodyPr/>
          <a:p/>
        </p:txBody>
      </p:sp>
      <p:sp>
        <p:nvSpPr>
          <p:cNvPr id="32" name="Text 29"/>
          <p:cNvSpPr txBox="1"/>
          <p:nvPr/>
        </p:nvSpPr>
        <p:spPr>
          <a:xfrm>
            <a:off x="9235440" y="3401568"/>
            <a:ext cx="2286000" cy="777240"/>
          </a:xfrm>
          <a:prstGeom prst="rect">
            <a:avLst/>
          </a:prstGeom>
          <a:noFill/>
          <a:ln/>
        </p:spPr>
        <p:txBody>
          <a:bodyPr wrap="square" lIns="0" tIns="0" rIns="0" bIns="0" rtlCol="0" anchor="ctr"/>
          <a:lstStyle/>
          <a:p>
            <a:pPr algn="ctr" indent="0" marL="0">
              <a:buNone/>
            </a:pPr>
            <a:r>
              <a:rPr lang="en-US" sz="4000" b="1" dirty="0">
                <a:solidFill>
                  <a:srgbClr val="C9A227"/>
                </a:solidFill>
                <a:latin typeface="Cambria" pitchFamily="34" charset="0"/>
                <a:ea typeface="Calibri" pitchFamily="34" charset="-122"/>
                <a:cs typeface="Calibri" pitchFamily="34" charset="-120"/>
              </a:rPr>
              <a:t>3.330</a:t>
            </a:r>
            <a:endParaRPr lang="en-US" sz="4000" dirty="0"/>
          </a:p>
        </p:txBody>
      </p:sp>
      <p:sp>
        <p:nvSpPr>
          <p:cNvPr id="33" name="Text 30"/>
          <p:cNvSpPr txBox="1"/>
          <p:nvPr/>
        </p:nvSpPr>
        <p:spPr>
          <a:xfrm>
            <a:off x="9281160" y="4206240"/>
            <a:ext cx="2194560" cy="640080"/>
          </a:xfrm>
          <a:prstGeom prst="rect">
            <a:avLst/>
          </a:prstGeom>
          <a:noFill/>
          <a:ln/>
        </p:spPr>
        <p:txBody>
          <a:bodyPr wrap="square" lIns="0" tIns="0" rIns="0" bIns="0" rtlCol="0" anchor="t"/>
          <a:lstStyle/>
          <a:p>
            <a:pPr algn="ctr" indent="0" marL="0">
              <a:buNone/>
            </a:pPr>
            <a:r>
              <a:rPr lang="en-US" sz="1500" dirty="0">
                <a:solidFill>
                  <a:srgbClr val="CADCFC"/>
                </a:solidFill>
                <a:latin typeface="Calibri" pitchFamily="34" charset="0"/>
                <a:ea typeface="Calibri" pitchFamily="34" charset="-122"/>
                <a:cs typeface="Calibri" pitchFamily="34" charset="-120"/>
              </a:rPr>
              <a:t>run eksperimen utama</a:t>
            </a:r>
            <a:endParaRPr lang="en-US" sz="1400" dirty="0"/>
          </a:p>
        </p:txBody>
      </p:sp>
      <p:sp>
        <p:nvSpPr>
          <p:cNvPr id="34" name="Text 31"/>
          <p:cNvSpPr txBox="1"/>
          <p:nvPr/>
        </p:nvSpPr>
        <p:spPr>
          <a:xfrm>
            <a:off x="548640" y="5120640"/>
            <a:ext cx="2743200" cy="274320"/>
          </a:xfrm>
          <a:prstGeom prst="rect">
            <a:avLst/>
          </a:prstGeom>
          <a:noFill/>
          <a:ln/>
        </p:spPr>
        <p:txBody>
          <a:bodyPr wrap="square" lIns="0" tIns="0" rIns="0" bIns="0" rtlCol="0" anchor="t"/>
          <a:lstStyle/>
          <a:p>
            <a:pPr indent="0" marL="0">
              <a:buNone/>
            </a:pPr>
            <a:r>
              <a:rPr lang="en-US" sz="1300" b="1" spc="300" kern="0" dirty="0">
                <a:solidFill>
                  <a:srgbClr val="5B6B8A"/>
                </a:solidFill>
                <a:latin typeface="Calibri" pitchFamily="34" charset="0"/>
                <a:ea typeface="Calibri" pitchFamily="34" charset="-122"/>
                <a:cs typeface="Calibri" pitchFamily="34" charset="-120"/>
              </a:rPr>
              <a:t>SATU RUN</a:t>
            </a:r>
            <a:endParaRPr lang="en-US" sz="1200" dirty="0"/>
          </a:p>
        </p:txBody>
      </p:sp>
      <p:sp>
        <p:nvSpPr>
          <p:cNvPr id="35" name="Shape 32"/>
          <p:cNvSpPr/>
          <p:nvPr/>
        </p:nvSpPr>
        <p:spPr>
          <a:xfrm>
            <a:off x="548640" y="5440680"/>
            <a:ext cx="1463040" cy="777240"/>
          </a:xfrm>
          <a:prstGeom prst="roundRect">
            <a:avLst>
              <a:gd name="adj" fmla="val 14000"/>
            </a:avLst>
          </a:prstGeom>
          <a:solidFill>
            <a:srgbClr val="EEF2F8"/>
          </a:solidFill>
          <a:ln w="12700">
            <a:solidFill>
              <a:srgbClr val="D5DEEC"/>
            </a:solidFill>
            <a:prstDash val="solid"/>
          </a:ln>
        </p:spPr>
        <p:txBody>
          <a:bodyPr/>
          <a:p/>
        </p:txBody>
      </p:sp>
      <p:sp>
        <p:nvSpPr>
          <p:cNvPr id="36" name="Text 33"/>
          <p:cNvSpPr txBox="1"/>
          <p:nvPr/>
        </p:nvSpPr>
        <p:spPr>
          <a:xfrm>
            <a:off x="621792" y="5440680"/>
            <a:ext cx="131673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Reset data</a:t>
            </a:r>
            <a:endParaRPr lang="en-US" sz="1400" dirty="0"/>
          </a:p>
        </p:txBody>
      </p:sp>
      <p:sp>
        <p:nvSpPr>
          <p:cNvPr id="37" name="Shape 34"/>
          <p:cNvSpPr/>
          <p:nvPr/>
        </p:nvSpPr>
        <p:spPr>
          <a:xfrm>
            <a:off x="2121408" y="5440680"/>
            <a:ext cx="1737360" cy="777240"/>
          </a:xfrm>
          <a:prstGeom prst="roundRect">
            <a:avLst>
              <a:gd name="adj" fmla="val 14000"/>
            </a:avLst>
          </a:prstGeom>
          <a:solidFill>
            <a:srgbClr val="EEF2F8"/>
          </a:solidFill>
          <a:ln w="12700">
            <a:solidFill>
              <a:srgbClr val="D5DEEC"/>
            </a:solidFill>
            <a:prstDash val="solid"/>
          </a:ln>
        </p:spPr>
        <p:txBody>
          <a:bodyPr/>
          <a:p/>
        </p:txBody>
      </p:sp>
      <p:sp>
        <p:nvSpPr>
          <p:cNvPr id="38" name="Text 35"/>
          <p:cNvSpPr txBox="1"/>
          <p:nvPr/>
        </p:nvSpPr>
        <p:spPr>
          <a:xfrm>
            <a:off x="2194560" y="5440680"/>
            <a:ext cx="15910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Warm-up 60 dtk</a:t>
            </a:r>
            <a:endParaRPr lang="en-US" sz="1400" dirty="0"/>
          </a:p>
        </p:txBody>
      </p:sp>
      <p:sp>
        <p:nvSpPr>
          <p:cNvPr id="39" name="Shape 36"/>
          <p:cNvSpPr/>
          <p:nvPr/>
        </p:nvSpPr>
        <p:spPr>
          <a:xfrm>
            <a:off x="3968496" y="5440680"/>
            <a:ext cx="2926080" cy="777240"/>
          </a:xfrm>
          <a:prstGeom prst="roundRect">
            <a:avLst>
              <a:gd name="adj" fmla="val 14000"/>
            </a:avLst>
          </a:prstGeom>
          <a:solidFill>
            <a:srgbClr val="12284C"/>
          </a:solidFill>
          <a:ln w="12700">
            <a:solidFill>
              <a:srgbClr val="12284C"/>
            </a:solidFill>
            <a:prstDash val="solid"/>
          </a:ln>
        </p:spPr>
        <p:txBody>
          <a:bodyPr/>
          <a:p/>
        </p:txBody>
      </p:sp>
      <p:sp>
        <p:nvSpPr>
          <p:cNvPr id="40" name="Text 37"/>
          <p:cNvSpPr txBox="1"/>
          <p:nvPr/>
        </p:nvSpPr>
        <p:spPr>
          <a:xfrm>
            <a:off x="4041648" y="5440680"/>
            <a:ext cx="2779776"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Beban 60 dtk + gangguan</a:t>
            </a:r>
            <a:endParaRPr lang="en-US" sz="1400" dirty="0"/>
          </a:p>
        </p:txBody>
      </p:sp>
      <p:sp>
        <p:nvSpPr>
          <p:cNvPr id="41" name="Shape 38"/>
          <p:cNvSpPr/>
          <p:nvPr/>
        </p:nvSpPr>
        <p:spPr>
          <a:xfrm>
            <a:off x="7004304" y="5440680"/>
            <a:ext cx="3108960" cy="777240"/>
          </a:xfrm>
          <a:prstGeom prst="roundRect">
            <a:avLst>
              <a:gd name="adj" fmla="val 14000"/>
            </a:avLst>
          </a:prstGeom>
          <a:solidFill>
            <a:srgbClr val="EEF2F8"/>
          </a:solidFill>
          <a:ln w="12700">
            <a:solidFill>
              <a:srgbClr val="D5DEEC"/>
            </a:solidFill>
            <a:prstDash val="solid"/>
          </a:ln>
        </p:spPr>
        <p:txBody>
          <a:bodyPr/>
          <a:p/>
        </p:txBody>
      </p:sp>
      <p:sp>
        <p:nvSpPr>
          <p:cNvPr id="42" name="Text 39"/>
          <p:cNvSpPr txBox="1"/>
          <p:nvPr/>
        </p:nvSpPr>
        <p:spPr>
          <a:xfrm>
            <a:off x="7077456" y="5440680"/>
            <a:ext cx="29626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Recovery 60 dtk (bila ada gangguan)</a:t>
            </a:r>
            <a:endParaRPr lang="en-US" sz="1400" dirty="0"/>
          </a:p>
        </p:txBody>
      </p:sp>
      <p:sp>
        <p:nvSpPr>
          <p:cNvPr id="43" name="Shape 40"/>
          <p:cNvSpPr/>
          <p:nvPr/>
        </p:nvSpPr>
        <p:spPr>
          <a:xfrm>
            <a:off x="10222992" y="5440680"/>
            <a:ext cx="1280160" cy="777240"/>
          </a:xfrm>
          <a:prstGeom prst="roundRect">
            <a:avLst>
              <a:gd name="adj" fmla="val 14000"/>
            </a:avLst>
          </a:prstGeom>
          <a:solidFill>
            <a:srgbClr val="EEF2F8"/>
          </a:solidFill>
          <a:ln w="12700">
            <a:solidFill>
              <a:srgbClr val="D5DEEC"/>
            </a:solidFill>
            <a:prstDash val="solid"/>
          </a:ln>
        </p:spPr>
        <p:txBody>
          <a:bodyPr/>
          <a:p/>
        </p:txBody>
      </p:sp>
      <p:sp>
        <p:nvSpPr>
          <p:cNvPr id="44" name="Text 41"/>
          <p:cNvSpPr txBox="1"/>
          <p:nvPr/>
        </p:nvSpPr>
        <p:spPr>
          <a:xfrm>
            <a:off x="10296144" y="5440680"/>
            <a:ext cx="1133856" cy="777240"/>
          </a:xfrm>
          <a:prstGeom prst="rect">
            <a:avLst/>
          </a:prstGeom>
          <a:noFill/>
          <a:ln/>
        </p:spPr>
        <p:txBody>
          <a:bodyPr wrap="square" lIns="0" tIns="0" rIns="0" bIns="0" rtlCol="0" anchor="ctr"/>
          <a:lstStyle/>
          <a:p>
            <a:pPr algn="ctr" indent="0" marL="0">
              <a:buNone/>
            </a:pPr>
            <a:r>
              <a:rPr lang="en-US" sz="1500" b="1" dirty="0">
                <a:solidFill>
                  <a:srgbClr val="12284C"/>
                </a:solidFill>
                <a:latin typeface="Calibri" pitchFamily="34" charset="0"/>
                <a:ea typeface="Calibri" pitchFamily="34" charset="-122"/>
                <a:cs typeface="Calibri" pitchFamily="34" charset="-120"/>
              </a:rPr>
              <a:t>Rekonsiliasi</a:t>
            </a:r>
            <a:endParaRPr lang="en-US" sz="14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Hasil berlaku pada parameter uji, bukan klaim arsitektur terbaik</a:t>
            </a:r>
            <a:endParaRPr lang="en-US" sz="2800" dirty="0"/>
          </a:p>
        </p:txBody>
      </p:sp>
      <p:sp>
        <p:nvSpPr>
          <p:cNvPr id="4" name="batas"/>
          <p:cNvSpPr/>
          <p:nvPr/>
        </p:nvSpPr>
        <p:spPr>
          <a:xfrm>
            <a:off x="548640" y="1463040"/>
            <a:ext cx="5440680" cy="3383280"/>
          </a:xfrm>
          <a:prstGeom prst="roundRect">
            <a:avLst>
              <a:gd name="adj" fmla="val 14000"/>
            </a:avLst>
          </a:prstGeom>
          <a:solidFill>
            <a:srgbClr val="EEF2F8"/>
          </a:solidFill>
          <a:ln w="9525">
            <a:solidFill>
              <a:srgbClr val="D5DEEC"/>
            </a:solidFill>
            <a:prstDash val="solid"/>
          </a:ln>
        </p:spPr>
        <p:txBody>
          <a:bodyPr/>
          <a:p/>
        </p:txBody>
      </p:sp>
      <p:sp>
        <p:nvSpPr>
          <p:cNvPr id="5" name="Text 2"/>
          <p:cNvSpPr txBox="1"/>
          <p:nvPr/>
        </p:nvSpPr>
        <p:spPr>
          <a:xfrm>
            <a:off x="822960" y="1627632"/>
            <a:ext cx="4937760" cy="411480"/>
          </a:xfrm>
          <a:prstGeom prst="rect">
            <a:avLst/>
          </a:prstGeom>
          <a:noFill/>
          <a:ln/>
        </p:spPr>
        <p:txBody>
          <a:bodyPr wrap="square" lIns="0" tIns="0" rIns="0" bIns="0" rtlCol="0" anchor="t"/>
          <a:lstStyle/>
          <a:p>
            <a:pPr indent="0" marL="0">
              <a:buNone/>
            </a:pPr>
            <a:r>
              <a:rPr lang="en-US" sz="2200" b="1" dirty="0">
                <a:solidFill>
                  <a:srgbClr val="12284C"/>
                </a:solidFill>
                <a:latin typeface="Calibri" pitchFamily="34" charset="0"/>
                <a:ea typeface="Calibri" pitchFamily="34" charset="-122"/>
                <a:cs typeface="Calibri" pitchFamily="34" charset="-120"/>
              </a:rPr>
              <a:t>Batasan</a:t>
            </a:r>
            <a:endParaRPr lang="en-US" sz="2200" dirty="0"/>
          </a:p>
        </p:txBody>
      </p:sp>
      <p:sp>
        <p:nvSpPr>
          <p:cNvPr id="6" name="Text 3"/>
          <p:cNvSpPr txBox="1"/>
          <p:nvPr/>
        </p:nvSpPr>
        <p:spPr>
          <a:xfrm>
            <a:off x="822960" y="2148840"/>
            <a:ext cx="4937760" cy="26060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Data sintetis dan beban simulasi</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Satu host (Docker Compose)</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Gangguan F1-F6; tanpa partisi permanen dan split-brain</a:t>
            </a:r>
            <a:endParaRPr lang="en-US" sz="1800" dirty="0"/>
          </a:p>
          <a:p>
            <a:pPr marL="342900" indent="-342900">
              <a:spcAft>
                <a:spcPts val="1000"/>
              </a:spcAft>
              <a:buSzPct val="100000"/>
              <a:buChar char="•"/>
            </a:pPr>
            <a:r>
              <a:rPr lang="en-US" sz="1800" dirty="0">
                <a:solidFill>
                  <a:srgbClr val="1B2640"/>
                </a:solidFill>
                <a:latin typeface="Calibri" pitchFamily="34" charset="0"/>
                <a:ea typeface="Calibri" pitchFamily="34" charset="-122"/>
                <a:cs typeface="Calibri" pitchFamily="34" charset="-120"/>
              </a:rPr>
              <a:t>Di luar lingkup: aspek medis, FEFO, stock opname</a:t>
            </a:r>
            <a:endParaRPr lang="en-US" sz="1800" dirty="0"/>
          </a:p>
        </p:txBody>
      </p:sp>
      <p:sp>
        <p:nvSpPr>
          <p:cNvPr id="7" name="luaran"/>
          <p:cNvSpPr/>
          <p:nvPr/>
        </p:nvSpPr>
        <p:spPr>
          <a:xfrm>
            <a:off x="6172200" y="1463040"/>
            <a:ext cx="5440680" cy="3383280"/>
          </a:xfrm>
          <a:prstGeom prst="roundRect">
            <a:avLst>
              <a:gd name="adj" fmla="val 14000"/>
            </a:avLst>
          </a:prstGeom>
          <a:solidFill>
            <a:srgbClr val="12284C"/>
          </a:solidFill>
          <a:ln w="9525">
            <a:solidFill>
              <a:srgbClr val="12284C"/>
            </a:solidFill>
            <a:prstDash val="solid"/>
          </a:ln>
        </p:spPr>
        <p:txBody>
          <a:bodyPr/>
          <a:p/>
        </p:txBody>
      </p:sp>
      <p:sp>
        <p:nvSpPr>
          <p:cNvPr id="8" name="Text 5"/>
          <p:cNvSpPr txBox="1"/>
          <p:nvPr/>
        </p:nvSpPr>
        <p:spPr>
          <a:xfrm>
            <a:off x="6446520" y="1627632"/>
            <a:ext cx="4937760" cy="411480"/>
          </a:xfrm>
          <a:prstGeom prst="rect">
            <a:avLst/>
          </a:prstGeom>
          <a:noFill/>
          <a:ln/>
        </p:spPr>
        <p:txBody>
          <a:bodyPr wrap="square" lIns="0" tIns="0" rIns="0" bIns="0" rtlCol="0" anchor="t"/>
          <a:lstStyle/>
          <a:p>
            <a:pPr indent="0" marL="0">
              <a:buNone/>
            </a:pPr>
            <a:r>
              <a:rPr lang="en-US" sz="2200" b="1" dirty="0">
                <a:solidFill>
                  <a:srgbClr val="C9A227"/>
                </a:solidFill>
                <a:latin typeface="Calibri" pitchFamily="34" charset="0"/>
                <a:ea typeface="Calibri" pitchFamily="34" charset="-122"/>
                <a:cs typeface="Calibri" pitchFamily="34" charset="-120"/>
              </a:rPr>
              <a:t>Luaran</a:t>
            </a:r>
            <a:endParaRPr lang="en-US" sz="2200" dirty="0"/>
          </a:p>
        </p:txBody>
      </p:sp>
      <p:sp>
        <p:nvSpPr>
          <p:cNvPr id="9" name="Text 6"/>
          <p:cNvSpPr txBox="1"/>
          <p:nvPr/>
        </p:nvSpPr>
        <p:spPr>
          <a:xfrm>
            <a:off x="6446520" y="2148840"/>
            <a:ext cx="4937760" cy="26060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Analisis komparatif tiga arsitektur</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Bukti trade-off: konsistensi, performa, kompleksitas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Bahan pertimbangan migrasi Apotek Bisma, terpisah dari keputusan produksi</a:t>
            </a:r>
            <a:endParaRPr lang="en-US" sz="1800" dirty="0"/>
          </a:p>
        </p:txBody>
      </p:sp>
      <p:sp>
        <p:nvSpPr>
          <p:cNvPr id="10" name="penutup"/>
          <p:cNvSpPr/>
          <p:nvPr/>
        </p:nvSpPr>
        <p:spPr>
          <a:xfrm>
            <a:off x="548640" y="5166360"/>
            <a:ext cx="11064240" cy="1051560"/>
          </a:xfrm>
          <a:prstGeom prst="roundRect">
            <a:avLst>
              <a:gd name="adj" fmla="val 14000"/>
            </a:avLst>
          </a:prstGeom>
          <a:solidFill>
            <a:srgbClr val="FFFFFF"/>
          </a:solidFill>
          <a:ln w="9525">
            <a:solidFill>
              <a:srgbClr val="FFFFFF"/>
            </a:solidFill>
            <a:prstDash val="solid"/>
          </a:ln>
        </p:spPr>
        <p:txBody>
          <a:bodyPr/>
          <a:p/>
        </p:txBody>
      </p:sp>
      <p:sp>
        <p:nvSpPr>
          <p:cNvPr id="11" name="Text 8"/>
          <p:cNvSpPr txBox="1"/>
          <p:nvPr/>
        </p:nvSpPr>
        <p:spPr>
          <a:xfrm>
            <a:off x="548640" y="5212080"/>
            <a:ext cx="11064240" cy="548640"/>
          </a:xfrm>
          <a:prstGeom prst="rect">
            <a:avLst/>
          </a:prstGeom>
          <a:noFill/>
          <a:ln/>
        </p:spPr>
        <p:txBody>
          <a:bodyPr wrap="square" lIns="0" tIns="0" rIns="0" bIns="0" rtlCol="0" anchor="ctr"/>
          <a:lstStyle/>
          <a:p>
            <a:pPr algn="ctr" indent="0" marL="0">
              <a:buNone/>
            </a:pPr>
            <a:r>
              <a:rPr lang="en-US" sz="3000" b="1" dirty="0">
                <a:solidFill>
                  <a:srgbClr val="12284C"/>
                </a:solidFill>
                <a:latin typeface="Cambria" pitchFamily="34" charset="0"/>
                <a:ea typeface="Calibri" pitchFamily="34" charset="-122"/>
                <a:cs typeface="Calibri" pitchFamily="34" charset="-120"/>
              </a:rPr>
              <a:t>Terima kasih</a:t>
            </a:r>
            <a:endParaRPr lang="en-US" sz="3000" dirty="0"/>
          </a:p>
        </p:txBody>
      </p:sp>
      <p:sp>
        <p:nvSpPr>
          <p:cNvPr id="12" name="Text 9"/>
          <p:cNvSpPr txBox="1"/>
          <p:nvPr/>
        </p:nvSpPr>
        <p:spPr>
          <a:xfrm>
            <a:off x="548640" y="5760720"/>
            <a:ext cx="11064240" cy="365760"/>
          </a:xfrm>
          <a:prstGeom prst="rect">
            <a:avLst/>
          </a:prstGeom>
          <a:noFill/>
          <a:ln/>
        </p:spPr>
        <p:txBody>
          <a:bodyPr wrap="square" lIns="0" tIns="0" rIns="0" bIns="0" rtlCol="0" anchor="ctr"/>
          <a:lstStyle/>
          <a:p>
            <a:pPr algn="ctr" indent="0" marL="0">
              <a:buNone/>
            </a:pPr>
            <a:r>
              <a:rPr lang="en-US" sz="1800" dirty="0">
                <a:solidFill>
                  <a:srgbClr val="5B6B8A"/>
                </a:solidFill>
                <a:latin typeface="Calibri" pitchFamily="34" charset="0"/>
                <a:ea typeface="Calibri" pitchFamily="34" charset="-122"/>
                <a:cs typeface="Calibri" pitchFamily="34" charset="-120"/>
              </a:rPr>
              <a:t>Mohon masukan dan arahan Bapak/Ibu Penguji.</a:t>
            </a:r>
            <a:endParaRPr lang="en-US" sz="1800" dirty="0"/>
          </a:p>
        </p:txBody>
      </p:sp>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3200400"/>
                <a:gridCol w="4846320"/>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Nilai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Peran dalam eksperimen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Beban sistem</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10, 50, 100 req/s</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Tiga tingkat tekanan; bukan 450 transaksi per hari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Konkurensi F5</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20 pembaruan serentak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Intensitas kompetisi pada satu stok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Replikasi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30 per konfigurasi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Pengulangan tiap konfigurasi uji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Warm-up dan recovery window</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60 dtk dan 60 dtk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Pemanasan sistem; batas pemulihan setelah gangguan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Batas waktu transaksi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30 dtk sejak reservasi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Batas bisnis pembayaran (F4b, QRIS Statis)</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5 kali: 1, 2, 4, 8, 16 dtk</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Kebijakan pesan gagal, lalu masuk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Konkurensi consumer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2 pemroses per layanan EDA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Disamakan pada kedua kondisi EDA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500" b="1" dirty="0">
                          <a:solidFill>
                            <a:srgbClr val="12284C"/>
                          </a:solidFill>
                          <a:latin typeface="Calibri" pitchFamily="34" charset="0"/>
                          <a:ea typeface="Calibri" pitchFamily="34" charset="-122"/>
                          <a:cs typeface="Calibri" pitchFamily="34" charset="-120"/>
                        </a:rPr>
                        <a:t>Penundaan dan penghentian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10 dtk (F4a; F1 dan F3)</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500" dirty="0">
                          <a:solidFill>
                            <a:srgbClr val="1B2640"/>
                          </a:solidFill>
                          <a:latin typeface="Calibri" pitchFamily="34" charset="0"/>
                          <a:ea typeface="Calibri" pitchFamily="34" charset="-122"/>
                          <a:cs typeface="Calibri" pitchFamily="34" charset="-120"/>
                        </a:rPr>
                        <a:t>Durasi gangguan yang sama pada tiap pengujian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000" b="1" dirty="0">
                <a:solidFill>
                  <a:srgbClr val="12284C"/>
                </a:solidFill>
                <a:latin typeface="Cambria" pitchFamily="34" charset="0"/>
                <a:ea typeface="Calibri" pitchFamily="34" charset="-122"/>
                <a:cs typeface="Calibri" pitchFamily="34" charset="-120"/>
              </a:rPr>
              <a:t>Cadangan: definisi operasional yang dipertegas</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6035040"/>
                <a:gridCol w="29260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Isu</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Penegasan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Dasar di proposal</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Titik terlambat (F4b)</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Terlambat bila received_at, saat sistem pertama menerima notifikasi (sebelum broker), melebihi reservasi + 30 dtk. Sama di 3 kondisi. Status final tidak berubah walau diproses belakangan.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3.4 dan 3.2.3; titik acuan baru [R2]</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Tanpa Proteksi vs dasar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Dasar sama di kedua EDA: publisher confirm, durable, ACK manual, 2 consumer. Paket: Outbox, Inbox, OCC, Saga, 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3.2.2 dan Tabel 3.4 [R3]</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Kriteria pilot</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Run selesai sampai rekonsiliasi; request dan event terlacak lewat ID; skrip tanpa error; hasil transaksi = validasi fungsional awal, bukan data utama.</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3.3.1 dan Tabel 3.7 [R4]</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Bukti Retry dan DLQ</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Dicatat dari log: percobaan ulang, pesan masuk DLQ, hasil pemulihan. Data pendukung tanpa ambang; kontribusi tunggal tidak disimpulkan.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3.4 [R5]</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Request vs transaksi</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Request rate = laju kirim generator. Gagal teknis tetap beban; penolakan bisnis dipisah. Lapor request, transaksi sukses, penyebut.</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Tabel 3.6 dan 3.3.3 [R6]</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2284C"/>
                          </a:solidFill>
                          <a:latin typeface="Calibri" pitchFamily="34" charset="0"/>
                          <a:ea typeface="Calibri" pitchFamily="34" charset="-122"/>
                          <a:cs typeface="Calibri" pitchFamily="34" charset="-120"/>
                        </a:rPr>
                        <a:t>Pelaporan lintas arsitektur</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 kondisi hanya pada F4b, F5, F6, tanpa gangguan; F1-F4a hanya EDA vs EDA; per skenario dan beban, tanpa skor gabungan.</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indent="0" marL="0">
                        <a:buNone/>
                      </a:pPr>
                      <a:r>
                        <a:rPr lang="en-US" sz="1400" dirty="0">
                          <a:solidFill>
                            <a:srgbClr val="1B2640"/>
                          </a:solidFill>
                          <a:latin typeface="Calibri" pitchFamily="34" charset="0"/>
                          <a:ea typeface="Calibri" pitchFamily="34" charset="-122"/>
                          <a:cs typeface="Calibri" pitchFamily="34" charset="-120"/>
                        </a:rPr>
                        <a:t>3.3.3 [R7]</a:t>
                      </a:r>
                      <a:endParaRPr lang="en-US" sz="1400" dirty="0">
                        <a:latin typeface="Calibri" charset="0"/>
                        <a:ea typeface="Calibri" charset="0"/>
                        <a:cs typeface="Calibri" charset="0"/>
                      </a:endParaRPr>
                    </a:p>
                  </a:txBody>
                  <a:tcPr marL="109728" marR="109728"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C9A227"/>
      </a:accent2>
      <a:accent3>
        <a:srgbClr val="B3412F"/>
      </a:accent3>
      <a:accent4>
        <a:srgbClr val="2E7D5B"/>
      </a:accent4>
      <a:accent5>
        <a:srgbClr val="5B6B8A"/>
      </a:accent5>
      <a:accent6>
        <a:srgbClr val="D5DEEC"/>
      </a:accent6>
      <a:hlink>
        <a:srgbClr val="12284C"/>
      </a:hlink>
      <a:folHlink>
        <a:srgbClr val="5B6B8A"/>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Raihan Rizki Alfareza</cp:lastModifiedBy>
  <cp:revision>1</cp:revision>
  <dcterms:created xsi:type="dcterms:W3CDTF">2026-10-03T01:51:12Z</dcterms:created>
  <dcterms:modified xsi:type="dcterms:W3CDTF">2026-10-03T01:51:12Z</dcterms:modified>
</cp:coreProperties>
</file>