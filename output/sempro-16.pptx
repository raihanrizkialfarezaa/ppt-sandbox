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Selamat pagi Bapak/Ibu penguji. Saya Raihan Rizki Alfareza, NIM 23051204067. Pada kesempatan ini saya mempresentasikan proposal tugas akhir tentang arsitektur event-driven microservices untuk menjaga konsistensi transaksi pada apotek multicabang. Presentasi ini berisi 14 slide isi dan 2 slide cadangan.</a:t>
            </a:r>
          </a:p>
          <a:p/>
          <a:p>
            <a:r>
              <a:t>CATATAN PERTAHANAN</a:t>
            </a:r>
          </a:p>
          <a:p>
            <a:r>
              <a:t>- Judul sudah dikunci mengikuti dokumen proposal yang disetujui. Alur presentasi mengikuti Bab I sampai Bab III.</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Saya memulai dari temuan lapangan di Apotek Bisma. Pencatatan terpisah membuat rekonsiliasi lambat dan selisih stok berulang. Data basi adalah masalah nyata yang sudah terjadi, sedangkan lost update dan oversell adalah risiko bila sistem diintegrasikan. Dari sini muncul pertanyaan penelitian saya.</a:t>
            </a:r>
          </a:p>
          <a:p/>
          <a:p>
            <a:r>
              <a:t>CATATAN PERTAHANAN</a:t>
            </a:r>
          </a:p>
          <a:p>
            <a:r>
              <a:t>- Sumber: wawancara dan observasi 5 Juli 2026, narasumber Ibu Atik, pemilik Apotek Bisma (Bab I 1.1).</a:t>
            </a:r>
          </a:p>
          <a:p>
            <a:r>
              <a:t>- Jangan samakan masalah nyata dengan risiko bersyarat.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Dari latar belakang itu saya merumuskan lima masalah. Perebutan stok saya utamakan sebagai skenario uji karena di sanalah risiko lost update dan oversell paling mudah diamati.</a:t>
            </a:r>
          </a:p>
          <a:p/>
          <a:p>
            <a:r>
              <a:t>CATATAN PERTAHANAN</a:t>
            </a:r>
          </a:p>
          <a:p>
            <a:r>
              <a:t>- Lima masalah sesuai Bab I 1.2. Istilah "terbukti" di sini berarti status penelitian, bukan klaim hasil.</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Studi terdahulu saya kelompokkan menjadi empat. Kelompok-kelompok ini memberi landasan sekaligus menunjukkan ruang yang masih terbuka, yaitu pengujian langsung dampak pemisahan layanan pada kasus apotek multicabang.</a:t>
            </a:r>
          </a:p>
          <a:p/>
          <a:p>
            <a:r>
              <a:t>CATATAN PERTAHANAN</a:t>
            </a:r>
          </a:p>
          <a:p>
            <a:r>
              <a:t>- Rincian tiap studi ada di Tabel 2.1 dokumen proposal (Bab II 2.2).</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Empat rumusan masalah ini dijawab oleh empat tujuan yang sejajar satu lawan satu. Performa dan kompleksitas operasional saya laporkan terpisah sebagai dimensi pendukung, bukan rumusan masalah.</a:t>
            </a:r>
          </a:p>
          <a:p/>
          <a:p>
            <a:r>
              <a:t>CATATAN PERTAHANAN</a:t>
            </a:r>
          </a:p>
          <a:p>
            <a:r>
              <a:t>- Naskah lengkap RM dan tujuan ada di Bab I 1.4 dan 1.5.</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Saya membandingkan tiga kondisi arsitektur dengan nama lengkapnya. Fungsi bisnis ketiganya sama, sehingga yang berbeda hanya paket proteksi. Perlu saya tegaskan bahwa perbandingan Monolith melawan EDA bukan eksperimen satu variabel karena framework dan jumlah basis data ikut berbeda.</a:t>
            </a:r>
          </a:p>
          <a:p/>
          <a:p>
            <a:r>
              <a:t>CATATAN PERTAHANAN</a:t>
            </a:r>
          </a:p>
          <a:p>
            <a:r>
              <a:t>- Setelah slide ini, boleh disingkat EDA tanpa Proteksi dan EDA dengan Proteksi.</a:t>
            </a:r>
          </a:p>
          <a:p>
            <a:r>
              <a:t>- Rincian susunan ada di Bab III 3.1.</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Poin penting pada slide ini adalah definisi konsistensi yang saya pakai. Bukan tidak adanya selisih sesaat, melainkan kebenaran kondisi akhir setelah recovery window, dijaga oleh empat invariant bisnis.</a:t>
            </a:r>
          </a:p>
          <a:p/>
          <a:p>
            <a:r>
              <a:t>CATATAN PERTAHANAN</a:t>
            </a:r>
          </a:p>
          <a:p>
            <a:r>
              <a:t>- Landasan teori di Bab II 2.1.2. Siklus status transaksi ada di Gambar 3.3 dokumen proposal.</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Empat layanan ini berbagi tanggung jawab fungsional dengan aturan otoritas data yang tegas. Satu data hanya boleh diubah oleh layanan pemiliknya, dan Pelaporan hanya membaca salinan.</a:t>
            </a:r>
          </a:p>
          <a:p/>
          <a:p>
            <a:r>
              <a:t>CATATAN PERTAHANAN</a:t>
            </a:r>
          </a:p>
          <a:p>
            <a:r>
              <a:t>- Tabel batas domain dan otoritas data ada di Bab III.</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Lima mekanisme ini membentuk satu paket proteksi. Outbox dan OCC adalah fokus utama, tetapi pengujian menilai paket secara keseluruhan.</a:t>
            </a:r>
          </a:p>
          <a:p/>
          <a:p>
            <a:r>
              <a:t>CATATAN PERTAHANAN</a:t>
            </a:r>
          </a:p>
          <a:p>
            <a:r>
              <a:t>- Mekanisme pendukung tetap wajib karena F3 dan F4a hanya tertangani oleh retry dan DLQ (Bab II 2.1.3).</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Alur penelitian saya terdiri dari lima tahap mandiri. Pilot test mendahului eksperimen utama untuk memastikan oracle dan rekonsiliasi stabil sebelum 3.330 run dijalankan.</a:t>
            </a:r>
          </a:p>
          <a:p/>
          <a:p>
            <a:r>
              <a:t>CATATAN PERTAHANAN</a:t>
            </a:r>
          </a:p>
          <a:p>
            <a:r>
              <a:t>- Alur mandiri lima tahap, bukan metode perancangan sistem informasi lain (Bab III 3.2).</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Kriteria ini ditetapkan sebelum eksperimen dan bersifat non-kompensatori. Artinya satu pelanggaran integritas tidak dapat ditutupi oleh angka performa yang bagus.</a:t>
            </a:r>
          </a:p>
          <a:p/>
          <a:p>
            <a:r>
              <a:t>CATATAN PERTAHANAN</a:t>
            </a:r>
          </a:p>
          <a:p>
            <a:r>
              <a:t>- Tabel kriteria lengkap ada di Bab III. Ambang ditetapkan sebelum eksperimen, bukan setelah melihat data.</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Enam kode gangguan ini disuntikkan pada skenario yang berlaku. F1 sampai F4a hanya relevan pada kedua kondisi EDA karena hanya di sanalah ada broker pesan.</a:t>
            </a:r>
          </a:p>
          <a:p/>
          <a:p>
            <a:r>
              <a:t>CATATAN PERTAHANAN</a:t>
            </a:r>
          </a:p>
          <a:p>
            <a:r>
              <a:t>- Tabel gangguan lengkap ada di Bab III. Tiga kondisi hanya dibandingkan pada skenario yang berlaku untuk ketiganya.</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Total 3.330 run berasal dari 37 kombinasi dikali 3 tingkat beban dikali 30 replikasi. Tiap run mengikuti urutan yang sama agar hasilnya dapat dibandingkan.</a:t>
            </a:r>
          </a:p>
          <a:p/>
          <a:p>
            <a:r>
              <a:t>CATATAN PERTAHANAN</a:t>
            </a:r>
          </a:p>
          <a:p>
            <a:r>
              <a:t>- 30 replikasi adalah keputusan praktis agar median dan p95 stabil, bukan dasar klaim uji beda (Bab III 3.3.2).</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Sebagai penutup, saya tegaskan batas penelitian ini. Hasil yang saya laporkan nanti berlaku pada parameter uji, dan di luar lingkup ada aspek medis, FEFO, stock opname, resep, dan recall. Terima kasih, saya menunggu masukan Bapak/Ibu penguji.</a:t>
            </a:r>
          </a:p>
          <a:p/>
          <a:p>
            <a:r>
              <a:t>CATATAN PERTAHANAN</a:t>
            </a:r>
          </a:p>
          <a:p>
            <a:r>
              <a:t>- Batasan dan luaran sesuai Bab I 1.3 dan Bab III.</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Slide cadangan ini merinci peran tiap angka eksperimen bila penguji menanyakannya.</a:t>
            </a:r>
          </a:p>
          <a:p/>
          <a:p>
            <a:r>
              <a:t>CATATAN PERTAHANAN</a:t>
            </a:r>
          </a:p>
          <a:p>
            <a:r>
              <a:t>- Acuan: Bab III 3.3.</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Slide cadangan kedua berisi definisi operasional istilah kunci.</a:t>
            </a:r>
          </a:p>
          <a:p/>
          <a:p>
            <a:r>
              <a:t>CATATAN PERTAHANAN</a:t>
            </a:r>
          </a:p>
          <a:p>
            <a:r>
              <a:t>- Acuan: tabel variabel Bab III.</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84C"/>
        </a:solidFill>
        <a:effectLst/>
      </p:bgPr>
    </p:bg>
    <p:spTree>
      <p:nvGrpSpPr>
        <p:cNvPr id="1" name=""/>
        <p:cNvGrpSpPr/>
        <p:nvPr/>
      </p:nvGrpSpPr>
      <p:grpSpPr/>
      <p:sp>
        <p:nvSpPr>
          <p:cNvPr id="2" name="Rectangle 1"/>
          <p:cNvSpPr/>
          <p:nvPr/>
        </p:nvSpPr>
        <p:spPr>
          <a:xfrm>
            <a:off x="7589520" y="0"/>
            <a:ext cx="4599432" cy="6858000"/>
          </a:xfrm>
          <a:prstGeom prst="rect">
            <a:avLst/>
          </a:prstGeom>
          <a:solidFill>
            <a:srgbClr val="FFFFFF"/>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589520" y="0"/>
            <a:ext cx="73152"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g-1.png"/>
          <p:cNvPicPr>
            <a:picLocks noChangeAspect="1"/>
          </p:cNvPicPr>
          <p:nvPr/>
        </p:nvPicPr>
        <p:blipFill>
          <a:blip r:embed="rId2"/>
          <a:stretch>
            <a:fillRect/>
          </a:stretch>
        </p:blipFill>
        <p:spPr>
          <a:xfrm>
            <a:off x="7863840" y="548640"/>
            <a:ext cx="4023360" cy="4023360"/>
          </a:xfrm>
          <a:prstGeom prst="rect">
            <a:avLst/>
          </a:prstGeom>
        </p:spPr>
      </p:pic>
      <p:sp>
        <p:nvSpPr>
          <p:cNvPr id="5" name="TextBox 4"/>
          <p:cNvSpPr txBox="1"/>
          <p:nvPr/>
        </p:nvSpPr>
        <p:spPr>
          <a:xfrm>
            <a:off x="822960" y="1280160"/>
            <a:ext cx="6217920" cy="3200400"/>
          </a:xfrm>
          <a:prstGeom prst="rect">
            <a:avLst/>
          </a:prstGeom>
          <a:noFill/>
        </p:spPr>
        <p:txBody>
          <a:bodyPr wrap="square" anchor="t">
            <a:spAutoFit/>
          </a:bodyPr>
          <a:lstStyle/>
          <a:p>
            <a:pPr>
              <a:spcAft>
                <a:spcPts val="400"/>
              </a:spcAft>
            </a:pPr>
            <a:r>
              <a:rPr sz="1300" b="1">
                <a:solidFill>
                  <a:srgbClr val="C9A227"/>
                </a:solidFill>
                <a:latin typeface="Cambria"/>
              </a:rPr>
              <a:t>SEMINAR PROPOSAL TUGAS AKHIR</a:t>
            </a:r>
          </a:p>
          <a:p>
            <a:pPr>
              <a:spcAft>
                <a:spcPts val="400"/>
              </a:spcAft>
            </a:pPr>
            <a:r>
              <a:rPr sz="3400" b="1">
                <a:solidFill>
                  <a:srgbClr val="FFFFFF"/>
                </a:solidFill>
                <a:latin typeface="Cambria"/>
              </a:rPr>
              <a:t>Implementasi dan Evaluasi Arsitektur Event-Driven Microservices untuk Menjaga Konsistensi Transaksi pada Apotek Multicabang</a:t>
            </a:r>
          </a:p>
          <a:p>
            <a:pPr>
              <a:spcAft>
                <a:spcPts val="400"/>
              </a:spcAft>
            </a:pPr>
            <a:r>
              <a:rPr sz="1800" b="0">
                <a:solidFill>
                  <a:srgbClr val="CADCFC"/>
                </a:solidFill>
                <a:latin typeface="Calibri"/>
              </a:rPr>
              <a:t>Raihan Rizki Alfareza</a:t>
            </a:r>
          </a:p>
        </p:txBody>
      </p:sp>
      <p:sp>
        <p:nvSpPr>
          <p:cNvPr id="6" name="TextBox 5"/>
          <p:cNvSpPr txBox="1"/>
          <p:nvPr/>
        </p:nvSpPr>
        <p:spPr>
          <a:xfrm>
            <a:off x="822960" y="5120640"/>
            <a:ext cx="6217920" cy="548640"/>
          </a:xfrm>
          <a:prstGeom prst="rect">
            <a:avLst/>
          </a:prstGeom>
          <a:noFill/>
        </p:spPr>
        <p:txBody>
          <a:bodyPr wrap="square" anchor="t">
            <a:spAutoFit/>
          </a:bodyPr>
          <a:lstStyle/>
          <a:p>
            <a:pPr>
              <a:spcAft>
                <a:spcPts val="400"/>
              </a:spcAft>
            </a:pPr>
            <a:r>
              <a:rPr sz="1200" b="0">
                <a:solidFill>
                  <a:srgbClr val="CADCFC"/>
                </a:solidFill>
                <a:latin typeface="Calibri"/>
              </a:rPr>
              <a:t>Pembimbing I Made Suartana, S.Kom., M.Kom. | Universitas Negeri Surabaya, 2026  •  NIM 23051204067, S1 Teknik Informatika, Fakultas Teknik</a:t>
            </a:r>
          </a:p>
        </p:txBody>
      </p:sp>
      <p:sp>
        <p:nvSpPr>
          <p:cNvPr id="7" name="TextBox 6"/>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CADCFC"/>
                </a:solidFill>
                <a:latin typeface="Calibri"/>
              </a:rPr>
              <a:t>S1 Teknik Informatika  |  Universitas Negeri Surabaya</a:t>
            </a:r>
          </a:p>
          <a:p>
            <a:pPr algn="r">
              <a:spcAft>
                <a:spcPts val="400"/>
              </a:spcAft>
            </a:pPr>
            <a:r>
              <a:rPr sz="1200" b="0">
                <a:solidFill>
                  <a:srgbClr val="CADCFC"/>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1463040"/>
          </a:xfrm>
          <a:prstGeom prst="rect">
            <a:avLst/>
          </a:prstGeom>
          <a:noFill/>
        </p:spPr>
        <p:txBody>
          <a:bodyPr wrap="square" anchor="t">
            <a:spAutoFit/>
          </a:bodyPr>
          <a:lstStyle/>
          <a:p>
            <a:pPr>
              <a:spcAft>
                <a:spcPts val="400"/>
              </a:spcAft>
            </a:pPr>
            <a:r>
              <a:rPr sz="3000" b="1">
                <a:solidFill>
                  <a:srgbClr val="12284C"/>
                </a:solidFill>
                <a:latin typeface="Cambria"/>
              </a:rPr>
              <a:t>Pencatatan terpisah: rekonsiliasi lambat dan selisih stok berulang</a:t>
            </a:r>
          </a:p>
          <a:p>
            <a:pPr>
              <a:spcAft>
                <a:spcPts val="400"/>
              </a:spcAft>
            </a:pPr>
            <a:r>
              <a:rPr sz="1600" b="0">
                <a:solidFill>
                  <a:srgbClr val="5B6B8A"/>
                </a:solidFill>
                <a:latin typeface="Calibri"/>
              </a:rPr>
              <a:t>Pertanyaan penelitian: arsitektur mana yang menjaga konsistensi transaksi?</a:t>
            </a:r>
          </a:p>
        </p:txBody>
      </p:sp>
      <p:sp>
        <p:nvSpPr>
          <p:cNvPr id="3" name="Rectangle 2"/>
          <p:cNvSpPr/>
          <p:nvPr/>
        </p:nvSpPr>
        <p:spPr>
          <a:xfrm>
            <a:off x="640080" y="228600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12848"/>
            <a:ext cx="10607040" cy="1005840"/>
          </a:xfrm>
          <a:prstGeom prst="rect">
            <a:avLst/>
          </a:prstGeom>
          <a:noFill/>
        </p:spPr>
        <p:txBody>
          <a:bodyPr wrap="square" anchor="t">
            <a:spAutoFit/>
          </a:bodyPr>
          <a:lstStyle/>
          <a:p>
            <a:pPr>
              <a:spcAft>
                <a:spcPts val="400"/>
              </a:spcAft>
            </a:pPr>
            <a:r>
              <a:rPr sz="1700" b="1">
                <a:solidFill>
                  <a:srgbClr val="12284C"/>
                </a:solidFill>
                <a:latin typeface="Cambria"/>
              </a:rPr>
              <a:t>450 transaksi penjualan per hari di 3 cabang</a:t>
            </a:r>
          </a:p>
          <a:p>
            <a:pPr>
              <a:spcAft>
                <a:spcPts val="400"/>
              </a:spcAft>
            </a:pPr>
            <a:r>
              <a:rPr sz="1300" b="0">
                <a:solidFill>
                  <a:srgbClr val="5B6B8A"/>
                </a:solidFill>
                <a:latin typeface="Calibri"/>
              </a:rPr>
              <a:t>Tiap cabang punya kasir mandiri, gudang memakai sistem tersendiri.</a:t>
            </a:r>
          </a:p>
        </p:txBody>
      </p:sp>
      <p:sp>
        <p:nvSpPr>
          <p:cNvPr id="5" name="Rectangle 4"/>
          <p:cNvSpPr/>
          <p:nvPr/>
        </p:nvSpPr>
        <p:spPr>
          <a:xfrm>
            <a:off x="640080" y="342900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55848"/>
            <a:ext cx="10607040" cy="1005840"/>
          </a:xfrm>
          <a:prstGeom prst="rect">
            <a:avLst/>
          </a:prstGeom>
          <a:noFill/>
        </p:spPr>
        <p:txBody>
          <a:bodyPr wrap="square" anchor="t">
            <a:spAutoFit/>
          </a:bodyPr>
          <a:lstStyle/>
          <a:p>
            <a:pPr>
              <a:spcAft>
                <a:spcPts val="400"/>
              </a:spcAft>
            </a:pPr>
            <a:r>
              <a:rPr sz="1700" b="1">
                <a:solidFill>
                  <a:srgbClr val="12284C"/>
                </a:solidFill>
                <a:latin typeface="Cambria"/>
              </a:rPr>
              <a:t>Rekonsiliasi 1 sampai 2 hari di cabang, 4 sampai 5 hari di gudang</a:t>
            </a:r>
          </a:p>
          <a:p>
            <a:pPr>
              <a:spcAft>
                <a:spcPts val="400"/>
              </a:spcAft>
            </a:pPr>
            <a:r>
              <a:rPr sz="1300" b="0">
                <a:solidFill>
                  <a:srgbClr val="5B6B8A"/>
                </a:solidFill>
                <a:latin typeface="Calibri"/>
              </a:rPr>
              <a:t>Tidak ada sinkronisasi real-time antar lokasi.</a:t>
            </a:r>
          </a:p>
        </p:txBody>
      </p:sp>
      <p:sp>
        <p:nvSpPr>
          <p:cNvPr id="7" name="Rectangle 6"/>
          <p:cNvSpPr/>
          <p:nvPr/>
        </p:nvSpPr>
        <p:spPr>
          <a:xfrm>
            <a:off x="640080" y="457200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498848"/>
            <a:ext cx="10607040" cy="1005840"/>
          </a:xfrm>
          <a:prstGeom prst="rect">
            <a:avLst/>
          </a:prstGeom>
          <a:noFill/>
        </p:spPr>
        <p:txBody>
          <a:bodyPr wrap="square" anchor="t">
            <a:spAutoFit/>
          </a:bodyPr>
          <a:lstStyle/>
          <a:p>
            <a:pPr>
              <a:spcAft>
                <a:spcPts val="400"/>
              </a:spcAft>
            </a:pPr>
            <a:r>
              <a:rPr sz="1700" b="1">
                <a:solidFill>
                  <a:srgbClr val="12284C"/>
                </a:solidFill>
                <a:latin typeface="Cambria"/>
              </a:rPr>
              <a:t>Selisih stok fisik vs sistem hampir selalu ada tiap bulan</a:t>
            </a:r>
          </a:p>
          <a:p>
            <a:pPr>
              <a:spcAft>
                <a:spcPts val="400"/>
              </a:spcAft>
            </a:pPr>
            <a:r>
              <a:rPr sz="1300" b="0">
                <a:solidFill>
                  <a:srgbClr val="5B6B8A"/>
                </a:solidFill>
                <a:latin typeface="Calibri"/>
              </a:rPr>
              <a:t>Ditemukan pada rekonsiliasi bulanan.</a:t>
            </a:r>
          </a:p>
        </p:txBody>
      </p:sp>
      <p:sp>
        <p:nvSpPr>
          <p:cNvPr id="9" name="Rectangle 8"/>
          <p:cNvSpPr/>
          <p:nvPr/>
        </p:nvSpPr>
        <p:spPr>
          <a:xfrm>
            <a:off x="640080" y="571500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641848"/>
            <a:ext cx="10607040" cy="1005840"/>
          </a:xfrm>
          <a:prstGeom prst="rect">
            <a:avLst/>
          </a:prstGeom>
          <a:noFill/>
        </p:spPr>
        <p:txBody>
          <a:bodyPr wrap="square" anchor="t">
            <a:spAutoFit/>
          </a:bodyPr>
          <a:lstStyle/>
          <a:p>
            <a:pPr>
              <a:spcAft>
                <a:spcPts val="400"/>
              </a:spcAft>
            </a:pPr>
            <a:r>
              <a:rPr sz="1700" b="1">
                <a:solidFill>
                  <a:srgbClr val="12284C"/>
                </a:solidFill>
                <a:latin typeface="Cambria"/>
              </a:rPr>
              <a:t>Risiko bila diintegrasikan: lost update dan oversell</a:t>
            </a:r>
          </a:p>
          <a:p>
            <a:pPr>
              <a:spcAft>
                <a:spcPts val="400"/>
              </a:spcAft>
            </a:pPr>
            <a:r>
              <a:rPr sz="1300" b="0">
                <a:solidFill>
                  <a:srgbClr val="5B6B8A"/>
                </a:solidFill>
                <a:latin typeface="Calibri"/>
              </a:rPr>
              <a:t>Keduanya risiko bersyarat, belum terjadi di lapangan.</a:t>
            </a:r>
          </a:p>
        </p:txBody>
      </p:sp>
      <p:sp>
        <p:nvSpPr>
          <p:cNvPr id="11" name="TextBox 10"/>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5B6B8A"/>
                </a:solidFill>
                <a:latin typeface="Calibri"/>
              </a:rPr>
              <a:t>S1 Teknik Informatika  |  Universitas Negeri Surabaya</a:t>
            </a:r>
          </a:p>
          <a:p>
            <a:pPr algn="r">
              <a:spcAft>
                <a:spcPts val="400"/>
              </a:spcAft>
            </a:pPr>
            <a:r>
              <a:rPr sz="1200" b="0">
                <a:solidFill>
                  <a:srgbClr val="5B6B8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1463040"/>
          </a:xfrm>
          <a:prstGeom prst="rect">
            <a:avLst/>
          </a:prstGeom>
          <a:noFill/>
        </p:spPr>
        <p:txBody>
          <a:bodyPr wrap="square" anchor="t">
            <a:spAutoFit/>
          </a:bodyPr>
          <a:lstStyle/>
          <a:p>
            <a:pPr>
              <a:spcAft>
                <a:spcPts val="400"/>
              </a:spcAft>
            </a:pPr>
            <a:r>
              <a:rPr sz="3000" b="1">
                <a:solidFill>
                  <a:srgbClr val="12284C"/>
                </a:solidFill>
                <a:latin typeface="Cambria"/>
              </a:rPr>
              <a:t>Lima masalah; perebutan stok diutamakan sebagai skenario uji</a:t>
            </a:r>
          </a:p>
        </p:txBody>
      </p:sp>
      <p:sp>
        <p:nvSpPr>
          <p:cNvPr id="3" name="Rectangle 2"/>
          <p:cNvSpPr/>
          <p:nvPr/>
        </p:nvSpPr>
        <p:spPr>
          <a:xfrm>
            <a:off x="640080" y="228600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12848"/>
            <a:ext cx="10607040" cy="1005840"/>
          </a:xfrm>
          <a:prstGeom prst="rect">
            <a:avLst/>
          </a:prstGeom>
          <a:noFill/>
        </p:spPr>
        <p:txBody>
          <a:bodyPr wrap="square" anchor="t">
            <a:spAutoFit/>
          </a:bodyPr>
          <a:lstStyle/>
          <a:p>
            <a:pPr>
              <a:spcAft>
                <a:spcPts val="400"/>
              </a:spcAft>
            </a:pPr>
            <a:r>
              <a:rPr sz="1700" b="1">
                <a:solidFill>
                  <a:srgbClr val="12284C"/>
                </a:solidFill>
                <a:latin typeface="Cambria"/>
              </a:rPr>
              <a:t>Rekonsiliasi memakan 1 sampai 5 hari kerja</a:t>
            </a:r>
          </a:p>
          <a:p>
            <a:pPr>
              <a:spcAft>
                <a:spcPts val="400"/>
              </a:spcAft>
            </a:pPr>
            <a:r>
              <a:rPr sz="1300" b="0">
                <a:solidFill>
                  <a:srgbClr val="5B6B8A"/>
                </a:solidFill>
                <a:latin typeface="Calibri"/>
              </a:rPr>
              <a:t>Beban kerja terbuang untuk mencocokkan catatan.</a:t>
            </a:r>
          </a:p>
        </p:txBody>
      </p:sp>
      <p:sp>
        <p:nvSpPr>
          <p:cNvPr id="5" name="Rectangle 4"/>
          <p:cNvSpPr/>
          <p:nvPr/>
        </p:nvSpPr>
        <p:spPr>
          <a:xfrm>
            <a:off x="640080" y="342900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55848"/>
            <a:ext cx="10607040" cy="1005840"/>
          </a:xfrm>
          <a:prstGeom prst="rect">
            <a:avLst/>
          </a:prstGeom>
          <a:noFill/>
        </p:spPr>
        <p:txBody>
          <a:bodyPr wrap="square" anchor="t">
            <a:spAutoFit/>
          </a:bodyPr>
          <a:lstStyle/>
          <a:p>
            <a:pPr>
              <a:spcAft>
                <a:spcPts val="400"/>
              </a:spcAft>
            </a:pPr>
            <a:r>
              <a:rPr sz="1700" b="1">
                <a:solidFill>
                  <a:srgbClr val="12284C"/>
                </a:solidFill>
                <a:latin typeface="Cambria"/>
              </a:rPr>
              <a:t>Stok sistem tidak cocok dengan stok fisik</a:t>
            </a:r>
          </a:p>
          <a:p>
            <a:pPr>
              <a:spcAft>
                <a:spcPts val="400"/>
              </a:spcAft>
            </a:pPr>
            <a:r>
              <a:rPr sz="1300" b="0">
                <a:solidFill>
                  <a:srgbClr val="5B6B8A"/>
                </a:solidFill>
                <a:latin typeface="Calibri"/>
              </a:rPr>
              <a:t>Kepercayaan pada data menurun.</a:t>
            </a:r>
          </a:p>
        </p:txBody>
      </p:sp>
      <p:sp>
        <p:nvSpPr>
          <p:cNvPr id="7" name="Rectangle 6"/>
          <p:cNvSpPr/>
          <p:nvPr/>
        </p:nvSpPr>
        <p:spPr>
          <a:xfrm>
            <a:off x="640080" y="457200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498848"/>
            <a:ext cx="10607040" cy="1005840"/>
          </a:xfrm>
          <a:prstGeom prst="rect">
            <a:avLst/>
          </a:prstGeom>
          <a:noFill/>
        </p:spPr>
        <p:txBody>
          <a:bodyPr wrap="square" anchor="t">
            <a:spAutoFit/>
          </a:bodyPr>
          <a:lstStyle/>
          <a:p>
            <a:pPr>
              <a:spcAft>
                <a:spcPts val="400"/>
              </a:spcAft>
            </a:pPr>
            <a:r>
              <a:rPr sz="1700" b="1">
                <a:solidFill>
                  <a:srgbClr val="12284C"/>
                </a:solidFill>
                <a:latin typeface="Cambria"/>
              </a:rPr>
              <a:t>Integrasi tanpa sinkronisasi berisiko lost update dan oversell</a:t>
            </a:r>
          </a:p>
          <a:p>
            <a:pPr>
              <a:spcAft>
                <a:spcPts val="400"/>
              </a:spcAft>
            </a:pPr>
            <a:r>
              <a:rPr sz="1300" b="0">
                <a:solidFill>
                  <a:srgbClr val="5B6B8A"/>
                </a:solidFill>
                <a:latin typeface="Calibri"/>
              </a:rPr>
              <a:t>Diuji lewat skenario perebutan stok.</a:t>
            </a:r>
          </a:p>
        </p:txBody>
      </p:sp>
      <p:sp>
        <p:nvSpPr>
          <p:cNvPr id="9" name="Rectangle 8"/>
          <p:cNvSpPr/>
          <p:nvPr/>
        </p:nvSpPr>
        <p:spPr>
          <a:xfrm>
            <a:off x="640080" y="571500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641848"/>
            <a:ext cx="10607040" cy="1005840"/>
          </a:xfrm>
          <a:prstGeom prst="rect">
            <a:avLst/>
          </a:prstGeom>
          <a:noFill/>
        </p:spPr>
        <p:txBody>
          <a:bodyPr wrap="square" anchor="t">
            <a:spAutoFit/>
          </a:bodyPr>
          <a:lstStyle/>
          <a:p>
            <a:pPr>
              <a:spcAft>
                <a:spcPts val="400"/>
              </a:spcAft>
            </a:pPr>
            <a:r>
              <a:rPr sz="1700" b="1">
                <a:solidFill>
                  <a:srgbClr val="12284C"/>
                </a:solidFill>
                <a:latin typeface="Cambria"/>
              </a:rPr>
              <a:t>Belum ada dasbor monitoring terpadu</a:t>
            </a:r>
          </a:p>
          <a:p>
            <a:pPr>
              <a:spcAft>
                <a:spcPts val="400"/>
              </a:spcAft>
            </a:pPr>
            <a:r>
              <a:rPr sz="1300" b="0">
                <a:solidFill>
                  <a:srgbClr val="5B6B8A"/>
                </a:solidFill>
                <a:latin typeface="Calibri"/>
              </a:rPr>
              <a:t>Visibilitas lintas cabang belum tersedia.</a:t>
            </a:r>
          </a:p>
        </p:txBody>
      </p:sp>
      <p:sp>
        <p:nvSpPr>
          <p:cNvPr id="11" name="Rectangle 10"/>
          <p:cNvSpPr/>
          <p:nvPr/>
        </p:nvSpPr>
        <p:spPr>
          <a:xfrm>
            <a:off x="640080" y="6858000"/>
            <a:ext cx="73152" cy="8229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6784848"/>
            <a:ext cx="10607040" cy="1005840"/>
          </a:xfrm>
          <a:prstGeom prst="rect">
            <a:avLst/>
          </a:prstGeom>
          <a:noFill/>
        </p:spPr>
        <p:txBody>
          <a:bodyPr wrap="square" anchor="t">
            <a:spAutoFit/>
          </a:bodyPr>
          <a:lstStyle/>
          <a:p>
            <a:pPr>
              <a:spcAft>
                <a:spcPts val="400"/>
              </a:spcAft>
            </a:pPr>
            <a:r>
              <a:rPr sz="1700" b="1">
                <a:solidFill>
                  <a:srgbClr val="12284C"/>
                </a:solidFill>
                <a:latin typeface="Cambria"/>
              </a:rPr>
              <a:t>Konsekuensi tiap arsitektur belum terbukti</a:t>
            </a:r>
          </a:p>
          <a:p>
            <a:pPr>
              <a:spcAft>
                <a:spcPts val="400"/>
              </a:spcAft>
            </a:pPr>
            <a:r>
              <a:rPr sz="1300" b="0">
                <a:solidFill>
                  <a:srgbClr val="5B6B8A"/>
                </a:solidFill>
                <a:latin typeface="Calibri"/>
              </a:rPr>
              <a:t>Perlu dibandingkan dengan beban yang setara.</a:t>
            </a:r>
          </a:p>
        </p:txBody>
      </p:sp>
      <p:sp>
        <p:nvSpPr>
          <p:cNvPr id="13" name="TextBox 12"/>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5B6B8A"/>
                </a:solidFill>
                <a:latin typeface="Calibri"/>
              </a:rPr>
              <a:t>S1 Teknik Informatika  |  Universitas Negeri Surabaya</a:t>
            </a:r>
          </a:p>
          <a:p>
            <a:pPr algn="r">
              <a:spcAft>
                <a:spcPts val="400"/>
              </a:spcAft>
            </a:pPr>
            <a:r>
              <a:rPr sz="1200" b="0">
                <a:solidFill>
                  <a:srgbClr val="5B6B8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1463040"/>
          </a:xfrm>
          <a:prstGeom prst="rect">
            <a:avLst/>
          </a:prstGeom>
          <a:noFill/>
        </p:spPr>
        <p:txBody>
          <a:bodyPr wrap="square" anchor="t">
            <a:spAutoFit/>
          </a:bodyPr>
          <a:lstStyle/>
          <a:p>
            <a:pPr>
              <a:spcAft>
                <a:spcPts val="400"/>
              </a:spcAft>
            </a:pPr>
            <a:r>
              <a:rPr sz="1200" b="1">
                <a:solidFill>
                  <a:srgbClr val="C9A227"/>
                </a:solidFill>
                <a:latin typeface="Cambria"/>
              </a:rPr>
              <a:t>AGENDA</a:t>
            </a:r>
          </a:p>
          <a:p>
            <a:pPr>
              <a:spcAft>
                <a:spcPts val="400"/>
              </a:spcAft>
            </a:pPr>
            <a:r>
              <a:rPr sz="3000" b="1">
                <a:solidFill>
                  <a:srgbClr val="12284C"/>
                </a:solidFill>
                <a:latin typeface="Cambria"/>
              </a:rPr>
              <a:t>Studi terdahulu menjadi landasan; pengujian langsungnya masih terbuka</a:t>
            </a:r>
          </a:p>
          <a:p>
            <a:pPr>
              <a:spcAft>
                <a:spcPts val="400"/>
              </a:spcAft>
            </a:pPr>
            <a:r>
              <a:rPr sz="1600" b="0">
                <a:solidFill>
                  <a:srgbClr val="5B6B8A"/>
                </a:solidFill>
                <a:latin typeface="Calibri"/>
              </a:rPr>
              <a:t>Ruang penelitian: menguji dampak pemisahan layanan dan proteksi konsistensi data terhadap konsistensi transaksi pada apotek multicabang.</a:t>
            </a:r>
          </a:p>
        </p:txBody>
      </p:sp>
      <p:sp>
        <p:nvSpPr>
          <p:cNvPr id="3" name="Rounded Rectangle 2"/>
          <p:cNvSpPr/>
          <p:nvPr/>
        </p:nvSpPr>
        <p:spPr>
          <a:xfrm>
            <a:off x="640080" y="2286000"/>
            <a:ext cx="2377440" cy="173736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468880"/>
            <a:ext cx="1920240" cy="1371600"/>
          </a:xfrm>
          <a:prstGeom prst="rect">
            <a:avLst/>
          </a:prstGeom>
          <a:noFill/>
        </p:spPr>
        <p:txBody>
          <a:bodyPr wrap="square" anchor="t">
            <a:spAutoFit/>
          </a:bodyPr>
          <a:lstStyle/>
          <a:p>
            <a:pPr>
              <a:spcAft>
                <a:spcPts val="400"/>
              </a:spcAft>
            </a:pPr>
            <a:r>
              <a:rPr sz="1300" b="1">
                <a:solidFill>
                  <a:srgbClr val="C9A227"/>
                </a:solidFill>
                <a:latin typeface="Cambria"/>
              </a:rPr>
              <a:t>01</a:t>
            </a:r>
          </a:p>
          <a:p>
            <a:pPr>
              <a:spcAft>
                <a:spcPts val="400"/>
              </a:spcAft>
            </a:pPr>
            <a:r>
              <a:rPr sz="1500" b="1">
                <a:solidFill>
                  <a:srgbClr val="FFFFFF"/>
                </a:solidFill>
                <a:latin typeface="Cambria"/>
              </a:rPr>
              <a:t>Arsitektur dan migrasi</a:t>
            </a:r>
          </a:p>
          <a:p>
            <a:pPr>
              <a:spcAft>
                <a:spcPts val="400"/>
              </a:spcAft>
            </a:pPr>
            <a:r>
              <a:rPr sz="1200" b="0">
                <a:solidFill>
                  <a:srgbClr val="5B6B8A"/>
                </a:solidFill>
                <a:latin typeface="Calibri"/>
              </a:rPr>
              <a:t>Blinowski et al. (2022), Soylemez et al. (2022), Faustino et al. (2024). Monolith ringan pada beban tertentu; migrasi berbiaya. Dasar: monolith sebagai acuan.</a:t>
            </a:r>
          </a:p>
        </p:txBody>
      </p:sp>
      <p:sp>
        <p:nvSpPr>
          <p:cNvPr id="5" name="Rounded Rectangle 4"/>
          <p:cNvSpPr/>
          <p:nvPr/>
        </p:nvSpPr>
        <p:spPr>
          <a:xfrm>
            <a:off x="3474720" y="2286000"/>
            <a:ext cx="2377440" cy="173736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03320" y="2468880"/>
            <a:ext cx="1920240" cy="1371600"/>
          </a:xfrm>
          <a:prstGeom prst="rect">
            <a:avLst/>
          </a:prstGeom>
          <a:noFill/>
        </p:spPr>
        <p:txBody>
          <a:bodyPr wrap="square" anchor="t">
            <a:spAutoFit/>
          </a:bodyPr>
          <a:lstStyle/>
          <a:p>
            <a:pPr>
              <a:spcAft>
                <a:spcPts val="400"/>
              </a:spcAft>
            </a:pPr>
            <a:r>
              <a:rPr sz="1300" b="1">
                <a:solidFill>
                  <a:srgbClr val="C9A227"/>
                </a:solidFill>
                <a:latin typeface="Cambria"/>
              </a:rPr>
              <a:t>02</a:t>
            </a:r>
          </a:p>
          <a:p>
            <a:pPr>
              <a:spcAft>
                <a:spcPts val="400"/>
              </a:spcAft>
            </a:pPr>
            <a:r>
              <a:rPr sz="1500" b="1">
                <a:solidFill>
                  <a:srgbClr val="FFFFFF"/>
                </a:solidFill>
                <a:latin typeface="Cambria"/>
              </a:rPr>
              <a:t>Event dan konsistensi</a:t>
            </a:r>
          </a:p>
          <a:p>
            <a:pPr>
              <a:spcAft>
                <a:spcPts val="400"/>
              </a:spcAft>
            </a:pPr>
            <a:r>
              <a:rPr sz="1200" b="0">
                <a:solidFill>
                  <a:srgbClr val="5B6B8A"/>
                </a:solidFill>
                <a:latin typeface="Calibri"/>
              </a:rPr>
              <a:t>Rochman dan Suartana (2026), Baiao dan Guerreiro (2026). EDA cepat memproses, penguncian memicu kemacetan stok. Dasar: Optimistic Concurrency Control.</a:t>
            </a:r>
          </a:p>
        </p:txBody>
      </p:sp>
      <p:sp>
        <p:nvSpPr>
          <p:cNvPr id="7" name="Rounded Rectangle 6"/>
          <p:cNvSpPr/>
          <p:nvPr/>
        </p:nvSpPr>
        <p:spPr>
          <a:xfrm>
            <a:off x="6309360" y="2286000"/>
            <a:ext cx="2377440" cy="173736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2468880"/>
            <a:ext cx="1920240" cy="1371600"/>
          </a:xfrm>
          <a:prstGeom prst="rect">
            <a:avLst/>
          </a:prstGeom>
          <a:noFill/>
        </p:spPr>
        <p:txBody>
          <a:bodyPr wrap="square" anchor="t">
            <a:spAutoFit/>
          </a:bodyPr>
          <a:lstStyle/>
          <a:p>
            <a:pPr>
              <a:spcAft>
                <a:spcPts val="400"/>
              </a:spcAft>
            </a:pPr>
            <a:r>
              <a:rPr sz="1300" b="1">
                <a:solidFill>
                  <a:srgbClr val="C9A227"/>
                </a:solidFill>
                <a:latin typeface="Cambria"/>
              </a:rPr>
              <a:t>03</a:t>
            </a:r>
          </a:p>
          <a:p>
            <a:pPr>
              <a:spcAft>
                <a:spcPts val="400"/>
              </a:spcAft>
            </a:pPr>
            <a:r>
              <a:rPr sz="1500" b="1">
                <a:solidFill>
                  <a:srgbClr val="FFFFFF"/>
                </a:solidFill>
                <a:latin typeface="Cambria"/>
              </a:rPr>
              <a:t>Uji keandalan</a:t>
            </a:r>
          </a:p>
          <a:p>
            <a:pPr>
              <a:spcAft>
                <a:spcPts val="400"/>
              </a:spcAft>
            </a:pPr>
            <a:r>
              <a:rPr sz="1200" b="0">
                <a:solidFill>
                  <a:srgbClr val="5B6B8A"/>
                </a:solidFill>
                <a:latin typeface="Calibri"/>
              </a:rPr>
              <a:t>Al-Said Ahmad dan Andras (2022), Hui et al. (2025). Gangguan sengaja dipakai menguji ketahanan; hasil butuh aturan acuan pasti. Dasar: fault injection dan test oracle.</a:t>
            </a:r>
          </a:p>
        </p:txBody>
      </p:sp>
      <p:sp>
        <p:nvSpPr>
          <p:cNvPr id="9" name="Rounded Rectangle 8"/>
          <p:cNvSpPr/>
          <p:nvPr/>
        </p:nvSpPr>
        <p:spPr>
          <a:xfrm>
            <a:off x="9144000" y="2286000"/>
            <a:ext cx="2377440" cy="173736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72600" y="2468880"/>
            <a:ext cx="1920240" cy="1371600"/>
          </a:xfrm>
          <a:prstGeom prst="rect">
            <a:avLst/>
          </a:prstGeom>
          <a:noFill/>
        </p:spPr>
        <p:txBody>
          <a:bodyPr wrap="square" anchor="t">
            <a:spAutoFit/>
          </a:bodyPr>
          <a:lstStyle/>
          <a:p>
            <a:pPr>
              <a:spcAft>
                <a:spcPts val="400"/>
              </a:spcAft>
            </a:pPr>
            <a:r>
              <a:rPr sz="1300" b="1">
                <a:solidFill>
                  <a:srgbClr val="C9A227"/>
                </a:solidFill>
                <a:latin typeface="Cambria"/>
              </a:rPr>
              <a:t>04</a:t>
            </a:r>
          </a:p>
          <a:p>
            <a:pPr>
              <a:spcAft>
                <a:spcPts val="400"/>
              </a:spcAft>
            </a:pPr>
            <a:r>
              <a:rPr sz="1500" b="1">
                <a:solidFill>
                  <a:srgbClr val="FFFFFF"/>
                </a:solidFill>
                <a:latin typeface="Cambria"/>
              </a:rPr>
              <a:t>Metodologi ukur</a:t>
            </a:r>
          </a:p>
          <a:p>
            <a:pPr>
              <a:spcAft>
                <a:spcPts val="400"/>
              </a:spcAft>
            </a:pPr>
            <a:r>
              <a:rPr sz="1200" b="0">
                <a:solidFill>
                  <a:srgbClr val="5B6B8A"/>
                </a:solidFill>
                <a:latin typeface="Calibri"/>
              </a:rPr>
              <a:t>Rodrigues et al. (2025). Perbandingan butuh beban dan perangkat setara. Dasar: lingkungan uji setara.</a:t>
            </a:r>
          </a:p>
        </p:txBody>
      </p:sp>
      <p:sp>
        <p:nvSpPr>
          <p:cNvPr id="11" name="TextBox 10"/>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5B6B8A"/>
                </a:solidFill>
                <a:latin typeface="Calibri"/>
              </a:rPr>
              <a:t>S1 Teknik Informatika  |  Universitas Negeri Surabaya</a:t>
            </a:r>
          </a:p>
          <a:p>
            <a:pPr algn="r">
              <a:spcAft>
                <a:spcPts val="400"/>
              </a:spcAft>
            </a:pPr>
            <a:r>
              <a:rPr sz="1200" b="0">
                <a:solidFill>
                  <a:srgbClr val="5B6B8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1463040"/>
          </a:xfrm>
          <a:prstGeom prst="rect">
            <a:avLst/>
          </a:prstGeom>
          <a:noFill/>
        </p:spPr>
        <p:txBody>
          <a:bodyPr wrap="square" anchor="t">
            <a:spAutoFit/>
          </a:bodyPr>
          <a:lstStyle/>
          <a:p>
            <a:pPr>
              <a:spcAft>
                <a:spcPts val="400"/>
              </a:spcAft>
            </a:pPr>
            <a:r>
              <a:rPr sz="3000" b="1">
                <a:solidFill>
                  <a:srgbClr val="12284C"/>
                </a:solidFill>
                <a:latin typeface="Cambria"/>
              </a:rPr>
              <a:t>Empat rumusan masalah dijawab oleh empat tujuan yang sejajar</a:t>
            </a:r>
          </a:p>
        </p:txBody>
      </p:sp>
      <p:graphicFrame>
        <p:nvGraphicFramePr>
          <p:cNvPr id="3" name="Table 2"/>
          <p:cNvGraphicFramePr>
            <a:graphicFrameLocks noGrp="1"/>
          </p:cNvGraphicFramePr>
          <p:nvPr/>
        </p:nvGraphicFramePr>
        <p:xfrm>
          <a:off x="640080" y="2286000"/>
          <a:ext cx="11064240" cy="3840480"/>
        </p:xfrm>
        <a:graphic>
          <a:graphicData uri="http://schemas.openxmlformats.org/drawingml/2006/table">
            <a:tbl>
              <a:tblPr firstRow="1" bandRow="1">
                <a:tableStyleId>{5C22544A-7EE6-4342-B048-85BDC9FD1C3A}</a:tableStyleId>
              </a:tblPr>
              <a:tblGrid>
                <a:gridCol w="1097280"/>
                <a:gridCol w="5669280"/>
                <a:gridCol w="4297680"/>
              </a:tblGrid>
              <a:tr h="768096">
                <a:tc>
                  <a:txBody>
                    <a:bodyPr/>
                    <a:lstStyle/>
                    <a:p>
                      <a:r>
                        <a:rPr sz="1200" b="1">
                          <a:solidFill>
                            <a:srgbClr val="FFFFFF"/>
                          </a:solidFill>
                          <a:latin typeface="Cambria"/>
                        </a:rPr>
                        <a:t>RM</a:t>
                      </a:r>
                    </a:p>
                  </a:txBody>
                  <a:tcPr>
                    <a:solidFill>
                      <a:srgbClr val="1F2937"/>
                    </a:solidFill>
                  </a:tcPr>
                </a:tc>
                <a:tc>
                  <a:txBody>
                    <a:bodyPr/>
                    <a:lstStyle/>
                    <a:p>
                      <a:r>
                        <a:rPr sz="1200" b="1">
                          <a:solidFill>
                            <a:srgbClr val="FFFFFF"/>
                          </a:solidFill>
                          <a:latin typeface="Cambria"/>
                        </a:rPr>
                        <a:t>Rumusan masalah</a:t>
                      </a:r>
                    </a:p>
                  </a:txBody>
                  <a:tcPr>
                    <a:solidFill>
                      <a:srgbClr val="1F2937"/>
                    </a:solidFill>
                  </a:tcPr>
                </a:tc>
                <a:tc>
                  <a:txBody>
                    <a:bodyPr/>
                    <a:lstStyle/>
                    <a:p>
                      <a:r>
                        <a:rPr sz="1200" b="1">
                          <a:solidFill>
                            <a:srgbClr val="FFFFFF"/>
                          </a:solidFill>
                          <a:latin typeface="Cambria"/>
                        </a:rPr>
                        <a:t>Tujuan</a:t>
                      </a:r>
                    </a:p>
                  </a:txBody>
                  <a:tcPr>
                    <a:solidFill>
                      <a:srgbClr val="1F2937"/>
                    </a:solidFill>
                  </a:tcPr>
                </a:tc>
              </a:tr>
              <a:tr h="768096">
                <a:tc>
                  <a:txBody>
                    <a:bodyPr/>
                    <a:lstStyle/>
                    <a:p>
                      <a:r>
                        <a:rPr sz="1100">
                          <a:solidFill>
                            <a:srgbClr val="1B2640"/>
                          </a:solidFill>
                          <a:latin typeface="Calibri"/>
                        </a:rPr>
                        <a:t>RM1</a:t>
                      </a:r>
                    </a:p>
                  </a:txBody>
                  <a:tcPr>
                    <a:solidFill>
                      <a:srgbClr val="EEF2F8"/>
                    </a:solidFill>
                  </a:tcPr>
                </a:tc>
                <a:tc>
                  <a:txBody>
                    <a:bodyPr/>
                    <a:lstStyle/>
                    <a:p>
                      <a:r>
                        <a:rPr sz="1100">
                          <a:solidFill>
                            <a:srgbClr val="1B2640"/>
                          </a:solidFill>
                          <a:latin typeface="Calibri"/>
                        </a:rPr>
                        <a:t>Merancang dan mengimplementasikan arsitektur pada apotek multicabang</a:t>
                      </a:r>
                    </a:p>
                  </a:txBody>
                  <a:tcPr>
                    <a:solidFill>
                      <a:srgbClr val="EEF2F8"/>
                    </a:solidFill>
                  </a:tcPr>
                </a:tc>
                <a:tc>
                  <a:txBody>
                    <a:bodyPr/>
                    <a:lstStyle/>
                    <a:p>
                      <a:r>
                        <a:rPr sz="1100">
                          <a:solidFill>
                            <a:srgbClr val="1B2640"/>
                          </a:solidFill>
                          <a:latin typeface="Calibri"/>
                        </a:rPr>
                        <a:t>Rancangan arsitektur yang terimplementasi</a:t>
                      </a:r>
                    </a:p>
                  </a:txBody>
                  <a:tcPr>
                    <a:solidFill>
                      <a:srgbClr val="EEF2F8"/>
                    </a:solidFill>
                  </a:tcPr>
                </a:tc>
              </a:tr>
              <a:tr h="768096">
                <a:tc>
                  <a:txBody>
                    <a:bodyPr/>
                    <a:lstStyle/>
                    <a:p>
                      <a:r>
                        <a:rPr sz="1100">
                          <a:solidFill>
                            <a:srgbClr val="1B2640"/>
                          </a:solidFill>
                          <a:latin typeface="Calibri"/>
                        </a:rPr>
                        <a:t>RM2</a:t>
                      </a:r>
                    </a:p>
                  </a:txBody>
                  <a:tcPr>
                    <a:solidFill>
                      <a:srgbClr val="FFFFFF"/>
                    </a:solidFill>
                  </a:tcPr>
                </a:tc>
                <a:tc>
                  <a:txBody>
                    <a:bodyPr/>
                    <a:lstStyle/>
                    <a:p>
                      <a:r>
                        <a:rPr sz="1100">
                          <a:solidFill>
                            <a:srgbClr val="1B2640"/>
                          </a:solidFill>
                          <a:latin typeface="Calibri"/>
                        </a:rPr>
                        <a:t>Konsistensi data tiap arsitektur saat konkurensi transaksi</a:t>
                      </a:r>
                    </a:p>
                  </a:txBody>
                  <a:tcPr>
                    <a:solidFill>
                      <a:srgbClr val="FFFFFF"/>
                    </a:solidFill>
                  </a:tcPr>
                </a:tc>
                <a:tc>
                  <a:txBody>
                    <a:bodyPr/>
                    <a:lstStyle/>
                    <a:p>
                      <a:r>
                        <a:rPr sz="1100">
                          <a:solidFill>
                            <a:srgbClr val="1B2640"/>
                          </a:solidFill>
                          <a:latin typeface="Calibri"/>
                        </a:rPr>
                        <a:t>Ukuran kondisi akhir data tiap arsitektur</a:t>
                      </a:r>
                    </a:p>
                  </a:txBody>
                  <a:tcPr>
                    <a:solidFill>
                      <a:srgbClr val="FFFFFF"/>
                    </a:solidFill>
                  </a:tcPr>
                </a:tc>
              </a:tr>
              <a:tr h="768096">
                <a:tc>
                  <a:txBody>
                    <a:bodyPr/>
                    <a:lstStyle/>
                    <a:p>
                      <a:r>
                        <a:rPr sz="1100">
                          <a:solidFill>
                            <a:srgbClr val="1B2640"/>
                          </a:solidFill>
                          <a:latin typeface="Calibri"/>
                        </a:rPr>
                        <a:t>RM3</a:t>
                      </a:r>
                    </a:p>
                  </a:txBody>
                  <a:tcPr>
                    <a:solidFill>
                      <a:srgbClr val="EEF2F8"/>
                    </a:solidFill>
                  </a:tcPr>
                </a:tc>
                <a:tc>
                  <a:txBody>
                    <a:bodyPr/>
                    <a:lstStyle/>
                    <a:p>
                      <a:r>
                        <a:rPr sz="1100">
                          <a:solidFill>
                            <a:srgbClr val="1B2640"/>
                          </a:solidFill>
                          <a:latin typeface="Calibri"/>
                        </a:rPr>
                        <a:t>Keandalan transaksi tiap arsitektur saat gangguan proses</a:t>
                      </a:r>
                    </a:p>
                  </a:txBody>
                  <a:tcPr>
                    <a:solidFill>
                      <a:srgbClr val="EEF2F8"/>
                    </a:solidFill>
                  </a:tcPr>
                </a:tc>
                <a:tc>
                  <a:txBody>
                    <a:bodyPr/>
                    <a:lstStyle/>
                    <a:p>
                      <a:r>
                        <a:rPr sz="1100">
                          <a:solidFill>
                            <a:srgbClr val="1B2640"/>
                          </a:solidFill>
                          <a:latin typeface="Calibri"/>
                        </a:rPr>
                        <a:t>Catatan transaksi yang selamat tiap gangguan</a:t>
                      </a:r>
                    </a:p>
                  </a:txBody>
                  <a:tcPr>
                    <a:solidFill>
                      <a:srgbClr val="EEF2F8"/>
                    </a:solidFill>
                  </a:tcPr>
                </a:tc>
              </a:tr>
              <a:tr h="768096">
                <a:tc>
                  <a:txBody>
                    <a:bodyPr/>
                    <a:lstStyle/>
                    <a:p>
                      <a:r>
                        <a:rPr sz="1100">
                          <a:solidFill>
                            <a:srgbClr val="1B2640"/>
                          </a:solidFill>
                          <a:latin typeface="Calibri"/>
                        </a:rPr>
                        <a:t>RM4</a:t>
                      </a:r>
                    </a:p>
                  </a:txBody>
                  <a:tcPr>
                    <a:solidFill>
                      <a:srgbClr val="FFFFFF"/>
                    </a:solidFill>
                  </a:tcPr>
                </a:tc>
                <a:tc>
                  <a:txBody>
                    <a:bodyPr/>
                    <a:lstStyle/>
                    <a:p>
                      <a:r>
                        <a:rPr sz="1100">
                          <a:solidFill>
                            <a:srgbClr val="1B2640"/>
                          </a:solidFill>
                          <a:latin typeface="Calibri"/>
                        </a:rPr>
                        <a:t>Perbandingan tiga kondisi dengan beban dan pengujian setara</a:t>
                      </a:r>
                    </a:p>
                  </a:txBody>
                  <a:tcPr>
                    <a:solidFill>
                      <a:srgbClr val="FFFFFF"/>
                    </a:solidFill>
                  </a:tcPr>
                </a:tc>
                <a:tc>
                  <a:txBody>
                    <a:bodyPr/>
                    <a:lstStyle/>
                    <a:p>
                      <a:r>
                        <a:rPr sz="1100">
                          <a:solidFill>
                            <a:srgbClr val="1B2640"/>
                          </a:solidFill>
                          <a:latin typeface="Calibri"/>
                        </a:rPr>
                        <a:t>Matriks perbandingan tiga kondisi</a:t>
                      </a:r>
                    </a:p>
                  </a:txBody>
                  <a:tcPr>
                    <a:solidFill>
                      <a:srgbClr val="FFFFFF"/>
                    </a:solidFill>
                  </a:tcPr>
                </a:tc>
              </a:tr>
            </a:tbl>
          </a:graphicData>
        </a:graphic>
      </p:graphicFrame>
      <p:sp>
        <p:nvSpPr>
          <p:cNvPr id="4" name="TextBox 3"/>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5B6B8A"/>
                </a:solidFill>
                <a:latin typeface="Calibri"/>
              </a:rPr>
              <a:t>S1 Teknik Informatika  |  Universitas Negeri Surabaya</a:t>
            </a:r>
          </a:p>
          <a:p>
            <a:pPr algn="r">
              <a:spcAft>
                <a:spcPts val="400"/>
              </a:spcAft>
            </a:pPr>
            <a:r>
              <a:rPr sz="1200" b="0">
                <a:solidFill>
                  <a:srgbClr val="5B6B8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1463040"/>
          </a:xfrm>
          <a:prstGeom prst="rect">
            <a:avLst/>
          </a:prstGeom>
          <a:noFill/>
        </p:spPr>
        <p:txBody>
          <a:bodyPr wrap="square" anchor="t">
            <a:spAutoFit/>
          </a:bodyPr>
          <a:lstStyle/>
          <a:p>
            <a:pPr>
              <a:spcAft>
                <a:spcPts val="400"/>
              </a:spcAft>
            </a:pPr>
            <a:r>
              <a:rPr sz="3000" b="1">
                <a:solidFill>
                  <a:srgbClr val="12284C"/>
                </a:solidFill>
                <a:latin typeface="Cambria"/>
              </a:rPr>
              <a:t>Tiga kondisi arsitektur dibandingkan dengan fungsi bisnis yang sama</a:t>
            </a:r>
          </a:p>
          <a:p>
            <a:pPr>
              <a:spcAft>
                <a:spcPts val="400"/>
              </a:spcAft>
            </a:pPr>
            <a:r>
              <a:rPr sz="1600" b="0">
                <a:solidFill>
                  <a:srgbClr val="5B6B8A"/>
                </a:solidFill>
                <a:latin typeface="Calibri"/>
              </a:rPr>
              <a:t>Fungsi bisnis sama; yang berbeda hanya paket proteksi konsistensi data.</a:t>
            </a:r>
          </a:p>
        </p:txBody>
      </p:sp>
      <p:graphicFrame>
        <p:nvGraphicFramePr>
          <p:cNvPr id="3" name="Table 2"/>
          <p:cNvGraphicFramePr>
            <a:graphicFrameLocks noGrp="1"/>
          </p:cNvGraphicFramePr>
          <p:nvPr/>
        </p:nvGraphicFramePr>
        <p:xfrm>
          <a:off x="640080" y="2286000"/>
          <a:ext cx="10881360" cy="3840480"/>
        </p:xfrm>
        <a:graphic>
          <a:graphicData uri="http://schemas.openxmlformats.org/drawingml/2006/table">
            <a:tbl>
              <a:tblPr firstRow="1" bandRow="1">
                <a:tableStyleId>{5C22544A-7EE6-4342-B048-85BDC9FD1C3A}</a:tableStyleId>
              </a:tblPr>
              <a:tblGrid>
                <a:gridCol w="2720340"/>
                <a:gridCol w="2720340"/>
                <a:gridCol w="2720340"/>
                <a:gridCol w="2720340"/>
              </a:tblGrid>
              <a:tr h="768096">
                <a:tc>
                  <a:txBody>
                    <a:bodyPr/>
                    <a:lstStyle/>
                    <a:p>
                      <a:r>
                        <a:rPr sz="1200" b="1">
                          <a:solidFill>
                            <a:srgbClr val="FFFFFF"/>
                          </a:solidFill>
                          <a:latin typeface="Cambria"/>
                        </a:rPr>
                        <a:t>Aspek</a:t>
                      </a:r>
                    </a:p>
                  </a:txBody>
                  <a:tcPr>
                    <a:solidFill>
                      <a:srgbClr val="1F2937"/>
                    </a:solidFill>
                  </a:tcPr>
                </a:tc>
                <a:tc>
                  <a:txBody>
                    <a:bodyPr/>
                    <a:lstStyle/>
                    <a:p>
                      <a:r>
                        <a:rPr sz="1200" b="1">
                          <a:solidFill>
                            <a:srgbClr val="FFFFFF"/>
                          </a:solidFill>
                          <a:latin typeface="Cambria"/>
                        </a:rPr>
                        <a:t>Monolith Terpusat</a:t>
                      </a:r>
                    </a:p>
                  </a:txBody>
                  <a:tcPr>
                    <a:solidFill>
                      <a:srgbClr val="1F2937"/>
                    </a:solidFill>
                  </a:tcPr>
                </a:tc>
                <a:tc>
                  <a:txBody>
                    <a:bodyPr/>
                    <a:lstStyle/>
                    <a:p>
                      <a:r>
                        <a:rPr sz="1200" b="1">
                          <a:solidFill>
                            <a:srgbClr val="FFFFFF"/>
                          </a:solidFill>
                          <a:latin typeface="Cambria"/>
                        </a:rPr>
                        <a:t>Event-Driven Microservices tanpa Proteksi Konsistensi Data</a:t>
                      </a:r>
                    </a:p>
                  </a:txBody>
                  <a:tcPr>
                    <a:solidFill>
                      <a:srgbClr val="1F2937"/>
                    </a:solidFill>
                  </a:tcPr>
                </a:tc>
                <a:tc>
                  <a:txBody>
                    <a:bodyPr/>
                    <a:lstStyle/>
                    <a:p>
                      <a:r>
                        <a:rPr sz="1200" b="1">
                          <a:solidFill>
                            <a:srgbClr val="FFFFFF"/>
                          </a:solidFill>
                          <a:latin typeface="Cambria"/>
                        </a:rPr>
                        <a:t>Event-Driven Microservices dengan Proteksi Konsistensi Data</a:t>
                      </a:r>
                    </a:p>
                  </a:txBody>
                  <a:tcPr>
                    <a:solidFill>
                      <a:srgbClr val="1F2937"/>
                    </a:solidFill>
                  </a:tcPr>
                </a:tc>
              </a:tr>
              <a:tr h="768096">
                <a:tc>
                  <a:txBody>
                    <a:bodyPr/>
                    <a:lstStyle/>
                    <a:p>
                      <a:r>
                        <a:rPr sz="1100">
                          <a:solidFill>
                            <a:srgbClr val="1B2640"/>
                          </a:solidFill>
                          <a:latin typeface="Calibri"/>
                        </a:rPr>
                        <a:t>Susunan</a:t>
                      </a:r>
                    </a:p>
                  </a:txBody>
                  <a:tcPr>
                    <a:solidFill>
                      <a:srgbClr val="EEF2F8"/>
                    </a:solidFill>
                  </a:tcPr>
                </a:tc>
                <a:tc>
                  <a:txBody>
                    <a:bodyPr/>
                    <a:lstStyle/>
                    <a:p>
                      <a:r>
                        <a:rPr sz="1100">
                          <a:solidFill>
                            <a:srgbClr val="1B2640"/>
                          </a:solidFill>
                          <a:latin typeface="Calibri"/>
                        </a:rPr>
                        <a:t>Satu aplikasi Laravel, empat modul</a:t>
                      </a:r>
                    </a:p>
                  </a:txBody>
                  <a:tcPr>
                    <a:solidFill>
                      <a:srgbClr val="EEF2F8"/>
                    </a:solidFill>
                  </a:tcPr>
                </a:tc>
                <a:tc>
                  <a:txBody>
                    <a:bodyPr/>
                    <a:lstStyle/>
                    <a:p>
                      <a:r>
                        <a:rPr sz="1100">
                          <a:solidFill>
                            <a:srgbClr val="1B2640"/>
                          </a:solidFill>
                          <a:latin typeface="Calibri"/>
                        </a:rPr>
                        <a:t>Empat layanan NestJS</a:t>
                      </a:r>
                    </a:p>
                  </a:txBody>
                  <a:tcPr>
                    <a:solidFill>
                      <a:srgbClr val="EEF2F8"/>
                    </a:solidFill>
                  </a:tcPr>
                </a:tc>
                <a:tc>
                  <a:txBody>
                    <a:bodyPr/>
                    <a:lstStyle/>
                    <a:p>
                      <a:r>
                        <a:rPr sz="1100">
                          <a:solidFill>
                            <a:srgbClr val="1B2640"/>
                          </a:solidFill>
                          <a:latin typeface="Calibri"/>
                        </a:rPr>
                        <a:t>Empat layanan NestJS</a:t>
                      </a:r>
                    </a:p>
                  </a:txBody>
                  <a:tcPr>
                    <a:solidFill>
                      <a:srgbClr val="EEF2F8"/>
                    </a:solidFill>
                  </a:tcPr>
                </a:tc>
              </a:tr>
              <a:tr h="768096">
                <a:tc>
                  <a:txBody>
                    <a:bodyPr/>
                    <a:lstStyle/>
                    <a:p>
                      <a:r>
                        <a:rPr sz="1100">
                          <a:solidFill>
                            <a:srgbClr val="1B2640"/>
                          </a:solidFill>
                          <a:latin typeface="Calibri"/>
                        </a:rPr>
                        <a:t>Basis data</a:t>
                      </a:r>
                    </a:p>
                  </a:txBody>
                  <a:tcPr>
                    <a:solidFill>
                      <a:srgbClr val="FFFFFF"/>
                    </a:solidFill>
                  </a:tcPr>
                </a:tc>
                <a:tc>
                  <a:txBody>
                    <a:bodyPr/>
                    <a:lstStyle/>
                    <a:p>
                      <a:r>
                        <a:rPr sz="1100">
                          <a:solidFill>
                            <a:srgbClr val="1B2640"/>
                          </a:solidFill>
                          <a:latin typeface="Calibri"/>
                        </a:rPr>
                        <a:t>Satu MySQL bersama</a:t>
                      </a:r>
                    </a:p>
                  </a:txBody>
                  <a:tcPr>
                    <a:solidFill>
                      <a:srgbClr val="FFFFFF"/>
                    </a:solidFill>
                  </a:tcPr>
                </a:tc>
                <a:tc>
                  <a:txBody>
                    <a:bodyPr/>
                    <a:lstStyle/>
                    <a:p>
                      <a:r>
                        <a:rPr sz="1100">
                          <a:solidFill>
                            <a:srgbClr val="1B2640"/>
                          </a:solidFill>
                          <a:latin typeface="Calibri"/>
                        </a:rPr>
                        <a:t>MySQL per layanan</a:t>
                      </a:r>
                    </a:p>
                  </a:txBody>
                  <a:tcPr>
                    <a:solidFill>
                      <a:srgbClr val="FFFFFF"/>
                    </a:solidFill>
                  </a:tcPr>
                </a:tc>
                <a:tc>
                  <a:txBody>
                    <a:bodyPr/>
                    <a:lstStyle/>
                    <a:p>
                      <a:r>
                        <a:rPr sz="1100">
                          <a:solidFill>
                            <a:srgbClr val="1B2640"/>
                          </a:solidFill>
                          <a:latin typeface="Calibri"/>
                        </a:rPr>
                        <a:t>MySQL per layanan</a:t>
                      </a:r>
                    </a:p>
                  </a:txBody>
                  <a:tcPr>
                    <a:solidFill>
                      <a:srgbClr val="FFFFFF"/>
                    </a:solidFill>
                  </a:tcPr>
                </a:tc>
              </a:tr>
              <a:tr h="768096">
                <a:tc>
                  <a:txBody>
                    <a:bodyPr/>
                    <a:lstStyle/>
                    <a:p>
                      <a:r>
                        <a:rPr sz="1100">
                          <a:solidFill>
                            <a:srgbClr val="1B2640"/>
                          </a:solidFill>
                          <a:latin typeface="Calibri"/>
                        </a:rPr>
                        <a:t>Komunikasi</a:t>
                      </a:r>
                    </a:p>
                  </a:txBody>
                  <a:tcPr>
                    <a:solidFill>
                      <a:srgbClr val="EEF2F8"/>
                    </a:solidFill>
                  </a:tcPr>
                </a:tc>
                <a:tc>
                  <a:txBody>
                    <a:bodyPr/>
                    <a:lstStyle/>
                    <a:p>
                      <a:r>
                        <a:rPr sz="1100">
                          <a:solidFill>
                            <a:srgbClr val="1B2640"/>
                          </a:solidFill>
                          <a:latin typeface="Calibri"/>
                        </a:rPr>
                        <a:t>Fungsi internal</a:t>
                      </a:r>
                    </a:p>
                  </a:txBody>
                  <a:tcPr>
                    <a:solidFill>
                      <a:srgbClr val="EEF2F8"/>
                    </a:solidFill>
                  </a:tcPr>
                </a:tc>
                <a:tc>
                  <a:txBody>
                    <a:bodyPr/>
                    <a:lstStyle/>
                    <a:p>
                      <a:r>
                        <a:rPr sz="1100">
                          <a:solidFill>
                            <a:srgbClr val="1B2640"/>
                          </a:solidFill>
                          <a:latin typeface="Calibri"/>
                        </a:rPr>
                        <a:t>RabbitMQ</a:t>
                      </a:r>
                    </a:p>
                  </a:txBody>
                  <a:tcPr>
                    <a:solidFill>
                      <a:srgbClr val="EEF2F8"/>
                    </a:solidFill>
                  </a:tcPr>
                </a:tc>
                <a:tc>
                  <a:txBody>
                    <a:bodyPr/>
                    <a:lstStyle/>
                    <a:p>
                      <a:r>
                        <a:rPr sz="1100">
                          <a:solidFill>
                            <a:srgbClr val="1B2640"/>
                          </a:solidFill>
                          <a:latin typeface="Calibri"/>
                        </a:rPr>
                        <a:t>RabbitMQ</a:t>
                      </a:r>
                    </a:p>
                  </a:txBody>
                  <a:tcPr>
                    <a:solidFill>
                      <a:srgbClr val="EEF2F8"/>
                    </a:solidFill>
                  </a:tcPr>
                </a:tc>
              </a:tr>
              <a:tr h="768096">
                <a:tc>
                  <a:txBody>
                    <a:bodyPr/>
                    <a:lstStyle/>
                    <a:p>
                      <a:r>
                        <a:rPr sz="1100">
                          <a:solidFill>
                            <a:srgbClr val="1B2640"/>
                          </a:solidFill>
                          <a:latin typeface="Calibri"/>
                        </a:rPr>
                        <a:t>Proteksi</a:t>
                      </a:r>
                    </a:p>
                  </a:txBody>
                  <a:tcPr>
                    <a:solidFill>
                      <a:srgbClr val="FFFFFF"/>
                    </a:solidFill>
                  </a:tcPr>
                </a:tc>
                <a:tc>
                  <a:txBody>
                    <a:bodyPr/>
                    <a:lstStyle/>
                    <a:p>
                      <a:r>
                        <a:rPr sz="1100">
                          <a:solidFill>
                            <a:srgbClr val="1B2640"/>
                          </a:solidFill>
                          <a:latin typeface="Calibri"/>
                        </a:rPr>
                        <a:t>Transaksi basis data tunggal</a:t>
                      </a:r>
                    </a:p>
                  </a:txBody>
                  <a:tcPr>
                    <a:solidFill>
                      <a:srgbClr val="FFFFFF"/>
                    </a:solidFill>
                  </a:tcPr>
                </a:tc>
                <a:tc>
                  <a:txBody>
                    <a:bodyPr/>
                    <a:lstStyle/>
                    <a:p>
                      <a:r>
                        <a:rPr sz="1100">
                          <a:solidFill>
                            <a:srgbClr val="1B2640"/>
                          </a:solidFill>
                          <a:latin typeface="Calibri"/>
                        </a:rPr>
                        <a:t>Tanpa lima mekanisme</a:t>
                      </a:r>
                    </a:p>
                  </a:txBody>
                  <a:tcPr>
                    <a:solidFill>
                      <a:srgbClr val="FFFFFF"/>
                    </a:solidFill>
                  </a:tcPr>
                </a:tc>
                <a:tc>
                  <a:txBody>
                    <a:bodyPr/>
                    <a:lstStyle/>
                    <a:p>
                      <a:r>
                        <a:rPr sz="1100">
                          <a:solidFill>
                            <a:srgbClr val="1B2640"/>
                          </a:solidFill>
                          <a:latin typeface="Calibri"/>
                        </a:rPr>
                        <a:t>Ditambah lima mekanisme</a:t>
                      </a:r>
                    </a:p>
                  </a:txBody>
                  <a:tcPr>
                    <a:solidFill>
                      <a:srgbClr val="FFFFFF"/>
                    </a:solidFill>
                  </a:tcPr>
                </a:tc>
              </a:tr>
            </a:tbl>
          </a:graphicData>
        </a:graphic>
      </p:graphicFrame>
      <p:sp>
        <p:nvSpPr>
          <p:cNvPr id="4" name="TextBox 3"/>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5B6B8A"/>
                </a:solidFill>
                <a:latin typeface="Calibri"/>
              </a:rPr>
              <a:t>S1 Teknik Informatika  |  Universitas Negeri Surabaya</a:t>
            </a:r>
          </a:p>
          <a:p>
            <a:pPr algn="r">
              <a:spcAft>
                <a:spcPts val="400"/>
              </a:spcAft>
            </a:pPr>
            <a:r>
              <a:rPr sz="1200" b="0">
                <a:solidFill>
                  <a:srgbClr val="5B6B8A"/>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1463040"/>
          </a:xfrm>
          <a:prstGeom prst="rect">
            <a:avLst/>
          </a:prstGeom>
          <a:noFill/>
        </p:spPr>
        <p:txBody>
          <a:bodyPr wrap="square" anchor="t">
            <a:spAutoFit/>
          </a:bodyPr>
          <a:lstStyle/>
          <a:p>
            <a:pPr>
              <a:spcAft>
                <a:spcPts val="400"/>
              </a:spcAft>
            </a:pPr>
            <a:r>
              <a:rPr sz="3000" b="1">
                <a:solidFill>
                  <a:srgbClr val="12284C"/>
                </a:solidFill>
                <a:latin typeface="Cambria"/>
              </a:rPr>
              <a:t>Konsistensi dinilai dari kondisi akhir data, bukan selisih sementara</a:t>
            </a:r>
          </a:p>
        </p:txBody>
      </p:sp>
      <p:sp>
        <p:nvSpPr>
          <p:cNvPr id="3" name="TextBox 2"/>
          <p:cNvSpPr txBox="1"/>
          <p:nvPr/>
        </p:nvSpPr>
        <p:spPr>
          <a:xfrm>
            <a:off x="640080" y="2286000"/>
            <a:ext cx="5212080" cy="3657600"/>
          </a:xfrm>
          <a:prstGeom prst="rect">
            <a:avLst/>
          </a:prstGeom>
          <a:noFill/>
        </p:spPr>
        <p:txBody>
          <a:bodyPr wrap="square" anchor="t">
            <a:spAutoFit/>
          </a:bodyPr>
          <a:lstStyle/>
          <a:p>
            <a:pPr>
              <a:spcAft>
                <a:spcPts val="400"/>
              </a:spcAft>
            </a:pPr>
            <a:r>
              <a:rPr sz="1800" b="1">
                <a:solidFill>
                  <a:srgbClr val="C9A227"/>
                </a:solidFill>
                <a:latin typeface="Cambria"/>
              </a:rPr>
              <a:t>Dua aspek konsistensi data</a:t>
            </a:r>
          </a:p>
          <a:p>
            <a:pPr>
              <a:spcAft>
                <a:spcPts val="400"/>
              </a:spcAft>
            </a:pPr>
            <a:r>
              <a:rPr sz="1400" b="0">
                <a:solidFill>
                  <a:srgbClr val="1B2640"/>
                </a:solidFill>
                <a:latin typeface="Calibri"/>
              </a:rPr>
              <a:t>Kondisi akhir data benar setelah dipertukarkan lintas layanan. Selisih sementara antarlayanan wajar; yang dinilai adalah kondisi setelah recovery window. Ini berbeda dari Consistency ACID yang hanya berlaku satu transaksi basis data.</a:t>
            </a:r>
          </a:p>
        </p:txBody>
      </p:sp>
      <p:sp>
        <p:nvSpPr>
          <p:cNvPr id="4" name="TextBox 3"/>
          <p:cNvSpPr txBox="1"/>
          <p:nvPr/>
        </p:nvSpPr>
        <p:spPr>
          <a:xfrm>
            <a:off x="6309360" y="2286000"/>
            <a:ext cx="5212080" cy="3657600"/>
          </a:xfrm>
          <a:prstGeom prst="rect">
            <a:avLst/>
          </a:prstGeom>
          <a:noFill/>
        </p:spPr>
        <p:txBody>
          <a:bodyPr wrap="square" anchor="t">
            <a:spAutoFit/>
          </a:bodyPr>
          <a:lstStyle/>
          <a:p>
            <a:pPr>
              <a:spcAft>
                <a:spcPts val="400"/>
              </a:spcAft>
            </a:pPr>
            <a:r>
              <a:rPr sz="1800" b="1">
                <a:solidFill>
                  <a:srgbClr val="C9A227"/>
                </a:solidFill>
                <a:latin typeface="Cambria"/>
              </a:rPr>
              <a:t>Empat invariant bisnis</a:t>
            </a:r>
          </a:p>
          <a:p>
            <a:pPr>
              <a:spcAft>
                <a:spcPts val="400"/>
              </a:spcAft>
            </a:pPr>
            <a:r>
              <a:rPr sz="1400" b="0">
                <a:solidFill>
                  <a:srgbClr val="1B2640"/>
                </a:solidFill>
                <a:latin typeface="Calibri"/>
              </a:rPr>
              <a:t>Available sama dengan On-Hand dikurangi Reserved. Available tidak di bawah 0. Saldo akhir sama dengan awal ditambah masuk dikurangi terjual. Status final tidak kembali aktif.</a:t>
            </a:r>
          </a:p>
        </p:txBody>
      </p:sp>
      <p:sp>
        <p:nvSpPr>
          <p:cNvPr id="5" name="Rectangle 4"/>
          <p:cNvSpPr/>
          <p:nvPr/>
        </p:nvSpPr>
        <p:spPr>
          <a:xfrm>
            <a:off x="5989320" y="2286000"/>
            <a:ext cx="27432" cy="3657600"/>
          </a:xfrm>
          <a:prstGeom prst="rect">
            <a:avLst/>
          </a:prstGeom>
          <a:solidFill>
            <a:srgbClr val="D5D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5B6B8A"/>
                </a:solidFill>
                <a:latin typeface="Calibri"/>
              </a:rPr>
              <a:t>S1 Teknik Informatika  |  Universitas Negeri Surabaya</a:t>
            </a:r>
          </a:p>
          <a:p>
            <a:pPr algn="r">
              <a:spcAft>
                <a:spcPts val="400"/>
              </a:spcAft>
            </a:pPr>
            <a:r>
              <a:rPr sz="1200" b="0">
                <a:solidFill>
                  <a:srgbClr val="5B6B8A"/>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1463040"/>
          </a:xfrm>
          <a:prstGeom prst="rect">
            <a:avLst/>
          </a:prstGeom>
          <a:noFill/>
        </p:spPr>
        <p:txBody>
          <a:bodyPr wrap="square" anchor="t">
            <a:spAutoFit/>
          </a:bodyPr>
          <a:lstStyle/>
          <a:p>
            <a:pPr>
              <a:spcAft>
                <a:spcPts val="400"/>
              </a:spcAft>
            </a:pPr>
            <a:r>
              <a:rPr sz="1200" b="1">
                <a:solidFill>
                  <a:srgbClr val="C9A227"/>
                </a:solidFill>
                <a:latin typeface="Cambria"/>
              </a:rPr>
              <a:t>AGENDA</a:t>
            </a:r>
          </a:p>
          <a:p>
            <a:pPr>
              <a:spcAft>
                <a:spcPts val="400"/>
              </a:spcAft>
            </a:pPr>
            <a:r>
              <a:rPr sz="3000" b="1">
                <a:solidFill>
                  <a:srgbClr val="12284C"/>
                </a:solidFill>
                <a:latin typeface="Cambria"/>
              </a:rPr>
              <a:t>Satu data, satu pemilik: empat domain dengan otoritas data jelas</a:t>
            </a:r>
          </a:p>
          <a:p>
            <a:pPr>
              <a:spcAft>
                <a:spcPts val="400"/>
              </a:spcAft>
            </a:pPr>
            <a:r>
              <a:rPr sz="1600" b="0">
                <a:solidFill>
                  <a:srgbClr val="5B6B8A"/>
                </a:solidFill>
                <a:latin typeface="Calibri"/>
              </a:rPr>
              <a:t>Aturan otoritas: data hanya diubah layanan pemiliknya. Pelaporan hanya salinan baca. Antarlayanan lewat RabbitMQ.</a:t>
            </a:r>
          </a:p>
        </p:txBody>
      </p:sp>
      <p:sp>
        <p:nvSpPr>
          <p:cNvPr id="3" name="Rounded Rectangle 2"/>
          <p:cNvSpPr/>
          <p:nvPr/>
        </p:nvSpPr>
        <p:spPr>
          <a:xfrm>
            <a:off x="640080" y="2286000"/>
            <a:ext cx="2377440" cy="173736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468880"/>
            <a:ext cx="1920240" cy="1371600"/>
          </a:xfrm>
          <a:prstGeom prst="rect">
            <a:avLst/>
          </a:prstGeom>
          <a:noFill/>
        </p:spPr>
        <p:txBody>
          <a:bodyPr wrap="square" anchor="t">
            <a:spAutoFit/>
          </a:bodyPr>
          <a:lstStyle/>
          <a:p>
            <a:pPr>
              <a:spcAft>
                <a:spcPts val="400"/>
              </a:spcAft>
            </a:pPr>
            <a:r>
              <a:rPr sz="1300" b="1">
                <a:solidFill>
                  <a:srgbClr val="C9A227"/>
                </a:solidFill>
                <a:latin typeface="Cambria"/>
              </a:rPr>
              <a:t>01</a:t>
            </a:r>
          </a:p>
          <a:p>
            <a:pPr>
              <a:spcAft>
                <a:spcPts val="400"/>
              </a:spcAft>
            </a:pPr>
            <a:r>
              <a:rPr sz="1500" b="1">
                <a:solidFill>
                  <a:srgbClr val="FFFFFF"/>
                </a:solidFill>
                <a:latin typeface="Cambria"/>
              </a:rPr>
              <a:t>Penjualan</a:t>
            </a:r>
          </a:p>
          <a:p>
            <a:pPr>
              <a:spcAft>
                <a:spcPts val="400"/>
              </a:spcAft>
            </a:pPr>
            <a:r>
              <a:rPr sz="1200" b="0">
                <a:solidFill>
                  <a:srgbClr val="5B6B8A"/>
                </a:solidFill>
                <a:latin typeface="Calibri"/>
              </a:rPr>
              <a:t>Pemilik data order, item, dan status transaksi.</a:t>
            </a:r>
          </a:p>
        </p:txBody>
      </p:sp>
      <p:sp>
        <p:nvSpPr>
          <p:cNvPr id="5" name="Rounded Rectangle 4"/>
          <p:cNvSpPr/>
          <p:nvPr/>
        </p:nvSpPr>
        <p:spPr>
          <a:xfrm>
            <a:off x="3474720" y="2286000"/>
            <a:ext cx="2377440" cy="173736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03320" y="2468880"/>
            <a:ext cx="1920240" cy="1371600"/>
          </a:xfrm>
          <a:prstGeom prst="rect">
            <a:avLst/>
          </a:prstGeom>
          <a:noFill/>
        </p:spPr>
        <p:txBody>
          <a:bodyPr wrap="square" anchor="t">
            <a:spAutoFit/>
          </a:bodyPr>
          <a:lstStyle/>
          <a:p>
            <a:pPr>
              <a:spcAft>
                <a:spcPts val="400"/>
              </a:spcAft>
            </a:pPr>
            <a:r>
              <a:rPr sz="1300" b="1">
                <a:solidFill>
                  <a:srgbClr val="C9A227"/>
                </a:solidFill>
                <a:latin typeface="Cambria"/>
              </a:rPr>
              <a:t>02</a:t>
            </a:r>
          </a:p>
          <a:p>
            <a:pPr>
              <a:spcAft>
                <a:spcPts val="400"/>
              </a:spcAft>
            </a:pPr>
            <a:r>
              <a:rPr sz="1500" b="1">
                <a:solidFill>
                  <a:srgbClr val="FFFFFF"/>
                </a:solidFill>
                <a:latin typeface="Cambria"/>
              </a:rPr>
              <a:t>Persediaan</a:t>
            </a:r>
          </a:p>
          <a:p>
            <a:pPr>
              <a:spcAft>
                <a:spcPts val="400"/>
              </a:spcAft>
            </a:pPr>
            <a:r>
              <a:rPr sz="1200" b="0">
                <a:solidFill>
                  <a:srgbClr val="5B6B8A"/>
                </a:solidFill>
                <a:latin typeface="Calibri"/>
              </a:rPr>
              <a:t>Pemilik data on-hand, reserved, dan mutasi stok.</a:t>
            </a:r>
          </a:p>
        </p:txBody>
      </p:sp>
      <p:sp>
        <p:nvSpPr>
          <p:cNvPr id="7" name="Rounded Rectangle 6"/>
          <p:cNvSpPr/>
          <p:nvPr/>
        </p:nvSpPr>
        <p:spPr>
          <a:xfrm>
            <a:off x="6309360" y="2286000"/>
            <a:ext cx="2377440" cy="173736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2468880"/>
            <a:ext cx="1920240" cy="1371600"/>
          </a:xfrm>
          <a:prstGeom prst="rect">
            <a:avLst/>
          </a:prstGeom>
          <a:noFill/>
        </p:spPr>
        <p:txBody>
          <a:bodyPr wrap="square" anchor="t">
            <a:spAutoFit/>
          </a:bodyPr>
          <a:lstStyle/>
          <a:p>
            <a:pPr>
              <a:spcAft>
                <a:spcPts val="400"/>
              </a:spcAft>
            </a:pPr>
            <a:r>
              <a:rPr sz="1300" b="1">
                <a:solidFill>
                  <a:srgbClr val="C9A227"/>
                </a:solidFill>
                <a:latin typeface="Cambria"/>
              </a:rPr>
              <a:t>03</a:t>
            </a:r>
          </a:p>
          <a:p>
            <a:pPr>
              <a:spcAft>
                <a:spcPts val="400"/>
              </a:spcAft>
            </a:pPr>
            <a:r>
              <a:rPr sz="1500" b="1">
                <a:solidFill>
                  <a:srgbClr val="FFFFFF"/>
                </a:solidFill>
                <a:latin typeface="Cambria"/>
              </a:rPr>
              <a:t>Pembayaran</a:t>
            </a:r>
          </a:p>
          <a:p>
            <a:pPr>
              <a:spcAft>
                <a:spcPts val="400"/>
              </a:spcAft>
            </a:pPr>
            <a:r>
              <a:rPr sz="1200" b="0">
                <a:solidFill>
                  <a:srgbClr val="5B6B8A"/>
                </a:solidFill>
                <a:latin typeface="Calibri"/>
              </a:rPr>
              <a:t>Pemilik data tagihan dan notifikasi bayar.</a:t>
            </a:r>
          </a:p>
        </p:txBody>
      </p:sp>
      <p:sp>
        <p:nvSpPr>
          <p:cNvPr id="9" name="Rounded Rectangle 8"/>
          <p:cNvSpPr/>
          <p:nvPr/>
        </p:nvSpPr>
        <p:spPr>
          <a:xfrm>
            <a:off x="9144000" y="2286000"/>
            <a:ext cx="2377440" cy="173736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72600" y="2468880"/>
            <a:ext cx="1920240" cy="1371600"/>
          </a:xfrm>
          <a:prstGeom prst="rect">
            <a:avLst/>
          </a:prstGeom>
          <a:noFill/>
        </p:spPr>
        <p:txBody>
          <a:bodyPr wrap="square" anchor="t">
            <a:spAutoFit/>
          </a:bodyPr>
          <a:lstStyle/>
          <a:p>
            <a:pPr>
              <a:spcAft>
                <a:spcPts val="400"/>
              </a:spcAft>
            </a:pPr>
            <a:r>
              <a:rPr sz="1300" b="1">
                <a:solidFill>
                  <a:srgbClr val="C9A227"/>
                </a:solidFill>
                <a:latin typeface="Cambria"/>
              </a:rPr>
              <a:t>04</a:t>
            </a:r>
          </a:p>
          <a:p>
            <a:pPr>
              <a:spcAft>
                <a:spcPts val="400"/>
              </a:spcAft>
            </a:pPr>
            <a:r>
              <a:rPr sz="1500" b="1">
                <a:solidFill>
                  <a:srgbClr val="FFFFFF"/>
                </a:solidFill>
                <a:latin typeface="Cambria"/>
              </a:rPr>
              <a:t>Pelaporan</a:t>
            </a:r>
          </a:p>
          <a:p>
            <a:pPr>
              <a:spcAft>
                <a:spcPts val="400"/>
              </a:spcAft>
            </a:pPr>
            <a:r>
              <a:rPr sz="1200" b="0">
                <a:solidFill>
                  <a:srgbClr val="5B6B8A"/>
                </a:solidFill>
                <a:latin typeface="Calibri"/>
              </a:rPr>
              <a:t>Tanpa data otoritatif; hanya salinan untuk dibaca.</a:t>
            </a:r>
          </a:p>
        </p:txBody>
      </p:sp>
      <p:sp>
        <p:nvSpPr>
          <p:cNvPr id="11" name="TextBox 10"/>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5B6B8A"/>
                </a:solidFill>
                <a:latin typeface="Calibri"/>
              </a:rPr>
              <a:t>S1 Teknik Informatika  |  Universitas Negeri Surabaya</a:t>
            </a:r>
          </a:p>
          <a:p>
            <a:pPr algn="r">
              <a:spcAft>
                <a:spcPts val="400"/>
              </a:spcAft>
            </a:pPr>
            <a:r>
              <a:rPr sz="1200" b="0">
                <a:solidFill>
                  <a:srgbClr val="5B6B8A"/>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1463040"/>
          </a:xfrm>
          <a:prstGeom prst="rect">
            <a:avLst/>
          </a:prstGeom>
          <a:noFill/>
        </p:spPr>
        <p:txBody>
          <a:bodyPr wrap="square" anchor="t">
            <a:spAutoFit/>
          </a:bodyPr>
          <a:lstStyle/>
          <a:p>
            <a:pPr>
              <a:spcAft>
                <a:spcPts val="400"/>
              </a:spcAft>
            </a:pPr>
            <a:r>
              <a:rPr sz="1200" b="1">
                <a:solidFill>
                  <a:srgbClr val="C9A227"/>
                </a:solidFill>
                <a:latin typeface="Cambria"/>
              </a:rPr>
              <a:t>AGENDA</a:t>
            </a:r>
          </a:p>
          <a:p>
            <a:pPr>
              <a:spcAft>
                <a:spcPts val="400"/>
              </a:spcAft>
            </a:pPr>
            <a:r>
              <a:rPr sz="3000" b="1">
                <a:solidFill>
                  <a:srgbClr val="12284C"/>
                </a:solidFill>
                <a:latin typeface="Cambria"/>
              </a:rPr>
              <a:t>Lima mekanisme proteksi, masing-masing menargetkan satu risiko</a:t>
            </a:r>
          </a:p>
          <a:p>
            <a:pPr>
              <a:spcAft>
                <a:spcPts val="400"/>
              </a:spcAft>
            </a:pPr>
            <a:r>
              <a:rPr sz="1600" b="0">
                <a:solidFill>
                  <a:srgbClr val="5B6B8A"/>
                </a:solidFill>
                <a:latin typeface="Calibri"/>
              </a:rPr>
              <a:t>Outbox dan OCC fokus utama; paket dinilai keseluruhan, bukan per mekanisme.</a:t>
            </a:r>
          </a:p>
        </p:txBody>
      </p:sp>
      <p:sp>
        <p:nvSpPr>
          <p:cNvPr id="3" name="Rounded Rectangle 2"/>
          <p:cNvSpPr/>
          <p:nvPr/>
        </p:nvSpPr>
        <p:spPr>
          <a:xfrm>
            <a:off x="640080" y="2286000"/>
            <a:ext cx="2377440" cy="173736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468880"/>
            <a:ext cx="1920240" cy="1371600"/>
          </a:xfrm>
          <a:prstGeom prst="rect">
            <a:avLst/>
          </a:prstGeom>
          <a:noFill/>
        </p:spPr>
        <p:txBody>
          <a:bodyPr wrap="square" anchor="t">
            <a:spAutoFit/>
          </a:bodyPr>
          <a:lstStyle/>
          <a:p>
            <a:pPr>
              <a:spcAft>
                <a:spcPts val="400"/>
              </a:spcAft>
            </a:pPr>
            <a:r>
              <a:rPr sz="1300" b="1">
                <a:solidFill>
                  <a:srgbClr val="C9A227"/>
                </a:solidFill>
                <a:latin typeface="Cambria"/>
              </a:rPr>
              <a:t>01</a:t>
            </a:r>
          </a:p>
          <a:p>
            <a:pPr>
              <a:spcAft>
                <a:spcPts val="400"/>
              </a:spcAft>
            </a:pPr>
            <a:r>
              <a:rPr sz="1500" b="1">
                <a:solidFill>
                  <a:srgbClr val="FFFFFF"/>
                </a:solidFill>
                <a:latin typeface="Cambria"/>
              </a:rPr>
              <a:t>Transactional Outbox</a:t>
            </a:r>
          </a:p>
          <a:p>
            <a:pPr>
              <a:spcAft>
                <a:spcPts val="400"/>
              </a:spcAft>
            </a:pPr>
            <a:r>
              <a:rPr sz="1200" b="0">
                <a:solidFill>
                  <a:srgbClr val="5B6B8A"/>
                </a:solidFill>
                <a:latin typeface="Calibri"/>
              </a:rPr>
              <a:t>Mencegah F1: event pasti terbit bersama transaksi. Richardson (2018) mendokumentasikan secara sistematis pola ini.</a:t>
            </a:r>
          </a:p>
        </p:txBody>
      </p:sp>
      <p:sp>
        <p:nvSpPr>
          <p:cNvPr id="5" name="Rounded Rectangle 4"/>
          <p:cNvSpPr/>
          <p:nvPr/>
        </p:nvSpPr>
        <p:spPr>
          <a:xfrm>
            <a:off x="3474720" y="2286000"/>
            <a:ext cx="2377440" cy="173736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03320" y="2468880"/>
            <a:ext cx="1920240" cy="1371600"/>
          </a:xfrm>
          <a:prstGeom prst="rect">
            <a:avLst/>
          </a:prstGeom>
          <a:noFill/>
        </p:spPr>
        <p:txBody>
          <a:bodyPr wrap="square" anchor="t">
            <a:spAutoFit/>
          </a:bodyPr>
          <a:lstStyle/>
          <a:p>
            <a:pPr>
              <a:spcAft>
                <a:spcPts val="400"/>
              </a:spcAft>
            </a:pPr>
            <a:r>
              <a:rPr sz="1300" b="1">
                <a:solidFill>
                  <a:srgbClr val="C9A227"/>
                </a:solidFill>
                <a:latin typeface="Cambria"/>
              </a:rPr>
              <a:t>02</a:t>
            </a:r>
          </a:p>
          <a:p>
            <a:pPr>
              <a:spcAft>
                <a:spcPts val="400"/>
              </a:spcAft>
            </a:pPr>
            <a:r>
              <a:rPr sz="1500" b="1">
                <a:solidFill>
                  <a:srgbClr val="FFFFFF"/>
                </a:solidFill>
                <a:latin typeface="Cambria"/>
              </a:rPr>
              <a:t>Durable Inbox dan Idempotency</a:t>
            </a:r>
          </a:p>
          <a:p>
            <a:pPr>
              <a:spcAft>
                <a:spcPts val="400"/>
              </a:spcAft>
            </a:pPr>
            <a:r>
              <a:rPr sz="1200" b="0">
                <a:solidFill>
                  <a:srgbClr val="5B6B8A"/>
                </a:solidFill>
                <a:latin typeface="Calibri"/>
              </a:rPr>
              <a:t>Menetralkan F2: pesan ganda tidak berefek ganda.</a:t>
            </a:r>
          </a:p>
        </p:txBody>
      </p:sp>
      <p:sp>
        <p:nvSpPr>
          <p:cNvPr id="7" name="Rounded Rectangle 6"/>
          <p:cNvSpPr/>
          <p:nvPr/>
        </p:nvSpPr>
        <p:spPr>
          <a:xfrm>
            <a:off x="6309360" y="2286000"/>
            <a:ext cx="2377440" cy="173736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2468880"/>
            <a:ext cx="1920240" cy="1371600"/>
          </a:xfrm>
          <a:prstGeom prst="rect">
            <a:avLst/>
          </a:prstGeom>
          <a:noFill/>
        </p:spPr>
        <p:txBody>
          <a:bodyPr wrap="square" anchor="t">
            <a:spAutoFit/>
          </a:bodyPr>
          <a:lstStyle/>
          <a:p>
            <a:pPr>
              <a:spcAft>
                <a:spcPts val="400"/>
              </a:spcAft>
            </a:pPr>
            <a:r>
              <a:rPr sz="1300" b="1">
                <a:solidFill>
                  <a:srgbClr val="C9A227"/>
                </a:solidFill>
                <a:latin typeface="Cambria"/>
              </a:rPr>
              <a:t>03</a:t>
            </a:r>
          </a:p>
          <a:p>
            <a:pPr>
              <a:spcAft>
                <a:spcPts val="400"/>
              </a:spcAft>
            </a:pPr>
            <a:r>
              <a:rPr sz="1500" b="1">
                <a:solidFill>
                  <a:srgbClr val="FFFFFF"/>
                </a:solidFill>
                <a:latin typeface="Cambria"/>
              </a:rPr>
              <a:t>Optimistic Concurrency Control</a:t>
            </a:r>
          </a:p>
          <a:p>
            <a:pPr>
              <a:spcAft>
                <a:spcPts val="400"/>
              </a:spcAft>
            </a:pPr>
            <a:r>
              <a:rPr sz="1200" b="0">
                <a:solidFill>
                  <a:srgbClr val="5B6B8A"/>
                </a:solidFill>
                <a:latin typeface="Calibri"/>
              </a:rPr>
              <a:t>Menolak F5: tulis dengan versi basi tidak menimpa.</a:t>
            </a:r>
          </a:p>
        </p:txBody>
      </p:sp>
      <p:sp>
        <p:nvSpPr>
          <p:cNvPr id="9" name="Rounded Rectangle 8"/>
          <p:cNvSpPr/>
          <p:nvPr/>
        </p:nvSpPr>
        <p:spPr>
          <a:xfrm>
            <a:off x="9144000" y="2286000"/>
            <a:ext cx="2377440" cy="173736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72600" y="2468880"/>
            <a:ext cx="1920240" cy="1371600"/>
          </a:xfrm>
          <a:prstGeom prst="rect">
            <a:avLst/>
          </a:prstGeom>
          <a:noFill/>
        </p:spPr>
        <p:txBody>
          <a:bodyPr wrap="square" anchor="t">
            <a:spAutoFit/>
          </a:bodyPr>
          <a:lstStyle/>
          <a:p>
            <a:pPr>
              <a:spcAft>
                <a:spcPts val="400"/>
              </a:spcAft>
            </a:pPr>
            <a:r>
              <a:rPr sz="1300" b="1">
                <a:solidFill>
                  <a:srgbClr val="C9A227"/>
                </a:solidFill>
                <a:latin typeface="Cambria"/>
              </a:rPr>
              <a:t>04</a:t>
            </a:r>
          </a:p>
          <a:p>
            <a:pPr>
              <a:spcAft>
                <a:spcPts val="400"/>
              </a:spcAft>
            </a:pPr>
            <a:r>
              <a:rPr sz="1500" b="1">
                <a:solidFill>
                  <a:srgbClr val="FFFFFF"/>
                </a:solidFill>
                <a:latin typeface="Cambria"/>
              </a:rPr>
              <a:t>Saga dan Kompensasi</a:t>
            </a:r>
          </a:p>
          <a:p>
            <a:pPr>
              <a:spcAft>
                <a:spcPts val="400"/>
              </a:spcAft>
            </a:pPr>
            <a:r>
              <a:rPr sz="1200" b="0">
                <a:solidFill>
                  <a:srgbClr val="5B6B8A"/>
                </a:solidFill>
                <a:latin typeface="Calibri"/>
              </a:rPr>
              <a:t>Memulihkan F6: reservasi dibatalkan bila bayar gagal.</a:t>
            </a:r>
          </a:p>
        </p:txBody>
      </p:sp>
      <p:sp>
        <p:nvSpPr>
          <p:cNvPr id="11" name="Rounded Rectangle 10"/>
          <p:cNvSpPr/>
          <p:nvPr/>
        </p:nvSpPr>
        <p:spPr>
          <a:xfrm>
            <a:off x="640080" y="4297680"/>
            <a:ext cx="2377440" cy="173736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480560"/>
            <a:ext cx="1920240" cy="1371600"/>
          </a:xfrm>
          <a:prstGeom prst="rect">
            <a:avLst/>
          </a:prstGeom>
          <a:noFill/>
        </p:spPr>
        <p:txBody>
          <a:bodyPr wrap="square" anchor="t">
            <a:spAutoFit/>
          </a:bodyPr>
          <a:lstStyle/>
          <a:p>
            <a:pPr>
              <a:spcAft>
                <a:spcPts val="400"/>
              </a:spcAft>
            </a:pPr>
            <a:r>
              <a:rPr sz="1300" b="1">
                <a:solidFill>
                  <a:srgbClr val="C9A227"/>
                </a:solidFill>
                <a:latin typeface="Cambria"/>
              </a:rPr>
              <a:t>05</a:t>
            </a:r>
          </a:p>
          <a:p>
            <a:pPr>
              <a:spcAft>
                <a:spcPts val="400"/>
              </a:spcAft>
            </a:pPr>
            <a:r>
              <a:rPr sz="1500" b="1">
                <a:solidFill>
                  <a:srgbClr val="FFFFFF"/>
                </a:solidFill>
                <a:latin typeface="Cambria"/>
              </a:rPr>
              <a:t>Broker, Retry, dan Dead-Letter Queue</a:t>
            </a:r>
          </a:p>
          <a:p>
            <a:pPr>
              <a:spcAft>
                <a:spcPts val="400"/>
              </a:spcAft>
            </a:pPr>
            <a:r>
              <a:rPr sz="1200" b="0">
                <a:solidFill>
                  <a:srgbClr val="5B6B8A"/>
                </a:solidFill>
                <a:latin typeface="Calibri"/>
              </a:rPr>
              <a:t>Menampung F3 dan F4a: pesan tertunda diproses ulang.</a:t>
            </a:r>
          </a:p>
        </p:txBody>
      </p:sp>
      <p:sp>
        <p:nvSpPr>
          <p:cNvPr id="13" name="TextBox 12"/>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5B6B8A"/>
                </a:solidFill>
                <a:latin typeface="Calibri"/>
              </a:rPr>
              <a:t>S1 Teknik Informatika  |  Universitas Negeri Surabaya</a:t>
            </a:r>
          </a:p>
          <a:p>
            <a:pPr algn="r">
              <a:spcAft>
                <a:spcPts val="400"/>
              </a:spcAft>
            </a:pPr>
            <a:r>
              <a:rPr sz="1200" b="0">
                <a:solidFill>
                  <a:srgbClr val="5B6B8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284C"/>
        </a:solidFill>
        <a:effectLst/>
      </p:bgPr>
    </p:bg>
    <p:spTree>
      <p:nvGrpSpPr>
        <p:cNvPr id="1" name=""/>
        <p:cNvGrpSpPr/>
        <p:nvPr/>
      </p:nvGrpSpPr>
      <p:grpSpPr/>
      <p:sp>
        <p:nvSpPr>
          <p:cNvPr id="2" name="TextBox 1"/>
          <p:cNvSpPr txBox="1"/>
          <p:nvPr/>
        </p:nvSpPr>
        <p:spPr>
          <a:xfrm>
            <a:off x="640080" y="320040"/>
            <a:ext cx="10881360" cy="1463040"/>
          </a:xfrm>
          <a:prstGeom prst="rect">
            <a:avLst/>
          </a:prstGeom>
          <a:noFill/>
        </p:spPr>
        <p:txBody>
          <a:bodyPr wrap="square" anchor="t">
            <a:spAutoFit/>
          </a:bodyPr>
          <a:lstStyle/>
          <a:p>
            <a:pPr>
              <a:spcAft>
                <a:spcPts val="400"/>
              </a:spcAft>
            </a:pPr>
            <a:r>
              <a:rPr sz="1200" b="1">
                <a:solidFill>
                  <a:srgbClr val="C9A227"/>
                </a:solidFill>
                <a:latin typeface="Cambria"/>
              </a:rPr>
              <a:t>ROADMAP</a:t>
            </a:r>
          </a:p>
          <a:p>
            <a:pPr>
              <a:spcAft>
                <a:spcPts val="400"/>
              </a:spcAft>
            </a:pPr>
            <a:r>
              <a:rPr sz="3000" b="1">
                <a:solidFill>
                  <a:srgbClr val="FFFFFF"/>
                </a:solidFill>
                <a:latin typeface="Cambria"/>
              </a:rPr>
              <a:t>Alur penelitian lima tahap; pilot test mendahului eksperimen utama</a:t>
            </a:r>
          </a:p>
          <a:p>
            <a:pPr>
              <a:spcAft>
                <a:spcPts val="400"/>
              </a:spcAft>
            </a:pPr>
            <a:r>
              <a:rPr sz="1600" b="0">
                <a:solidFill>
                  <a:srgbClr val="5B6B8A"/>
                </a:solidFill>
                <a:latin typeface="Calibri"/>
              </a:rPr>
              <a:t>Lingkungan: Laravel, NestJS, MySQL InnoDB, RabbitMQ, Docker Compose, satu host.</a:t>
            </a:r>
          </a:p>
        </p:txBody>
      </p:sp>
      <p:sp>
        <p:nvSpPr>
          <p:cNvPr id="3" name="Rectangle 2"/>
          <p:cNvSpPr/>
          <p:nvPr/>
        </p:nvSpPr>
        <p:spPr>
          <a:xfrm>
            <a:off x="822960" y="3840480"/>
            <a:ext cx="10515600" cy="45720"/>
          </a:xfrm>
          <a:prstGeom prst="rect">
            <a:avLst/>
          </a:prstGeom>
          <a:solidFill>
            <a:srgbClr val="D5D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746503" y="3712463"/>
            <a:ext cx="256032" cy="256032"/>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399" y="2377440"/>
            <a:ext cx="1920239" cy="1280160"/>
          </a:xfrm>
          <a:prstGeom prst="rect">
            <a:avLst/>
          </a:prstGeom>
          <a:noFill/>
        </p:spPr>
        <p:txBody>
          <a:bodyPr wrap="square" anchor="t">
            <a:spAutoFit/>
          </a:bodyPr>
          <a:lstStyle/>
          <a:p>
            <a:pPr algn="ctr">
              <a:spcAft>
                <a:spcPts val="400"/>
              </a:spcAft>
            </a:pPr>
            <a:r>
              <a:rPr sz="1200" b="1">
                <a:solidFill>
                  <a:srgbClr val="C9A227"/>
                </a:solidFill>
                <a:latin typeface="Cambria"/>
              </a:rPr>
              <a:t>Tahap 1</a:t>
            </a:r>
          </a:p>
          <a:p>
            <a:pPr algn="ctr">
              <a:spcAft>
                <a:spcPts val="400"/>
              </a:spcAft>
            </a:pPr>
            <a:r>
              <a:rPr sz="1400" b="1">
                <a:solidFill>
                  <a:srgbClr val="FFFFFF"/>
                </a:solidFill>
                <a:latin typeface="Cambria"/>
              </a:rPr>
              <a:t>Analisis kebutuhan dan aturan bisnis</a:t>
            </a:r>
          </a:p>
        </p:txBody>
      </p:sp>
      <p:sp>
        <p:nvSpPr>
          <p:cNvPr id="6" name="TextBox 5"/>
          <p:cNvSpPr txBox="1"/>
          <p:nvPr/>
        </p:nvSpPr>
        <p:spPr>
          <a:xfrm>
            <a:off x="914399" y="4114800"/>
            <a:ext cx="1920239" cy="1463040"/>
          </a:xfrm>
          <a:prstGeom prst="rect">
            <a:avLst/>
          </a:prstGeom>
          <a:noFill/>
        </p:spPr>
        <p:txBody>
          <a:bodyPr wrap="square" anchor="t">
            <a:spAutoFit/>
          </a:bodyPr>
          <a:lstStyle/>
          <a:p>
            <a:pPr algn="ctr">
              <a:spcAft>
                <a:spcPts val="400"/>
              </a:spcAft>
            </a:pPr>
            <a:r>
              <a:rPr sz="1200" b="0">
                <a:solidFill>
                  <a:srgbClr val="CADCFC"/>
                </a:solidFill>
                <a:latin typeface="Calibri"/>
              </a:rPr>
              <a:t>Menetapkan invariant dan otoritas data.</a:t>
            </a:r>
          </a:p>
        </p:txBody>
      </p:sp>
      <p:sp>
        <p:nvSpPr>
          <p:cNvPr id="7" name="Oval 6"/>
          <p:cNvSpPr/>
          <p:nvPr/>
        </p:nvSpPr>
        <p:spPr>
          <a:xfrm>
            <a:off x="3849624" y="3712463"/>
            <a:ext cx="256032" cy="256032"/>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2377440"/>
            <a:ext cx="1920239" cy="1280160"/>
          </a:xfrm>
          <a:prstGeom prst="rect">
            <a:avLst/>
          </a:prstGeom>
          <a:noFill/>
        </p:spPr>
        <p:txBody>
          <a:bodyPr wrap="square" anchor="t">
            <a:spAutoFit/>
          </a:bodyPr>
          <a:lstStyle/>
          <a:p>
            <a:pPr algn="ctr">
              <a:spcAft>
                <a:spcPts val="400"/>
              </a:spcAft>
            </a:pPr>
            <a:r>
              <a:rPr sz="1200" b="1">
                <a:solidFill>
                  <a:srgbClr val="C9A227"/>
                </a:solidFill>
                <a:latin typeface="Cambria"/>
              </a:rPr>
              <a:t>Tahap 2</a:t>
            </a:r>
          </a:p>
          <a:p>
            <a:pPr algn="ctr">
              <a:spcAft>
                <a:spcPts val="400"/>
              </a:spcAft>
            </a:pPr>
            <a:r>
              <a:rPr sz="1400" b="1">
                <a:solidFill>
                  <a:srgbClr val="FFFFFF"/>
                </a:solidFill>
                <a:latin typeface="Cambria"/>
              </a:rPr>
              <a:t>Perancangan arsitektur</a:t>
            </a:r>
          </a:p>
        </p:txBody>
      </p:sp>
      <p:sp>
        <p:nvSpPr>
          <p:cNvPr id="9" name="TextBox 8"/>
          <p:cNvSpPr txBox="1"/>
          <p:nvPr/>
        </p:nvSpPr>
        <p:spPr>
          <a:xfrm>
            <a:off x="3017520" y="4114800"/>
            <a:ext cx="1920239" cy="1463040"/>
          </a:xfrm>
          <a:prstGeom prst="rect">
            <a:avLst/>
          </a:prstGeom>
          <a:noFill/>
        </p:spPr>
        <p:txBody>
          <a:bodyPr wrap="square" anchor="t">
            <a:spAutoFit/>
          </a:bodyPr>
          <a:lstStyle/>
          <a:p>
            <a:pPr algn="ctr">
              <a:spcAft>
                <a:spcPts val="400"/>
              </a:spcAft>
            </a:pPr>
            <a:r>
              <a:rPr sz="1200" b="0">
                <a:solidFill>
                  <a:srgbClr val="CADCFC"/>
                </a:solidFill>
                <a:latin typeface="Calibri"/>
              </a:rPr>
              <a:t>Tiga kondisi dengan fungsi bisnis sama.</a:t>
            </a:r>
          </a:p>
        </p:txBody>
      </p:sp>
      <p:sp>
        <p:nvSpPr>
          <p:cNvPr id="10" name="Oval 9"/>
          <p:cNvSpPr/>
          <p:nvPr/>
        </p:nvSpPr>
        <p:spPr>
          <a:xfrm>
            <a:off x="5952744" y="3712463"/>
            <a:ext cx="256032" cy="256032"/>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377440"/>
            <a:ext cx="1920239" cy="1280160"/>
          </a:xfrm>
          <a:prstGeom prst="rect">
            <a:avLst/>
          </a:prstGeom>
          <a:noFill/>
        </p:spPr>
        <p:txBody>
          <a:bodyPr wrap="square" anchor="t">
            <a:spAutoFit/>
          </a:bodyPr>
          <a:lstStyle/>
          <a:p>
            <a:pPr algn="ctr">
              <a:spcAft>
                <a:spcPts val="400"/>
              </a:spcAft>
            </a:pPr>
            <a:r>
              <a:rPr sz="1200" b="1">
                <a:solidFill>
                  <a:srgbClr val="C9A227"/>
                </a:solidFill>
                <a:latin typeface="Cambria"/>
              </a:rPr>
              <a:t>Tahap 3</a:t>
            </a:r>
          </a:p>
          <a:p>
            <a:pPr algn="ctr">
              <a:spcAft>
                <a:spcPts val="400"/>
              </a:spcAft>
            </a:pPr>
            <a:r>
              <a:rPr sz="1400" b="1">
                <a:solidFill>
                  <a:srgbClr val="FFFFFF"/>
                </a:solidFill>
                <a:latin typeface="Cambria"/>
              </a:rPr>
              <a:t>Pengembangan sistem</a:t>
            </a:r>
          </a:p>
        </p:txBody>
      </p:sp>
      <p:sp>
        <p:nvSpPr>
          <p:cNvPr id="12" name="TextBox 11"/>
          <p:cNvSpPr txBox="1"/>
          <p:nvPr/>
        </p:nvSpPr>
        <p:spPr>
          <a:xfrm>
            <a:off x="5120640" y="4114800"/>
            <a:ext cx="1920239" cy="1463040"/>
          </a:xfrm>
          <a:prstGeom prst="rect">
            <a:avLst/>
          </a:prstGeom>
          <a:noFill/>
        </p:spPr>
        <p:txBody>
          <a:bodyPr wrap="square" anchor="t">
            <a:spAutoFit/>
          </a:bodyPr>
          <a:lstStyle/>
          <a:p>
            <a:pPr algn="ctr">
              <a:spcAft>
                <a:spcPts val="400"/>
              </a:spcAft>
            </a:pPr>
            <a:r>
              <a:rPr sz="1200" b="0">
                <a:solidFill>
                  <a:srgbClr val="CADCFC"/>
                </a:solidFill>
                <a:latin typeface="Calibri"/>
              </a:rPr>
              <a:t>Implementasi empat layanan dan monolith.</a:t>
            </a:r>
          </a:p>
        </p:txBody>
      </p:sp>
      <p:sp>
        <p:nvSpPr>
          <p:cNvPr id="13" name="Oval 12"/>
          <p:cNvSpPr/>
          <p:nvPr/>
        </p:nvSpPr>
        <p:spPr>
          <a:xfrm>
            <a:off x="8055863" y="3712463"/>
            <a:ext cx="256032" cy="256032"/>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59" y="2377440"/>
            <a:ext cx="1920239" cy="1280160"/>
          </a:xfrm>
          <a:prstGeom prst="rect">
            <a:avLst/>
          </a:prstGeom>
          <a:noFill/>
        </p:spPr>
        <p:txBody>
          <a:bodyPr wrap="square" anchor="t">
            <a:spAutoFit/>
          </a:bodyPr>
          <a:lstStyle/>
          <a:p>
            <a:pPr algn="ctr">
              <a:spcAft>
                <a:spcPts val="400"/>
              </a:spcAft>
            </a:pPr>
            <a:r>
              <a:rPr sz="1200" b="1">
                <a:solidFill>
                  <a:srgbClr val="C9A227"/>
                </a:solidFill>
                <a:latin typeface="Cambria"/>
              </a:rPr>
              <a:t>Tahap 4</a:t>
            </a:r>
          </a:p>
          <a:p>
            <a:pPr algn="ctr">
              <a:spcAft>
                <a:spcPts val="400"/>
              </a:spcAft>
            </a:pPr>
            <a:r>
              <a:rPr sz="1400" b="1">
                <a:solidFill>
                  <a:srgbClr val="FFFFFF"/>
                </a:solidFill>
                <a:latin typeface="Cambria"/>
              </a:rPr>
              <a:t>Pengujian dan simulasi gangguan</a:t>
            </a:r>
          </a:p>
        </p:txBody>
      </p:sp>
      <p:sp>
        <p:nvSpPr>
          <p:cNvPr id="15" name="TextBox 14"/>
          <p:cNvSpPr txBox="1"/>
          <p:nvPr/>
        </p:nvSpPr>
        <p:spPr>
          <a:xfrm>
            <a:off x="7223759" y="4114800"/>
            <a:ext cx="1920239" cy="1463040"/>
          </a:xfrm>
          <a:prstGeom prst="rect">
            <a:avLst/>
          </a:prstGeom>
          <a:noFill/>
        </p:spPr>
        <p:txBody>
          <a:bodyPr wrap="square" anchor="t">
            <a:spAutoFit/>
          </a:bodyPr>
          <a:lstStyle/>
          <a:p>
            <a:pPr algn="ctr">
              <a:spcAft>
                <a:spcPts val="400"/>
              </a:spcAft>
            </a:pPr>
            <a:r>
              <a:rPr sz="1200" b="0">
                <a:solidFill>
                  <a:srgbClr val="CADCFC"/>
                </a:solidFill>
                <a:latin typeface="Calibri"/>
              </a:rPr>
              <a:t>Pilot test dulu; lulus bila oracle stabil.</a:t>
            </a:r>
          </a:p>
        </p:txBody>
      </p:sp>
      <p:sp>
        <p:nvSpPr>
          <p:cNvPr id="16" name="Oval 15"/>
          <p:cNvSpPr/>
          <p:nvPr/>
        </p:nvSpPr>
        <p:spPr>
          <a:xfrm>
            <a:off x="10158984" y="3712463"/>
            <a:ext cx="256032" cy="256032"/>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0" y="2377440"/>
            <a:ext cx="1920239" cy="1280160"/>
          </a:xfrm>
          <a:prstGeom prst="rect">
            <a:avLst/>
          </a:prstGeom>
          <a:noFill/>
        </p:spPr>
        <p:txBody>
          <a:bodyPr wrap="square" anchor="t">
            <a:spAutoFit/>
          </a:bodyPr>
          <a:lstStyle/>
          <a:p>
            <a:pPr algn="ctr">
              <a:spcAft>
                <a:spcPts val="400"/>
              </a:spcAft>
            </a:pPr>
            <a:r>
              <a:rPr sz="1200" b="1">
                <a:solidFill>
                  <a:srgbClr val="C9A227"/>
                </a:solidFill>
                <a:latin typeface="Cambria"/>
              </a:rPr>
              <a:t>Tahap 5</a:t>
            </a:r>
          </a:p>
          <a:p>
            <a:pPr algn="ctr">
              <a:spcAft>
                <a:spcPts val="400"/>
              </a:spcAft>
            </a:pPr>
            <a:r>
              <a:rPr sz="1400" b="1">
                <a:solidFill>
                  <a:srgbClr val="FFFFFF"/>
                </a:solidFill>
                <a:latin typeface="Cambria"/>
              </a:rPr>
              <a:t>Analisis hasil</a:t>
            </a:r>
          </a:p>
        </p:txBody>
      </p:sp>
      <p:sp>
        <p:nvSpPr>
          <p:cNvPr id="18" name="TextBox 17"/>
          <p:cNvSpPr txBox="1"/>
          <p:nvPr/>
        </p:nvSpPr>
        <p:spPr>
          <a:xfrm>
            <a:off x="9326880" y="4114800"/>
            <a:ext cx="1920239" cy="1463040"/>
          </a:xfrm>
          <a:prstGeom prst="rect">
            <a:avLst/>
          </a:prstGeom>
          <a:noFill/>
        </p:spPr>
        <p:txBody>
          <a:bodyPr wrap="square" anchor="t">
            <a:spAutoFit/>
          </a:bodyPr>
          <a:lstStyle/>
          <a:p>
            <a:pPr algn="ctr">
              <a:spcAft>
                <a:spcPts val="400"/>
              </a:spcAft>
            </a:pPr>
            <a:r>
              <a:rPr sz="1200" b="0">
                <a:solidFill>
                  <a:srgbClr val="CADCFC"/>
                </a:solidFill>
                <a:latin typeface="Calibri"/>
              </a:rPr>
              <a:t>Deskriptif: median, IQR, p95.</a:t>
            </a:r>
          </a:p>
        </p:txBody>
      </p:sp>
      <p:sp>
        <p:nvSpPr>
          <p:cNvPr id="19" name="TextBox 18"/>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CADCFC"/>
                </a:solidFill>
                <a:latin typeface="Calibri"/>
              </a:rPr>
              <a:t>S1 Teknik Informatika  |  Universitas Negeri Surabaya</a:t>
            </a:r>
          </a:p>
          <a:p>
            <a:pPr algn="r">
              <a:spcAft>
                <a:spcPts val="400"/>
              </a:spcAft>
            </a:pPr>
            <a:r>
              <a:rPr sz="1200" b="0">
                <a:solidFill>
                  <a:srgbClr val="CADCFC"/>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1463040"/>
          </a:xfrm>
          <a:prstGeom prst="rect">
            <a:avLst/>
          </a:prstGeom>
          <a:noFill/>
        </p:spPr>
        <p:txBody>
          <a:bodyPr wrap="square" anchor="t">
            <a:spAutoFit/>
          </a:bodyPr>
          <a:lstStyle/>
          <a:p>
            <a:pPr>
              <a:spcAft>
                <a:spcPts val="400"/>
              </a:spcAft>
            </a:pPr>
            <a:r>
              <a:rPr sz="3000" b="1">
                <a:solidFill>
                  <a:srgbClr val="12284C"/>
                </a:solidFill>
                <a:latin typeface="Cambria"/>
              </a:rPr>
              <a:t>Kriteria integritas non-kompensatori; performa tidak menutupinya</a:t>
            </a:r>
          </a:p>
          <a:p>
            <a:pPr>
              <a:spcAft>
                <a:spcPts val="400"/>
              </a:spcAft>
            </a:pPr>
            <a:r>
              <a:rPr sz="1600" b="0">
                <a:solidFill>
                  <a:srgbClr val="5B6B8A"/>
                </a:solidFill>
                <a:latin typeface="Calibri"/>
              </a:rPr>
              <a:t>Dimensi pendukung (performa, kompleksitas operasional) dilaporkan terpisah.</a:t>
            </a:r>
          </a:p>
        </p:txBody>
      </p:sp>
      <p:graphicFrame>
        <p:nvGraphicFramePr>
          <p:cNvPr id="3" name="Table 2"/>
          <p:cNvGraphicFramePr>
            <a:graphicFrameLocks noGrp="1"/>
          </p:cNvGraphicFramePr>
          <p:nvPr/>
        </p:nvGraphicFramePr>
        <p:xfrm>
          <a:off x="640080" y="2286000"/>
          <a:ext cx="10881360" cy="3840480"/>
        </p:xfrm>
        <a:graphic>
          <a:graphicData uri="http://schemas.openxmlformats.org/drawingml/2006/table">
            <a:tbl>
              <a:tblPr firstRow="1" bandRow="1">
                <a:tableStyleId>{5C22544A-7EE6-4342-B048-85BDC9FD1C3A}</a:tableStyleId>
              </a:tblPr>
              <a:tblGrid>
                <a:gridCol w="3627120"/>
                <a:gridCol w="3627120"/>
                <a:gridCol w="3627120"/>
              </a:tblGrid>
              <a:tr h="426720">
                <a:tc>
                  <a:txBody>
                    <a:bodyPr/>
                    <a:lstStyle/>
                    <a:p>
                      <a:r>
                        <a:rPr sz="1200" b="1">
                          <a:solidFill>
                            <a:srgbClr val="FFFFFF"/>
                          </a:solidFill>
                          <a:latin typeface="Cambria"/>
                        </a:rPr>
                        <a:t>Metrik</a:t>
                      </a:r>
                    </a:p>
                  </a:txBody>
                  <a:tcPr>
                    <a:solidFill>
                      <a:srgbClr val="1F2937"/>
                    </a:solidFill>
                  </a:tcPr>
                </a:tc>
                <a:tc>
                  <a:txBody>
                    <a:bodyPr/>
                    <a:lstStyle/>
                    <a:p>
                      <a:r>
                        <a:rPr sz="1200" b="1">
                          <a:solidFill>
                            <a:srgbClr val="FFFFFF"/>
                          </a:solidFill>
                          <a:latin typeface="Cambria"/>
                        </a:rPr>
                        <a:t>Ambang</a:t>
                      </a:r>
                    </a:p>
                  </a:txBody>
                  <a:tcPr>
                    <a:solidFill>
                      <a:srgbClr val="1F2937"/>
                    </a:solidFill>
                  </a:tcPr>
                </a:tc>
                <a:tc>
                  <a:txBody>
                    <a:bodyPr/>
                    <a:lstStyle/>
                    <a:p>
                      <a:r>
                        <a:rPr sz="1200" b="1">
                          <a:solidFill>
                            <a:srgbClr val="FFFFFF"/>
                          </a:solidFill>
                          <a:latin typeface="Cambria"/>
                        </a:rPr>
                        <a:t>Arti</a:t>
                      </a:r>
                    </a:p>
                  </a:txBody>
                  <a:tcPr>
                    <a:solidFill>
                      <a:srgbClr val="1F2937"/>
                    </a:solidFill>
                  </a:tcPr>
                </a:tc>
              </a:tr>
              <a:tr h="426720">
                <a:tc>
                  <a:txBody>
                    <a:bodyPr/>
                    <a:lstStyle/>
                    <a:p>
                      <a:r>
                        <a:rPr sz="1100">
                          <a:solidFill>
                            <a:srgbClr val="1B2640"/>
                          </a:solidFill>
                          <a:latin typeface="Calibri"/>
                        </a:rPr>
                        <a:t>oversell</a:t>
                      </a:r>
                    </a:p>
                  </a:txBody>
                  <a:tcPr>
                    <a:solidFill>
                      <a:srgbClr val="EEF2F8"/>
                    </a:solidFill>
                  </a:tcPr>
                </a:tc>
                <a:tc>
                  <a:txBody>
                    <a:bodyPr/>
                    <a:lstStyle/>
                    <a:p>
                      <a:r>
                        <a:rPr sz="1100">
                          <a:solidFill>
                            <a:srgbClr val="1B2640"/>
                          </a:solidFill>
                          <a:latin typeface="Calibri"/>
                        </a:rPr>
                        <a:t>0</a:t>
                      </a:r>
                    </a:p>
                  </a:txBody>
                  <a:tcPr>
                    <a:solidFill>
                      <a:srgbClr val="EEF2F8"/>
                    </a:solidFill>
                  </a:tcPr>
                </a:tc>
                <a:tc>
                  <a:txBody>
                    <a:bodyPr/>
                    <a:lstStyle/>
                    <a:p>
                      <a:r>
                        <a:rPr sz="1100">
                          <a:solidFill>
                            <a:srgbClr val="1B2640"/>
                          </a:solidFill>
                          <a:latin typeface="Calibri"/>
                        </a:rPr>
                        <a:t>Unit terjual melebihi stok</a:t>
                      </a:r>
                    </a:p>
                  </a:txBody>
                  <a:tcPr>
                    <a:solidFill>
                      <a:srgbClr val="EEF2F8"/>
                    </a:solidFill>
                  </a:tcPr>
                </a:tc>
              </a:tr>
              <a:tr h="426720">
                <a:tc>
                  <a:txBody>
                    <a:bodyPr/>
                    <a:lstStyle/>
                    <a:p>
                      <a:r>
                        <a:rPr sz="1100">
                          <a:solidFill>
                            <a:srgbClr val="1B2640"/>
                          </a:solidFill>
                          <a:latin typeface="Calibri"/>
                        </a:rPr>
                        <a:t>lost update</a:t>
                      </a:r>
                    </a:p>
                  </a:txBody>
                  <a:tcPr>
                    <a:solidFill>
                      <a:srgbClr val="FFFFFF"/>
                    </a:solidFill>
                  </a:tcPr>
                </a:tc>
                <a:tc>
                  <a:txBody>
                    <a:bodyPr/>
                    <a:lstStyle/>
                    <a:p>
                      <a:r>
                        <a:rPr sz="1100">
                          <a:solidFill>
                            <a:srgbClr val="1B2640"/>
                          </a:solidFill>
                          <a:latin typeface="Calibri"/>
                        </a:rPr>
                        <a:t>0</a:t>
                      </a:r>
                    </a:p>
                  </a:txBody>
                  <a:tcPr>
                    <a:solidFill>
                      <a:srgbClr val="FFFFFF"/>
                    </a:solidFill>
                  </a:tcPr>
                </a:tc>
                <a:tc>
                  <a:txBody>
                    <a:bodyPr/>
                    <a:lstStyle/>
                    <a:p>
                      <a:r>
                        <a:rPr sz="1100">
                          <a:solidFill>
                            <a:srgbClr val="1B2640"/>
                          </a:solidFill>
                          <a:latin typeface="Calibri"/>
                        </a:rPr>
                        <a:t>Tulis sah tertimpa tanpa jejak</a:t>
                      </a:r>
                    </a:p>
                  </a:txBody>
                  <a:tcPr>
                    <a:solidFill>
                      <a:srgbClr val="FFFFFF"/>
                    </a:solidFill>
                  </a:tcPr>
                </a:tc>
              </a:tr>
              <a:tr h="426720">
                <a:tc>
                  <a:txBody>
                    <a:bodyPr/>
                    <a:lstStyle/>
                    <a:p>
                      <a:r>
                        <a:rPr sz="1100">
                          <a:solidFill>
                            <a:srgbClr val="1B2640"/>
                          </a:solidFill>
                          <a:latin typeface="Calibri"/>
                        </a:rPr>
                        <a:t>duplicate effect</a:t>
                      </a:r>
                    </a:p>
                  </a:txBody>
                  <a:tcPr>
                    <a:solidFill>
                      <a:srgbClr val="EEF2F8"/>
                    </a:solidFill>
                  </a:tcPr>
                </a:tc>
                <a:tc>
                  <a:txBody>
                    <a:bodyPr/>
                    <a:lstStyle/>
                    <a:p>
                      <a:r>
                        <a:rPr sz="1100">
                          <a:solidFill>
                            <a:srgbClr val="1B2640"/>
                          </a:solidFill>
                          <a:latin typeface="Calibri"/>
                        </a:rPr>
                        <a:t>0</a:t>
                      </a:r>
                    </a:p>
                  </a:txBody>
                  <a:tcPr>
                    <a:solidFill>
                      <a:srgbClr val="EEF2F8"/>
                    </a:solidFill>
                  </a:tcPr>
                </a:tc>
                <a:tc>
                  <a:txBody>
                    <a:bodyPr/>
                    <a:lstStyle/>
                    <a:p>
                      <a:r>
                        <a:rPr sz="1100">
                          <a:solidFill>
                            <a:srgbClr val="1B2640"/>
                          </a:solidFill>
                          <a:latin typeface="Calibri"/>
                        </a:rPr>
                        <a:t>Satu event berefek ganda</a:t>
                      </a:r>
                    </a:p>
                  </a:txBody>
                  <a:tcPr>
                    <a:solidFill>
                      <a:srgbClr val="EEF2F8"/>
                    </a:solidFill>
                  </a:tcPr>
                </a:tc>
              </a:tr>
              <a:tr h="426720">
                <a:tc>
                  <a:txBody>
                    <a:bodyPr/>
                    <a:lstStyle/>
                    <a:p>
                      <a:r>
                        <a:rPr sz="1100">
                          <a:solidFill>
                            <a:srgbClr val="1B2640"/>
                          </a:solidFill>
                          <a:latin typeface="Calibri"/>
                        </a:rPr>
                        <a:t>permanent mismatch</a:t>
                      </a:r>
                    </a:p>
                  </a:txBody>
                  <a:tcPr>
                    <a:solidFill>
                      <a:srgbClr val="FFFFFF"/>
                    </a:solidFill>
                  </a:tcPr>
                </a:tc>
                <a:tc>
                  <a:txBody>
                    <a:bodyPr/>
                    <a:lstStyle/>
                    <a:p>
                      <a:r>
                        <a:rPr sz="1100">
                          <a:solidFill>
                            <a:srgbClr val="1B2640"/>
                          </a:solidFill>
                          <a:latin typeface="Calibri"/>
                        </a:rPr>
                        <a:t>0</a:t>
                      </a:r>
                    </a:p>
                  </a:txBody>
                  <a:tcPr>
                    <a:solidFill>
                      <a:srgbClr val="FFFFFF"/>
                    </a:solidFill>
                  </a:tcPr>
                </a:tc>
                <a:tc>
                  <a:txBody>
                    <a:bodyPr/>
                    <a:lstStyle/>
                    <a:p>
                      <a:r>
                        <a:rPr sz="1100">
                          <a:solidFill>
                            <a:srgbClr val="1B2640"/>
                          </a:solidFill>
                          <a:latin typeface="Calibri"/>
                        </a:rPr>
                        <a:t>Selisih yang tidak pulih</a:t>
                      </a:r>
                    </a:p>
                  </a:txBody>
                  <a:tcPr>
                    <a:solidFill>
                      <a:srgbClr val="FFFFFF"/>
                    </a:solidFill>
                  </a:tcPr>
                </a:tc>
              </a:tr>
              <a:tr h="426720">
                <a:tc>
                  <a:txBody>
                    <a:bodyPr/>
                    <a:lstStyle/>
                    <a:p>
                      <a:r>
                        <a:rPr sz="1100">
                          <a:solidFill>
                            <a:srgbClr val="1B2640"/>
                          </a:solidFill>
                          <a:latin typeface="Calibri"/>
                        </a:rPr>
                        <a:t>untraceable event</a:t>
                      </a:r>
                    </a:p>
                  </a:txBody>
                  <a:tcPr>
                    <a:solidFill>
                      <a:srgbClr val="EEF2F8"/>
                    </a:solidFill>
                  </a:tcPr>
                </a:tc>
                <a:tc>
                  <a:txBody>
                    <a:bodyPr/>
                    <a:lstStyle/>
                    <a:p>
                      <a:r>
                        <a:rPr sz="1100">
                          <a:solidFill>
                            <a:srgbClr val="1B2640"/>
                          </a:solidFill>
                          <a:latin typeface="Calibri"/>
                        </a:rPr>
                        <a:t>0</a:t>
                      </a:r>
                    </a:p>
                  </a:txBody>
                  <a:tcPr>
                    <a:solidFill>
                      <a:srgbClr val="EEF2F8"/>
                    </a:solidFill>
                  </a:tcPr>
                </a:tc>
                <a:tc>
                  <a:txBody>
                    <a:bodyPr/>
                    <a:lstStyle/>
                    <a:p>
                      <a:r>
                        <a:rPr sz="1100">
                          <a:solidFill>
                            <a:srgbClr val="1B2640"/>
                          </a:solidFill>
                          <a:latin typeface="Calibri"/>
                        </a:rPr>
                        <a:t>Event tanpa jejak audit</a:t>
                      </a:r>
                    </a:p>
                  </a:txBody>
                  <a:tcPr>
                    <a:solidFill>
                      <a:srgbClr val="EEF2F8"/>
                    </a:solidFill>
                  </a:tcPr>
                </a:tc>
              </a:tr>
              <a:tr h="426720">
                <a:tc>
                  <a:txBody>
                    <a:bodyPr/>
                    <a:lstStyle/>
                    <a:p>
                      <a:r>
                        <a:rPr sz="1100">
                          <a:solidFill>
                            <a:srgbClr val="1B2640"/>
                          </a:solidFill>
                          <a:latin typeface="Calibri"/>
                        </a:rPr>
                        <a:t>terminal-state coverage</a:t>
                      </a:r>
                    </a:p>
                  </a:txBody>
                  <a:tcPr>
                    <a:solidFill>
                      <a:srgbClr val="FFFFFF"/>
                    </a:solidFill>
                  </a:tcPr>
                </a:tc>
                <a:tc>
                  <a:txBody>
                    <a:bodyPr/>
                    <a:lstStyle/>
                    <a:p>
                      <a:r>
                        <a:rPr sz="1100">
                          <a:solidFill>
                            <a:srgbClr val="1B2640"/>
                          </a:solidFill>
                          <a:latin typeface="Calibri"/>
                        </a:rPr>
                        <a:t>100%</a:t>
                      </a:r>
                    </a:p>
                  </a:txBody>
                  <a:tcPr>
                    <a:solidFill>
                      <a:srgbClr val="FFFFFF"/>
                    </a:solidFill>
                  </a:tcPr>
                </a:tc>
                <a:tc>
                  <a:txBody>
                    <a:bodyPr/>
                    <a:lstStyle/>
                    <a:p>
                      <a:r>
                        <a:rPr sz="1100">
                          <a:solidFill>
                            <a:srgbClr val="1B2640"/>
                          </a:solidFill>
                          <a:latin typeface="Calibri"/>
                        </a:rPr>
                        <a:t>Semua transaksi berstatus final</a:t>
                      </a:r>
                    </a:p>
                  </a:txBody>
                  <a:tcPr>
                    <a:solidFill>
                      <a:srgbClr val="FFFFFF"/>
                    </a:solidFill>
                  </a:tcPr>
                </a:tc>
              </a:tr>
              <a:tr h="426720">
                <a:tc>
                  <a:txBody>
                    <a:bodyPr/>
                    <a:lstStyle/>
                    <a:p>
                      <a:r>
                        <a:rPr sz="1100">
                          <a:solidFill>
                            <a:srgbClr val="1B2640"/>
                          </a:solidFill>
                          <a:latin typeface="Calibri"/>
                        </a:rPr>
                        <a:t>compensation success</a:t>
                      </a:r>
                    </a:p>
                  </a:txBody>
                  <a:tcPr>
                    <a:solidFill>
                      <a:srgbClr val="EEF2F8"/>
                    </a:solidFill>
                  </a:tcPr>
                </a:tc>
                <a:tc>
                  <a:txBody>
                    <a:bodyPr/>
                    <a:lstStyle/>
                    <a:p>
                      <a:r>
                        <a:rPr sz="1100">
                          <a:solidFill>
                            <a:srgbClr val="1B2640"/>
                          </a:solidFill>
                          <a:latin typeface="Calibri"/>
                        </a:rPr>
                        <a:t>100%</a:t>
                      </a:r>
                    </a:p>
                  </a:txBody>
                  <a:tcPr>
                    <a:solidFill>
                      <a:srgbClr val="EEF2F8"/>
                    </a:solidFill>
                  </a:tcPr>
                </a:tc>
                <a:tc>
                  <a:txBody>
                    <a:bodyPr/>
                    <a:lstStyle/>
                    <a:p>
                      <a:r>
                        <a:rPr sz="1100">
                          <a:solidFill>
                            <a:srgbClr val="1B2640"/>
                          </a:solidFill>
                          <a:latin typeface="Calibri"/>
                        </a:rPr>
                        <a:t>Semua kompensasi tuntas</a:t>
                      </a:r>
                    </a:p>
                  </a:txBody>
                  <a:tcPr>
                    <a:solidFill>
                      <a:srgbClr val="EEF2F8"/>
                    </a:solidFill>
                  </a:tcPr>
                </a:tc>
              </a:tr>
              <a:tr h="426720">
                <a:tc>
                  <a:txBody>
                    <a:bodyPr/>
                    <a:lstStyle/>
                    <a:p>
                      <a:r>
                        <a:rPr sz="1100">
                          <a:solidFill>
                            <a:srgbClr val="1B2640"/>
                          </a:solidFill>
                          <a:latin typeface="Calibri"/>
                        </a:rPr>
                        <a:t>read-model lag</a:t>
                      </a:r>
                    </a:p>
                  </a:txBody>
                  <a:tcPr>
                    <a:solidFill>
                      <a:srgbClr val="FFFFFF"/>
                    </a:solidFill>
                  </a:tcPr>
                </a:tc>
                <a:tc>
                  <a:txBody>
                    <a:bodyPr/>
                    <a:lstStyle/>
                    <a:p>
                      <a:r>
                        <a:rPr sz="1100">
                          <a:solidFill>
                            <a:srgbClr val="1B2640"/>
                          </a:solidFill>
                          <a:latin typeface="Calibri"/>
                        </a:rPr>
                        <a:t>60 dtk atau kurang</a:t>
                      </a:r>
                    </a:p>
                  </a:txBody>
                  <a:tcPr>
                    <a:solidFill>
                      <a:srgbClr val="FFFFFF"/>
                    </a:solidFill>
                  </a:tcPr>
                </a:tc>
                <a:tc>
                  <a:txBody>
                    <a:bodyPr/>
                    <a:lstStyle/>
                    <a:p>
                      <a:r>
                        <a:rPr sz="1100">
                          <a:solidFill>
                            <a:srgbClr val="1B2640"/>
                          </a:solidFill>
                          <a:latin typeface="Calibri"/>
                        </a:rPr>
                        <a:t>Jeda salinan baca</a:t>
                      </a:r>
                    </a:p>
                  </a:txBody>
                  <a:tcPr>
                    <a:solidFill>
                      <a:srgbClr val="FFFFFF"/>
                    </a:solidFill>
                  </a:tcPr>
                </a:tc>
              </a:tr>
            </a:tbl>
          </a:graphicData>
        </a:graphic>
      </p:graphicFrame>
      <p:sp>
        <p:nvSpPr>
          <p:cNvPr id="4" name="TextBox 3"/>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5B6B8A"/>
                </a:solidFill>
                <a:latin typeface="Calibri"/>
              </a:rPr>
              <a:t>S1 Teknik Informatika  |  Universitas Negeri Surabaya</a:t>
            </a:r>
          </a:p>
          <a:p>
            <a:pPr algn="r">
              <a:spcAft>
                <a:spcPts val="400"/>
              </a:spcAft>
            </a:pPr>
            <a:r>
              <a:rPr sz="1200" b="0">
                <a:solidFill>
                  <a:srgbClr val="5B6B8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1463040"/>
          </a:xfrm>
          <a:prstGeom prst="rect">
            <a:avLst/>
          </a:prstGeom>
          <a:noFill/>
        </p:spPr>
        <p:txBody>
          <a:bodyPr wrap="square" anchor="t">
            <a:spAutoFit/>
          </a:bodyPr>
          <a:lstStyle/>
          <a:p>
            <a:pPr>
              <a:spcAft>
                <a:spcPts val="400"/>
              </a:spcAft>
            </a:pPr>
            <a:r>
              <a:rPr sz="3000" b="1">
                <a:solidFill>
                  <a:srgbClr val="12284C"/>
                </a:solidFill>
                <a:latin typeface="Cambria"/>
              </a:rPr>
              <a:t>Enam kode gangguan; F1 sampai F4a hanya berlaku pada kedua EDA</a:t>
            </a:r>
          </a:p>
          <a:p>
            <a:pPr>
              <a:spcAft>
                <a:spcPts val="400"/>
              </a:spcAft>
            </a:pPr>
            <a:r>
              <a:rPr sz="1600" b="0">
                <a:solidFill>
                  <a:srgbClr val="5B6B8A"/>
                </a:solidFill>
                <a:latin typeface="Calibri"/>
              </a:rPr>
              <a:t>Skenario: Penjualan Bersamaan, Mutasi Stok, Pembayaran Digital, QRIS Statis.</a:t>
            </a:r>
          </a:p>
        </p:txBody>
      </p:sp>
      <p:graphicFrame>
        <p:nvGraphicFramePr>
          <p:cNvPr id="3" name="Table 2"/>
          <p:cNvGraphicFramePr>
            <a:graphicFrameLocks noGrp="1"/>
          </p:cNvGraphicFramePr>
          <p:nvPr/>
        </p:nvGraphicFramePr>
        <p:xfrm>
          <a:off x="640080" y="2286000"/>
          <a:ext cx="11064240" cy="3840480"/>
        </p:xfrm>
        <a:graphic>
          <a:graphicData uri="http://schemas.openxmlformats.org/drawingml/2006/table">
            <a:tbl>
              <a:tblPr firstRow="1" bandRow="1">
                <a:tableStyleId>{5C22544A-7EE6-4342-B048-85BDC9FD1C3A}</a:tableStyleId>
              </a:tblPr>
              <a:tblGrid>
                <a:gridCol w="731520"/>
                <a:gridCol w="3017520"/>
                <a:gridCol w="2651760"/>
                <a:gridCol w="1143000"/>
                <a:gridCol w="3520440"/>
              </a:tblGrid>
              <a:tr h="480060">
                <a:tc>
                  <a:txBody>
                    <a:bodyPr/>
                    <a:lstStyle/>
                    <a:p>
                      <a:r>
                        <a:rPr sz="1200" b="1">
                          <a:solidFill>
                            <a:srgbClr val="FFFFFF"/>
                          </a:solidFill>
                          <a:latin typeface="Cambria"/>
                        </a:rPr>
                        <a:t>Kode</a:t>
                      </a:r>
                    </a:p>
                  </a:txBody>
                  <a:tcPr>
                    <a:solidFill>
                      <a:srgbClr val="1F2937"/>
                    </a:solidFill>
                  </a:tcPr>
                </a:tc>
                <a:tc>
                  <a:txBody>
                    <a:bodyPr/>
                    <a:lstStyle/>
                    <a:p>
                      <a:r>
                        <a:rPr sz="1200" b="1">
                          <a:solidFill>
                            <a:srgbClr val="FFFFFF"/>
                          </a:solidFill>
                          <a:latin typeface="Cambria"/>
                        </a:rPr>
                        <a:t>Gangguan</a:t>
                      </a:r>
                    </a:p>
                  </a:txBody>
                  <a:tcPr>
                    <a:solidFill>
                      <a:srgbClr val="1F2937"/>
                    </a:solidFill>
                  </a:tcPr>
                </a:tc>
                <a:tc>
                  <a:txBody>
                    <a:bodyPr/>
                    <a:lstStyle/>
                    <a:p>
                      <a:r>
                        <a:rPr sz="1200" b="1">
                          <a:solidFill>
                            <a:srgbClr val="FFFFFF"/>
                          </a:solidFill>
                          <a:latin typeface="Cambria"/>
                        </a:rPr>
                        <a:t>Skenario</a:t>
                      </a:r>
                    </a:p>
                  </a:txBody>
                  <a:tcPr>
                    <a:solidFill>
                      <a:srgbClr val="1F2937"/>
                    </a:solidFill>
                  </a:tcPr>
                </a:tc>
                <a:tc>
                  <a:txBody>
                    <a:bodyPr/>
                    <a:lstStyle/>
                    <a:p>
                      <a:r>
                        <a:rPr sz="1200" b="1">
                          <a:solidFill>
                            <a:srgbClr val="FFFFFF"/>
                          </a:solidFill>
                          <a:latin typeface="Cambria"/>
                        </a:rPr>
                        <a:t>Berlaku</a:t>
                      </a:r>
                    </a:p>
                  </a:txBody>
                  <a:tcPr>
                    <a:solidFill>
                      <a:srgbClr val="1F2937"/>
                    </a:solidFill>
                  </a:tcPr>
                </a:tc>
                <a:tc>
                  <a:txBody>
                    <a:bodyPr/>
                    <a:lstStyle/>
                    <a:p>
                      <a:r>
                        <a:rPr sz="1200" b="1">
                          <a:solidFill>
                            <a:srgbClr val="FFFFFF"/>
                          </a:solidFill>
                          <a:latin typeface="Cambria"/>
                        </a:rPr>
                        <a:t>Bukti</a:t>
                      </a:r>
                    </a:p>
                  </a:txBody>
                  <a:tcPr>
                    <a:solidFill>
                      <a:srgbClr val="1F2937"/>
                    </a:solidFill>
                  </a:tcPr>
                </a:tc>
              </a:tr>
              <a:tr h="480060">
                <a:tc>
                  <a:txBody>
                    <a:bodyPr/>
                    <a:lstStyle/>
                    <a:p>
                      <a:r>
                        <a:rPr sz="1100">
                          <a:solidFill>
                            <a:srgbClr val="1B2640"/>
                          </a:solidFill>
                          <a:latin typeface="Calibri"/>
                        </a:rPr>
                        <a:t>F1</a:t>
                      </a:r>
                    </a:p>
                  </a:txBody>
                  <a:tcPr>
                    <a:solidFill>
                      <a:srgbClr val="EEF2F8"/>
                    </a:solidFill>
                  </a:tcPr>
                </a:tc>
                <a:tc>
                  <a:txBody>
                    <a:bodyPr/>
                    <a:lstStyle/>
                    <a:p>
                      <a:r>
                        <a:rPr sz="1100">
                          <a:solidFill>
                            <a:srgbClr val="1B2640"/>
                          </a:solidFill>
                          <a:latin typeface="Calibri"/>
                        </a:rPr>
                        <a:t>Producer berhenti sebelum event terbit</a:t>
                      </a:r>
                    </a:p>
                  </a:txBody>
                  <a:tcPr>
                    <a:solidFill>
                      <a:srgbClr val="EEF2F8"/>
                    </a:solidFill>
                  </a:tcPr>
                </a:tc>
                <a:tc>
                  <a:txBody>
                    <a:bodyPr/>
                    <a:lstStyle/>
                    <a:p>
                      <a:r>
                        <a:rPr sz="1100">
                          <a:solidFill>
                            <a:srgbClr val="1B2640"/>
                          </a:solidFill>
                          <a:latin typeface="Calibri"/>
                        </a:rPr>
                        <a:t>Penjualan Bersamaan</a:t>
                      </a:r>
                    </a:p>
                  </a:txBody>
                  <a:tcPr>
                    <a:solidFill>
                      <a:srgbClr val="EEF2F8"/>
                    </a:solidFill>
                  </a:tcPr>
                </a:tc>
                <a:tc>
                  <a:txBody>
                    <a:bodyPr/>
                    <a:lstStyle/>
                    <a:p>
                      <a:r>
                        <a:rPr sz="1100">
                          <a:solidFill>
                            <a:srgbClr val="1B2640"/>
                          </a:solidFill>
                          <a:latin typeface="Calibri"/>
                        </a:rPr>
                        <a:t>Kedua EDA</a:t>
                      </a:r>
                    </a:p>
                  </a:txBody>
                  <a:tcPr>
                    <a:solidFill>
                      <a:srgbClr val="EEF2F8"/>
                    </a:solidFill>
                  </a:tcPr>
                </a:tc>
                <a:tc>
                  <a:txBody>
                    <a:bodyPr/>
                    <a:lstStyle/>
                    <a:p>
                      <a:r>
                        <a:rPr sz="1100">
                          <a:solidFill>
                            <a:srgbClr val="1B2640"/>
                          </a:solidFill>
                          <a:latin typeface="Calibri"/>
                        </a:rPr>
                        <a:t>Jejak outbox dan log</a:t>
                      </a:r>
                    </a:p>
                  </a:txBody>
                  <a:tcPr>
                    <a:solidFill>
                      <a:srgbClr val="EEF2F8"/>
                    </a:solidFill>
                  </a:tcPr>
                </a:tc>
              </a:tr>
              <a:tr h="480060">
                <a:tc>
                  <a:txBody>
                    <a:bodyPr/>
                    <a:lstStyle/>
                    <a:p>
                      <a:r>
                        <a:rPr sz="1100">
                          <a:solidFill>
                            <a:srgbClr val="1B2640"/>
                          </a:solidFill>
                          <a:latin typeface="Calibri"/>
                        </a:rPr>
                        <a:t>F2</a:t>
                      </a:r>
                    </a:p>
                  </a:txBody>
                  <a:tcPr>
                    <a:solidFill>
                      <a:srgbClr val="FFFFFF"/>
                    </a:solidFill>
                  </a:tcPr>
                </a:tc>
                <a:tc>
                  <a:txBody>
                    <a:bodyPr/>
                    <a:lstStyle/>
                    <a:p>
                      <a:r>
                        <a:rPr sz="1100">
                          <a:solidFill>
                            <a:srgbClr val="1B2640"/>
                          </a:solidFill>
                          <a:latin typeface="Calibri"/>
                        </a:rPr>
                        <a:t>Event terkirim ganda</a:t>
                      </a:r>
                    </a:p>
                  </a:txBody>
                  <a:tcPr>
                    <a:solidFill>
                      <a:srgbClr val="FFFFFF"/>
                    </a:solidFill>
                  </a:tcPr>
                </a:tc>
                <a:tc>
                  <a:txBody>
                    <a:bodyPr/>
                    <a:lstStyle/>
                    <a:p>
                      <a:r>
                        <a:rPr sz="1100">
                          <a:solidFill>
                            <a:srgbClr val="1B2640"/>
                          </a:solidFill>
                          <a:latin typeface="Calibri"/>
                        </a:rPr>
                        <a:t>Pembayaran Digital</a:t>
                      </a:r>
                    </a:p>
                  </a:txBody>
                  <a:tcPr>
                    <a:solidFill>
                      <a:srgbClr val="FFFFFF"/>
                    </a:solidFill>
                  </a:tcPr>
                </a:tc>
                <a:tc>
                  <a:txBody>
                    <a:bodyPr/>
                    <a:lstStyle/>
                    <a:p>
                      <a:r>
                        <a:rPr sz="1100">
                          <a:solidFill>
                            <a:srgbClr val="1B2640"/>
                          </a:solidFill>
                          <a:latin typeface="Calibri"/>
                        </a:rPr>
                        <a:t>Kedua EDA</a:t>
                      </a:r>
                    </a:p>
                  </a:txBody>
                  <a:tcPr>
                    <a:solidFill>
                      <a:srgbClr val="FFFFFF"/>
                    </a:solidFill>
                  </a:tcPr>
                </a:tc>
                <a:tc>
                  <a:txBody>
                    <a:bodyPr/>
                    <a:lstStyle/>
                    <a:p>
                      <a:r>
                        <a:rPr sz="1100">
                          <a:solidFill>
                            <a:srgbClr val="1B2640"/>
                          </a:solidFill>
                          <a:latin typeface="Calibri"/>
                        </a:rPr>
                        <a:t>Kunci idempotency</a:t>
                      </a:r>
                    </a:p>
                  </a:txBody>
                  <a:tcPr>
                    <a:solidFill>
                      <a:srgbClr val="FFFFFF"/>
                    </a:solidFill>
                  </a:tcPr>
                </a:tc>
              </a:tr>
              <a:tr h="480060">
                <a:tc>
                  <a:txBody>
                    <a:bodyPr/>
                    <a:lstStyle/>
                    <a:p>
                      <a:r>
                        <a:rPr sz="1100">
                          <a:solidFill>
                            <a:srgbClr val="1B2640"/>
                          </a:solidFill>
                          <a:latin typeface="Calibri"/>
                        </a:rPr>
                        <a:t>F3</a:t>
                      </a:r>
                    </a:p>
                  </a:txBody>
                  <a:tcPr>
                    <a:solidFill>
                      <a:srgbClr val="EEF2F8"/>
                    </a:solidFill>
                  </a:tcPr>
                </a:tc>
                <a:tc>
                  <a:txBody>
                    <a:bodyPr/>
                    <a:lstStyle/>
                    <a:p>
                      <a:r>
                        <a:rPr sz="1100">
                          <a:solidFill>
                            <a:srgbClr val="1B2640"/>
                          </a:solidFill>
                          <a:latin typeface="Calibri"/>
                        </a:rPr>
                        <a:t>Consumer berhenti sebelum ACK</a:t>
                      </a:r>
                    </a:p>
                  </a:txBody>
                  <a:tcPr>
                    <a:solidFill>
                      <a:srgbClr val="EEF2F8"/>
                    </a:solidFill>
                  </a:tcPr>
                </a:tc>
                <a:tc>
                  <a:txBody>
                    <a:bodyPr/>
                    <a:lstStyle/>
                    <a:p>
                      <a:r>
                        <a:rPr sz="1100">
                          <a:solidFill>
                            <a:srgbClr val="1B2640"/>
                          </a:solidFill>
                          <a:latin typeface="Calibri"/>
                        </a:rPr>
                        <a:t>Mutasi Stok</a:t>
                      </a:r>
                    </a:p>
                  </a:txBody>
                  <a:tcPr>
                    <a:solidFill>
                      <a:srgbClr val="EEF2F8"/>
                    </a:solidFill>
                  </a:tcPr>
                </a:tc>
                <a:tc>
                  <a:txBody>
                    <a:bodyPr/>
                    <a:lstStyle/>
                    <a:p>
                      <a:r>
                        <a:rPr sz="1100">
                          <a:solidFill>
                            <a:srgbClr val="1B2640"/>
                          </a:solidFill>
                          <a:latin typeface="Calibri"/>
                        </a:rPr>
                        <a:t>Kedua EDA</a:t>
                      </a:r>
                    </a:p>
                  </a:txBody>
                  <a:tcPr>
                    <a:solidFill>
                      <a:srgbClr val="EEF2F8"/>
                    </a:solidFill>
                  </a:tcPr>
                </a:tc>
                <a:tc>
                  <a:txBody>
                    <a:bodyPr/>
                    <a:lstStyle/>
                    <a:p>
                      <a:r>
                        <a:rPr sz="1100">
                          <a:solidFill>
                            <a:srgbClr val="1B2640"/>
                          </a:solidFill>
                          <a:latin typeface="Calibri"/>
                        </a:rPr>
                        <a:t>Jejak retry dan DLQ</a:t>
                      </a:r>
                    </a:p>
                  </a:txBody>
                  <a:tcPr>
                    <a:solidFill>
                      <a:srgbClr val="EEF2F8"/>
                    </a:solidFill>
                  </a:tcPr>
                </a:tc>
              </a:tr>
              <a:tr h="480060">
                <a:tc>
                  <a:txBody>
                    <a:bodyPr/>
                    <a:lstStyle/>
                    <a:p>
                      <a:r>
                        <a:rPr sz="1100">
                          <a:solidFill>
                            <a:srgbClr val="1B2640"/>
                          </a:solidFill>
                          <a:latin typeface="Calibri"/>
                        </a:rPr>
                        <a:t>F4a</a:t>
                      </a:r>
                    </a:p>
                  </a:txBody>
                  <a:tcPr>
                    <a:solidFill>
                      <a:srgbClr val="FFFFFF"/>
                    </a:solidFill>
                  </a:tcPr>
                </a:tc>
                <a:tc>
                  <a:txBody>
                    <a:bodyPr/>
                    <a:lstStyle/>
                    <a:p>
                      <a:r>
                        <a:rPr sz="1100">
                          <a:solidFill>
                            <a:srgbClr val="1B2640"/>
                          </a:solidFill>
                          <a:latin typeface="Calibri"/>
                        </a:rPr>
                        <a:t>Jalur pesan ditunda</a:t>
                      </a:r>
                    </a:p>
                  </a:txBody>
                  <a:tcPr>
                    <a:solidFill>
                      <a:srgbClr val="FFFFFF"/>
                    </a:solidFill>
                  </a:tcPr>
                </a:tc>
                <a:tc>
                  <a:txBody>
                    <a:bodyPr/>
                    <a:lstStyle/>
                    <a:p>
                      <a:r>
                        <a:rPr sz="1100">
                          <a:solidFill>
                            <a:srgbClr val="1B2640"/>
                          </a:solidFill>
                          <a:latin typeface="Calibri"/>
                        </a:rPr>
                        <a:t>Penjualan Bersamaan</a:t>
                      </a:r>
                    </a:p>
                  </a:txBody>
                  <a:tcPr>
                    <a:solidFill>
                      <a:srgbClr val="FFFFFF"/>
                    </a:solidFill>
                  </a:tcPr>
                </a:tc>
                <a:tc>
                  <a:txBody>
                    <a:bodyPr/>
                    <a:lstStyle/>
                    <a:p>
                      <a:r>
                        <a:rPr sz="1100">
                          <a:solidFill>
                            <a:srgbClr val="1B2640"/>
                          </a:solidFill>
                          <a:latin typeface="Calibri"/>
                        </a:rPr>
                        <a:t>Kedua EDA</a:t>
                      </a:r>
                    </a:p>
                  </a:txBody>
                  <a:tcPr>
                    <a:solidFill>
                      <a:srgbClr val="FFFFFF"/>
                    </a:solidFill>
                  </a:tcPr>
                </a:tc>
                <a:tc>
                  <a:txBody>
                    <a:bodyPr/>
                    <a:lstStyle/>
                    <a:p>
                      <a:r>
                        <a:rPr sz="1100">
                          <a:solidFill>
                            <a:srgbClr val="1B2640"/>
                          </a:solidFill>
                          <a:latin typeface="Calibri"/>
                        </a:rPr>
                        <a:t>Jejak retry dan DLQ</a:t>
                      </a:r>
                    </a:p>
                  </a:txBody>
                  <a:tcPr>
                    <a:solidFill>
                      <a:srgbClr val="FFFFFF"/>
                    </a:solidFill>
                  </a:tcPr>
                </a:tc>
              </a:tr>
              <a:tr h="480060">
                <a:tc>
                  <a:txBody>
                    <a:bodyPr/>
                    <a:lstStyle/>
                    <a:p>
                      <a:r>
                        <a:rPr sz="1100">
                          <a:solidFill>
                            <a:srgbClr val="1B2640"/>
                          </a:solidFill>
                          <a:latin typeface="Calibri"/>
                        </a:rPr>
                        <a:t>F4b</a:t>
                      </a:r>
                    </a:p>
                  </a:txBody>
                  <a:tcPr>
                    <a:solidFill>
                      <a:srgbClr val="EEF2F8"/>
                    </a:solidFill>
                  </a:tcPr>
                </a:tc>
                <a:tc>
                  <a:txBody>
                    <a:bodyPr/>
                    <a:lstStyle/>
                    <a:p>
                      <a:r>
                        <a:rPr sz="1100">
                          <a:solidFill>
                            <a:srgbClr val="1B2640"/>
                          </a:solidFill>
                          <a:latin typeface="Calibri"/>
                        </a:rPr>
                        <a:t>Notifikasi bayar terlambat atau tidak berurutan</a:t>
                      </a:r>
                    </a:p>
                  </a:txBody>
                  <a:tcPr>
                    <a:solidFill>
                      <a:srgbClr val="EEF2F8"/>
                    </a:solidFill>
                  </a:tcPr>
                </a:tc>
                <a:tc>
                  <a:txBody>
                    <a:bodyPr/>
                    <a:lstStyle/>
                    <a:p>
                      <a:r>
                        <a:rPr sz="1100">
                          <a:solidFill>
                            <a:srgbClr val="1B2640"/>
                          </a:solidFill>
                          <a:latin typeface="Calibri"/>
                        </a:rPr>
                        <a:t>Pembayaran Digital, QRIS Statis</a:t>
                      </a:r>
                    </a:p>
                  </a:txBody>
                  <a:tcPr>
                    <a:solidFill>
                      <a:srgbClr val="EEF2F8"/>
                    </a:solidFill>
                  </a:tcPr>
                </a:tc>
                <a:tc>
                  <a:txBody>
                    <a:bodyPr/>
                    <a:lstStyle/>
                    <a:p>
                      <a:r>
                        <a:rPr sz="1100">
                          <a:solidFill>
                            <a:srgbClr val="1B2640"/>
                          </a:solidFill>
                          <a:latin typeface="Calibri"/>
                        </a:rPr>
                        <a:t>Ketiga kondisi</a:t>
                      </a:r>
                    </a:p>
                  </a:txBody>
                  <a:tcPr>
                    <a:solidFill>
                      <a:srgbClr val="EEF2F8"/>
                    </a:solidFill>
                  </a:tcPr>
                </a:tc>
                <a:tc>
                  <a:txBody>
                    <a:bodyPr/>
                    <a:lstStyle/>
                    <a:p>
                      <a:r>
                        <a:rPr sz="1100">
                          <a:solidFill>
                            <a:srgbClr val="1B2640"/>
                          </a:solidFill>
                          <a:latin typeface="Calibri"/>
                        </a:rPr>
                        <a:t>Status akhir dan rekonsiliasi</a:t>
                      </a:r>
                    </a:p>
                  </a:txBody>
                  <a:tcPr>
                    <a:solidFill>
                      <a:srgbClr val="EEF2F8"/>
                    </a:solidFill>
                  </a:tcPr>
                </a:tc>
              </a:tr>
              <a:tr h="480060">
                <a:tc>
                  <a:txBody>
                    <a:bodyPr/>
                    <a:lstStyle/>
                    <a:p>
                      <a:r>
                        <a:rPr sz="1100">
                          <a:solidFill>
                            <a:srgbClr val="1B2640"/>
                          </a:solidFill>
                          <a:latin typeface="Calibri"/>
                        </a:rPr>
                        <a:t>F5</a:t>
                      </a:r>
                    </a:p>
                  </a:txBody>
                  <a:tcPr>
                    <a:solidFill>
                      <a:srgbClr val="FFFFFF"/>
                    </a:solidFill>
                  </a:tcPr>
                </a:tc>
                <a:tc>
                  <a:txBody>
                    <a:bodyPr/>
                    <a:lstStyle/>
                    <a:p>
                      <a:r>
                        <a:rPr sz="1100">
                          <a:solidFill>
                            <a:srgbClr val="1B2640"/>
                          </a:solidFill>
                          <a:latin typeface="Calibri"/>
                        </a:rPr>
                        <a:t>Dua transaksi berebut stok</a:t>
                      </a:r>
                    </a:p>
                  </a:txBody>
                  <a:tcPr>
                    <a:solidFill>
                      <a:srgbClr val="FFFFFF"/>
                    </a:solidFill>
                  </a:tcPr>
                </a:tc>
                <a:tc>
                  <a:txBody>
                    <a:bodyPr/>
                    <a:lstStyle/>
                    <a:p>
                      <a:r>
                        <a:rPr sz="1100">
                          <a:solidFill>
                            <a:srgbClr val="1B2640"/>
                          </a:solidFill>
                          <a:latin typeface="Calibri"/>
                        </a:rPr>
                        <a:t>Penjualan Bersamaan</a:t>
                      </a:r>
                    </a:p>
                  </a:txBody>
                  <a:tcPr>
                    <a:solidFill>
                      <a:srgbClr val="FFFFFF"/>
                    </a:solidFill>
                  </a:tcPr>
                </a:tc>
                <a:tc>
                  <a:txBody>
                    <a:bodyPr/>
                    <a:lstStyle/>
                    <a:p>
                      <a:r>
                        <a:rPr sz="1100">
                          <a:solidFill>
                            <a:srgbClr val="1B2640"/>
                          </a:solidFill>
                          <a:latin typeface="Calibri"/>
                        </a:rPr>
                        <a:t>Ketiga kondisi</a:t>
                      </a:r>
                    </a:p>
                  </a:txBody>
                  <a:tcPr>
                    <a:solidFill>
                      <a:srgbClr val="FFFFFF"/>
                    </a:solidFill>
                  </a:tcPr>
                </a:tc>
                <a:tc>
                  <a:txBody>
                    <a:bodyPr/>
                    <a:lstStyle/>
                    <a:p>
                      <a:r>
                        <a:rPr sz="1100">
                          <a:solidFill>
                            <a:srgbClr val="1B2640"/>
                          </a:solidFill>
                          <a:latin typeface="Calibri"/>
                        </a:rPr>
                        <a:t>Jejak versi dan kunci baris</a:t>
                      </a:r>
                    </a:p>
                  </a:txBody>
                  <a:tcPr>
                    <a:solidFill>
                      <a:srgbClr val="FFFFFF"/>
                    </a:solidFill>
                  </a:tcPr>
                </a:tc>
              </a:tr>
              <a:tr h="480060">
                <a:tc>
                  <a:txBody>
                    <a:bodyPr/>
                    <a:lstStyle/>
                    <a:p>
                      <a:r>
                        <a:rPr sz="1100">
                          <a:solidFill>
                            <a:srgbClr val="1B2640"/>
                          </a:solidFill>
                          <a:latin typeface="Calibri"/>
                        </a:rPr>
                        <a:t>F6</a:t>
                      </a:r>
                    </a:p>
                  </a:txBody>
                  <a:tcPr>
                    <a:solidFill>
                      <a:srgbClr val="EEF2F8"/>
                    </a:solidFill>
                  </a:tcPr>
                </a:tc>
                <a:tc>
                  <a:txBody>
                    <a:bodyPr/>
                    <a:lstStyle/>
                    <a:p>
                      <a:r>
                        <a:rPr sz="1100">
                          <a:solidFill>
                            <a:srgbClr val="1B2640"/>
                          </a:solidFill>
                          <a:latin typeface="Calibri"/>
                        </a:rPr>
                        <a:t>Pembayaran gagal setelah stok direservasi</a:t>
                      </a:r>
                    </a:p>
                  </a:txBody>
                  <a:tcPr>
                    <a:solidFill>
                      <a:srgbClr val="EEF2F8"/>
                    </a:solidFill>
                  </a:tcPr>
                </a:tc>
                <a:tc>
                  <a:txBody>
                    <a:bodyPr/>
                    <a:lstStyle/>
                    <a:p>
                      <a:r>
                        <a:rPr sz="1100">
                          <a:solidFill>
                            <a:srgbClr val="1B2640"/>
                          </a:solidFill>
                          <a:latin typeface="Calibri"/>
                        </a:rPr>
                        <a:t>Pembayaran Digital</a:t>
                      </a:r>
                    </a:p>
                  </a:txBody>
                  <a:tcPr>
                    <a:solidFill>
                      <a:srgbClr val="EEF2F8"/>
                    </a:solidFill>
                  </a:tcPr>
                </a:tc>
                <a:tc>
                  <a:txBody>
                    <a:bodyPr/>
                    <a:lstStyle/>
                    <a:p>
                      <a:r>
                        <a:rPr sz="1100">
                          <a:solidFill>
                            <a:srgbClr val="1B2640"/>
                          </a:solidFill>
                          <a:latin typeface="Calibri"/>
                        </a:rPr>
                        <a:t>Ketiga kondisi</a:t>
                      </a:r>
                    </a:p>
                  </a:txBody>
                  <a:tcPr>
                    <a:solidFill>
                      <a:srgbClr val="EEF2F8"/>
                    </a:solidFill>
                  </a:tcPr>
                </a:tc>
                <a:tc>
                  <a:txBody>
                    <a:bodyPr/>
                    <a:lstStyle/>
                    <a:p>
                      <a:r>
                        <a:rPr sz="1100">
                          <a:solidFill>
                            <a:srgbClr val="1B2640"/>
                          </a:solidFill>
                          <a:latin typeface="Calibri"/>
                        </a:rPr>
                        <a:t>Jejak kompensasi</a:t>
                      </a:r>
                    </a:p>
                  </a:txBody>
                  <a:tcPr>
                    <a:solidFill>
                      <a:srgbClr val="EEF2F8"/>
                    </a:solidFill>
                  </a:tcPr>
                </a:tc>
              </a:tr>
            </a:tbl>
          </a:graphicData>
        </a:graphic>
      </p:graphicFrame>
      <p:sp>
        <p:nvSpPr>
          <p:cNvPr id="4" name="TextBox 3"/>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5B6B8A"/>
                </a:solidFill>
                <a:latin typeface="Calibri"/>
              </a:rPr>
              <a:t>S1 Teknik Informatika  |  Universitas Negeri Surabaya</a:t>
            </a:r>
          </a:p>
          <a:p>
            <a:pPr algn="r">
              <a:spcAft>
                <a:spcPts val="400"/>
              </a:spcAft>
            </a:pPr>
            <a:r>
              <a:rPr sz="1200" b="0">
                <a:solidFill>
                  <a:srgbClr val="5B6B8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284C"/>
        </a:solidFill>
        <a:effectLst/>
      </p:bgPr>
    </p:bg>
    <p:spTree>
      <p:nvGrpSpPr>
        <p:cNvPr id="1" name=""/>
        <p:cNvGrpSpPr/>
        <p:nvPr/>
      </p:nvGrpSpPr>
      <p:grpSpPr/>
      <p:sp>
        <p:nvSpPr>
          <p:cNvPr id="2" name="TextBox 1"/>
          <p:cNvSpPr txBox="1"/>
          <p:nvPr/>
        </p:nvSpPr>
        <p:spPr>
          <a:xfrm>
            <a:off x="640080" y="320040"/>
            <a:ext cx="10881360" cy="1463040"/>
          </a:xfrm>
          <a:prstGeom prst="rect">
            <a:avLst/>
          </a:prstGeom>
          <a:noFill/>
        </p:spPr>
        <p:txBody>
          <a:bodyPr wrap="square" anchor="t">
            <a:spAutoFit/>
          </a:bodyPr>
          <a:lstStyle/>
          <a:p>
            <a:pPr>
              <a:spcAft>
                <a:spcPts val="400"/>
              </a:spcAft>
            </a:pPr>
            <a:r>
              <a:rPr sz="1200" b="1">
                <a:solidFill>
                  <a:srgbClr val="C9A227"/>
                </a:solidFill>
                <a:latin typeface="Cambria"/>
              </a:rPr>
              <a:t>ANGKA KUNCI</a:t>
            </a:r>
          </a:p>
          <a:p>
            <a:pPr>
              <a:spcAft>
                <a:spcPts val="400"/>
              </a:spcAft>
            </a:pPr>
            <a:r>
              <a:rPr sz="3000" b="1">
                <a:solidFill>
                  <a:srgbClr val="FFFFFF"/>
                </a:solidFill>
                <a:latin typeface="Cambria"/>
              </a:rPr>
              <a:t>3.330 run: 37 kombinasi x 3 tingkat beban x 30 replikasi</a:t>
            </a:r>
          </a:p>
          <a:p>
            <a:pPr>
              <a:spcAft>
                <a:spcPts val="400"/>
              </a:spcAft>
            </a:pPr>
            <a:r>
              <a:rPr sz="1600" b="0">
                <a:solidFill>
                  <a:srgbClr val="5B6B8A"/>
                </a:solidFill>
                <a:latin typeface="Calibri"/>
              </a:rPr>
              <a:t>Satu run: reset data, warm-up 60 dtk, beban 60 dtk, recovery 60 dtk bila ada gangguan, rekonsiliasi.</a:t>
            </a:r>
          </a:p>
        </p:txBody>
      </p:sp>
      <p:sp>
        <p:nvSpPr>
          <p:cNvPr id="3" name="Rounded Rectangle 2"/>
          <p:cNvSpPr/>
          <p:nvPr/>
        </p:nvSpPr>
        <p:spPr>
          <a:xfrm>
            <a:off x="640080" y="2468880"/>
            <a:ext cx="2308860" cy="301752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468880"/>
            <a:ext cx="2308860" cy="82296"/>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760220" cy="2468880"/>
          </a:xfrm>
          <a:prstGeom prst="rect">
            <a:avLst/>
          </a:prstGeom>
          <a:noFill/>
        </p:spPr>
        <p:txBody>
          <a:bodyPr wrap="square" anchor="t">
            <a:spAutoFit/>
          </a:bodyPr>
          <a:lstStyle/>
          <a:p>
            <a:pPr>
              <a:spcAft>
                <a:spcPts val="400"/>
              </a:spcAft>
            </a:pPr>
            <a:r>
              <a:rPr sz="4000" b="1">
                <a:solidFill>
                  <a:srgbClr val="2F5D9E"/>
                </a:solidFill>
                <a:latin typeface="Cambria"/>
              </a:rPr>
              <a:t>37</a:t>
            </a:r>
          </a:p>
          <a:p>
            <a:pPr>
              <a:spcAft>
                <a:spcPts val="400"/>
              </a:spcAft>
            </a:pPr>
            <a:r>
              <a:rPr sz="1400" b="0">
                <a:solidFill>
                  <a:srgbClr val="CADCFC"/>
                </a:solidFill>
                <a:latin typeface="Calibri"/>
              </a:rPr>
              <a:t>kombinasi (15 + 10 dengan gangguan, 12 tanpa)</a:t>
            </a:r>
          </a:p>
          <a:p>
            <a:pPr>
              <a:spcAft>
                <a:spcPts val="400"/>
              </a:spcAft>
            </a:pPr>
            <a:r>
              <a:rPr sz="400" b="0">
                <a:solidFill>
                  <a:srgbClr val="2A4373"/>
                </a:solidFill>
                <a:latin typeface="Calibri"/>
              </a:rPr>
              <a:t/>
            </a:r>
          </a:p>
        </p:txBody>
      </p:sp>
      <p:sp>
        <p:nvSpPr>
          <p:cNvPr id="6" name="Rounded Rectangle 5"/>
          <p:cNvSpPr/>
          <p:nvPr/>
        </p:nvSpPr>
        <p:spPr>
          <a:xfrm>
            <a:off x="3497580" y="2468880"/>
            <a:ext cx="2308860" cy="301752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97580" y="2468880"/>
            <a:ext cx="2308860" cy="82296"/>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71900" y="2743200"/>
            <a:ext cx="1760220" cy="2468880"/>
          </a:xfrm>
          <a:prstGeom prst="rect">
            <a:avLst/>
          </a:prstGeom>
          <a:noFill/>
        </p:spPr>
        <p:txBody>
          <a:bodyPr wrap="square" anchor="t">
            <a:spAutoFit/>
          </a:bodyPr>
          <a:lstStyle/>
          <a:p>
            <a:pPr>
              <a:spcAft>
                <a:spcPts val="400"/>
              </a:spcAft>
            </a:pPr>
            <a:r>
              <a:rPr sz="4000" b="1">
                <a:solidFill>
                  <a:srgbClr val="FFFFFF"/>
                </a:solidFill>
                <a:latin typeface="Cambria"/>
              </a:rPr>
              <a:t>3</a:t>
            </a:r>
          </a:p>
          <a:p>
            <a:pPr>
              <a:spcAft>
                <a:spcPts val="400"/>
              </a:spcAft>
            </a:pPr>
            <a:r>
              <a:rPr sz="1400" b="0">
                <a:solidFill>
                  <a:srgbClr val="CADCFC"/>
                </a:solidFill>
                <a:latin typeface="Calibri"/>
              </a:rPr>
              <a:t>tingkat beban (10, 50, 100 req/s)</a:t>
            </a:r>
          </a:p>
          <a:p>
            <a:pPr>
              <a:spcAft>
                <a:spcPts val="400"/>
              </a:spcAft>
            </a:pPr>
            <a:r>
              <a:rPr sz="400" b="0">
                <a:solidFill>
                  <a:srgbClr val="2A4373"/>
                </a:solidFill>
                <a:latin typeface="Calibri"/>
              </a:rPr>
              <a:t/>
            </a:r>
          </a:p>
        </p:txBody>
      </p:sp>
      <p:sp>
        <p:nvSpPr>
          <p:cNvPr id="9" name="Rounded Rectangle 8"/>
          <p:cNvSpPr/>
          <p:nvPr/>
        </p:nvSpPr>
        <p:spPr>
          <a:xfrm>
            <a:off x="6355080" y="2468880"/>
            <a:ext cx="2308860" cy="301752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2468880"/>
            <a:ext cx="2308860" cy="82296"/>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743200"/>
            <a:ext cx="1760220" cy="2468880"/>
          </a:xfrm>
          <a:prstGeom prst="rect">
            <a:avLst/>
          </a:prstGeom>
          <a:noFill/>
        </p:spPr>
        <p:txBody>
          <a:bodyPr wrap="square" anchor="t">
            <a:spAutoFit/>
          </a:bodyPr>
          <a:lstStyle/>
          <a:p>
            <a:pPr>
              <a:spcAft>
                <a:spcPts val="400"/>
              </a:spcAft>
            </a:pPr>
            <a:r>
              <a:rPr sz="4000" b="1">
                <a:solidFill>
                  <a:srgbClr val="FFFFFF"/>
                </a:solidFill>
                <a:latin typeface="Cambria"/>
              </a:rPr>
              <a:t>30</a:t>
            </a:r>
          </a:p>
          <a:p>
            <a:pPr>
              <a:spcAft>
                <a:spcPts val="400"/>
              </a:spcAft>
            </a:pPr>
            <a:r>
              <a:rPr sz="1400" b="0">
                <a:solidFill>
                  <a:srgbClr val="CADCFC"/>
                </a:solidFill>
                <a:latin typeface="Calibri"/>
              </a:rPr>
              <a:t>replikasi per kombinasi</a:t>
            </a:r>
          </a:p>
          <a:p>
            <a:pPr>
              <a:spcAft>
                <a:spcPts val="400"/>
              </a:spcAft>
            </a:pPr>
            <a:r>
              <a:rPr sz="400" b="0">
                <a:solidFill>
                  <a:srgbClr val="2A4373"/>
                </a:solidFill>
                <a:latin typeface="Calibri"/>
              </a:rPr>
              <a:t/>
            </a:r>
          </a:p>
        </p:txBody>
      </p:sp>
      <p:sp>
        <p:nvSpPr>
          <p:cNvPr id="12" name="Rounded Rectangle 11"/>
          <p:cNvSpPr/>
          <p:nvPr/>
        </p:nvSpPr>
        <p:spPr>
          <a:xfrm>
            <a:off x="9212580" y="2468880"/>
            <a:ext cx="2308860" cy="3017520"/>
          </a:xfrm>
          <a:prstGeom prst="roundRect">
            <a:avLst/>
          </a:prstGeom>
          <a:solidFill>
            <a:srgbClr val="2A4373"/>
          </a:solidFill>
          <a:ln w="12700">
            <a:solidFill>
              <a:srgbClr val="D5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212580" y="2468880"/>
            <a:ext cx="2308860" cy="82296"/>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86900" y="2743200"/>
            <a:ext cx="1760220" cy="2468880"/>
          </a:xfrm>
          <a:prstGeom prst="rect">
            <a:avLst/>
          </a:prstGeom>
          <a:noFill/>
        </p:spPr>
        <p:txBody>
          <a:bodyPr wrap="square" anchor="t">
            <a:spAutoFit/>
          </a:bodyPr>
          <a:lstStyle/>
          <a:p>
            <a:pPr>
              <a:spcAft>
                <a:spcPts val="400"/>
              </a:spcAft>
            </a:pPr>
            <a:r>
              <a:rPr sz="4000" b="1">
                <a:solidFill>
                  <a:srgbClr val="FFFFFF"/>
                </a:solidFill>
                <a:latin typeface="Cambria"/>
              </a:rPr>
              <a:t>3.330</a:t>
            </a:r>
          </a:p>
          <a:p>
            <a:pPr>
              <a:spcAft>
                <a:spcPts val="400"/>
              </a:spcAft>
            </a:pPr>
            <a:r>
              <a:rPr sz="1400" b="0">
                <a:solidFill>
                  <a:srgbClr val="CADCFC"/>
                </a:solidFill>
                <a:latin typeface="Calibri"/>
              </a:rPr>
              <a:t>total run</a:t>
            </a:r>
          </a:p>
          <a:p>
            <a:pPr>
              <a:spcAft>
                <a:spcPts val="400"/>
              </a:spcAft>
            </a:pPr>
            <a:r>
              <a:rPr sz="400" b="0">
                <a:solidFill>
                  <a:srgbClr val="2A4373"/>
                </a:solidFill>
                <a:latin typeface="Calibri"/>
              </a:rPr>
              <a:t/>
            </a:r>
          </a:p>
        </p:txBody>
      </p:sp>
      <p:sp>
        <p:nvSpPr>
          <p:cNvPr id="15" name="TextBox 14"/>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CADCFC"/>
                </a:solidFill>
                <a:latin typeface="Calibri"/>
              </a:rPr>
              <a:t>S1 Teknik Informatika  |  Universitas Negeri Surabaya</a:t>
            </a:r>
          </a:p>
          <a:p>
            <a:pPr algn="r">
              <a:spcAft>
                <a:spcPts val="400"/>
              </a:spcAft>
            </a:pPr>
            <a:r>
              <a:rPr sz="1200" b="0">
                <a:solidFill>
                  <a:srgbClr val="CADCFC"/>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1463040"/>
          </a:xfrm>
          <a:prstGeom prst="rect">
            <a:avLst/>
          </a:prstGeom>
          <a:noFill/>
        </p:spPr>
        <p:txBody>
          <a:bodyPr wrap="square" anchor="t">
            <a:spAutoFit/>
          </a:bodyPr>
          <a:lstStyle/>
          <a:p>
            <a:pPr>
              <a:spcAft>
                <a:spcPts val="400"/>
              </a:spcAft>
            </a:pPr>
            <a:r>
              <a:rPr sz="3000" b="1">
                <a:solidFill>
                  <a:srgbClr val="12284C"/>
                </a:solidFill>
                <a:latin typeface="Cambria"/>
              </a:rPr>
              <a:t>Hasil berlaku pada parameter uji, bukan klaim arsitektur terbaik</a:t>
            </a:r>
          </a:p>
          <a:p>
            <a:pPr>
              <a:spcAft>
                <a:spcPts val="400"/>
              </a:spcAft>
            </a:pPr>
            <a:r>
              <a:rPr sz="1600" b="0">
                <a:solidFill>
                  <a:srgbClr val="5B6B8A"/>
                </a:solidFill>
                <a:latin typeface="Calibri"/>
              </a:rPr>
              <a:t>Mohon masukan dan arahan Bapak/Ibu Penguji.</a:t>
            </a:r>
          </a:p>
        </p:txBody>
      </p:sp>
      <p:sp>
        <p:nvSpPr>
          <p:cNvPr id="3" name="TextBox 2"/>
          <p:cNvSpPr txBox="1"/>
          <p:nvPr/>
        </p:nvSpPr>
        <p:spPr>
          <a:xfrm>
            <a:off x="640080" y="2286000"/>
            <a:ext cx="5212080" cy="3657600"/>
          </a:xfrm>
          <a:prstGeom prst="rect">
            <a:avLst/>
          </a:prstGeom>
          <a:noFill/>
        </p:spPr>
        <p:txBody>
          <a:bodyPr wrap="square" anchor="t">
            <a:spAutoFit/>
          </a:bodyPr>
          <a:lstStyle/>
          <a:p>
            <a:pPr>
              <a:spcAft>
                <a:spcPts val="400"/>
              </a:spcAft>
            </a:pPr>
            <a:r>
              <a:rPr sz="1800" b="1">
                <a:solidFill>
                  <a:srgbClr val="C9A227"/>
                </a:solidFill>
                <a:latin typeface="Cambria"/>
              </a:rPr>
              <a:t>Batasan</a:t>
            </a:r>
          </a:p>
          <a:p>
            <a:pPr>
              <a:spcAft>
                <a:spcPts val="400"/>
              </a:spcAft>
            </a:pPr>
            <a:r>
              <a:rPr sz="1400" b="0">
                <a:solidFill>
                  <a:srgbClr val="1B2640"/>
                </a:solidFill>
                <a:latin typeface="Calibri"/>
              </a:rPr>
              <a:t>Data sintetis dan beban simulasi. Satu host Docker Compose. Hasil berlaku pada parameter uji.</a:t>
            </a:r>
          </a:p>
        </p:txBody>
      </p:sp>
      <p:sp>
        <p:nvSpPr>
          <p:cNvPr id="4" name="TextBox 3"/>
          <p:cNvSpPr txBox="1"/>
          <p:nvPr/>
        </p:nvSpPr>
        <p:spPr>
          <a:xfrm>
            <a:off x="6309360" y="2286000"/>
            <a:ext cx="5212080" cy="3657600"/>
          </a:xfrm>
          <a:prstGeom prst="rect">
            <a:avLst/>
          </a:prstGeom>
          <a:noFill/>
        </p:spPr>
        <p:txBody>
          <a:bodyPr wrap="square" anchor="t">
            <a:spAutoFit/>
          </a:bodyPr>
          <a:lstStyle/>
          <a:p>
            <a:pPr>
              <a:spcAft>
                <a:spcPts val="400"/>
              </a:spcAft>
            </a:pPr>
            <a:r>
              <a:rPr sz="1800" b="1">
                <a:solidFill>
                  <a:srgbClr val="C9A227"/>
                </a:solidFill>
                <a:latin typeface="Cambria"/>
              </a:rPr>
              <a:t>Luaran</a:t>
            </a:r>
          </a:p>
          <a:p>
            <a:pPr>
              <a:spcAft>
                <a:spcPts val="400"/>
              </a:spcAft>
            </a:pPr>
            <a:r>
              <a:rPr sz="1400" b="0">
                <a:solidFill>
                  <a:srgbClr val="1B2640"/>
                </a:solidFill>
                <a:latin typeface="Calibri"/>
              </a:rPr>
              <a:t>Paket arsitektur yang terimplementasi. Matriks perbandingan tiga kondisi. Naskah proposal.</a:t>
            </a:r>
          </a:p>
        </p:txBody>
      </p:sp>
      <p:sp>
        <p:nvSpPr>
          <p:cNvPr id="5" name="Rectangle 4"/>
          <p:cNvSpPr/>
          <p:nvPr/>
        </p:nvSpPr>
        <p:spPr>
          <a:xfrm>
            <a:off x="5989320" y="2286000"/>
            <a:ext cx="27432" cy="3657600"/>
          </a:xfrm>
          <a:prstGeom prst="rect">
            <a:avLst/>
          </a:prstGeom>
          <a:solidFill>
            <a:srgbClr val="D5D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5B6B8A"/>
                </a:solidFill>
                <a:latin typeface="Calibri"/>
              </a:rPr>
              <a:t>S1 Teknik Informatika  |  Universitas Negeri Surabaya</a:t>
            </a:r>
          </a:p>
          <a:p>
            <a:pPr algn="r">
              <a:spcAft>
                <a:spcPts val="400"/>
              </a:spcAft>
            </a:pPr>
            <a:r>
              <a:rPr sz="1200" b="0">
                <a:solidFill>
                  <a:srgbClr val="5B6B8A"/>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1463040"/>
          </a:xfrm>
          <a:prstGeom prst="rect">
            <a:avLst/>
          </a:prstGeom>
          <a:noFill/>
        </p:spPr>
        <p:txBody>
          <a:bodyPr wrap="square" anchor="t">
            <a:spAutoFit/>
          </a:bodyPr>
          <a:lstStyle/>
          <a:p>
            <a:pPr>
              <a:spcAft>
                <a:spcPts val="400"/>
              </a:spcAft>
            </a:pPr>
            <a:r>
              <a:rPr sz="3000" b="1">
                <a:solidFill>
                  <a:srgbClr val="12284C"/>
                </a:solidFill>
                <a:latin typeface="Cambria"/>
              </a:rPr>
              <a:t>Cadangan: parameter eksperimen dan peran tiap angka</a:t>
            </a:r>
          </a:p>
        </p:txBody>
      </p:sp>
      <p:graphicFrame>
        <p:nvGraphicFramePr>
          <p:cNvPr id="3" name="Table 2"/>
          <p:cNvGraphicFramePr>
            <a:graphicFrameLocks noGrp="1"/>
          </p:cNvGraphicFramePr>
          <p:nvPr/>
        </p:nvGraphicFramePr>
        <p:xfrm>
          <a:off x="640080" y="2286000"/>
          <a:ext cx="11064240" cy="3840480"/>
        </p:xfrm>
        <a:graphic>
          <a:graphicData uri="http://schemas.openxmlformats.org/drawingml/2006/table">
            <a:tbl>
              <a:tblPr firstRow="1" bandRow="1">
                <a:tableStyleId>{5C22544A-7EE6-4342-B048-85BDC9FD1C3A}</a:tableStyleId>
              </a:tblPr>
              <a:tblGrid>
                <a:gridCol w="3017520"/>
                <a:gridCol w="3200400"/>
                <a:gridCol w="4846320"/>
              </a:tblGrid>
              <a:tr h="548640">
                <a:tc>
                  <a:txBody>
                    <a:bodyPr/>
                    <a:lstStyle/>
                    <a:p>
                      <a:r>
                        <a:rPr sz="1200" b="1">
                          <a:solidFill>
                            <a:srgbClr val="FFFFFF"/>
                          </a:solidFill>
                          <a:latin typeface="Cambria"/>
                        </a:rPr>
                        <a:t>Parameter</a:t>
                      </a:r>
                    </a:p>
                  </a:txBody>
                  <a:tcPr>
                    <a:solidFill>
                      <a:srgbClr val="1F2937"/>
                    </a:solidFill>
                  </a:tcPr>
                </a:tc>
                <a:tc>
                  <a:txBody>
                    <a:bodyPr/>
                    <a:lstStyle/>
                    <a:p>
                      <a:r>
                        <a:rPr sz="1200" b="1">
                          <a:solidFill>
                            <a:srgbClr val="FFFFFF"/>
                          </a:solidFill>
                          <a:latin typeface="Cambria"/>
                        </a:rPr>
                        <a:t>Nilai</a:t>
                      </a:r>
                    </a:p>
                  </a:txBody>
                  <a:tcPr>
                    <a:solidFill>
                      <a:srgbClr val="1F2937"/>
                    </a:solidFill>
                  </a:tcPr>
                </a:tc>
                <a:tc>
                  <a:txBody>
                    <a:bodyPr/>
                    <a:lstStyle/>
                    <a:p>
                      <a:r>
                        <a:rPr sz="1200" b="1">
                          <a:solidFill>
                            <a:srgbClr val="FFFFFF"/>
                          </a:solidFill>
                          <a:latin typeface="Cambria"/>
                        </a:rPr>
                        <a:t>Peran</a:t>
                      </a:r>
                    </a:p>
                  </a:txBody>
                  <a:tcPr>
                    <a:solidFill>
                      <a:srgbClr val="1F2937"/>
                    </a:solidFill>
                  </a:tcPr>
                </a:tc>
              </a:tr>
              <a:tr h="548640">
                <a:tc>
                  <a:txBody>
                    <a:bodyPr/>
                    <a:lstStyle/>
                    <a:p>
                      <a:r>
                        <a:rPr sz="1100">
                          <a:solidFill>
                            <a:srgbClr val="1B2640"/>
                          </a:solidFill>
                          <a:latin typeface="Calibri"/>
                        </a:rPr>
                        <a:t>Tingkat beban</a:t>
                      </a:r>
                    </a:p>
                  </a:txBody>
                  <a:tcPr>
                    <a:solidFill>
                      <a:srgbClr val="EEF2F8"/>
                    </a:solidFill>
                  </a:tcPr>
                </a:tc>
                <a:tc>
                  <a:txBody>
                    <a:bodyPr/>
                    <a:lstStyle/>
                    <a:p>
                      <a:r>
                        <a:rPr sz="1100">
                          <a:solidFill>
                            <a:srgbClr val="1B2640"/>
                          </a:solidFill>
                          <a:latin typeface="Calibri"/>
                        </a:rPr>
                        <a:t>10, 50, 100 req/s</a:t>
                      </a:r>
                    </a:p>
                  </a:txBody>
                  <a:tcPr>
                    <a:solidFill>
                      <a:srgbClr val="EEF2F8"/>
                    </a:solidFill>
                  </a:tcPr>
                </a:tc>
                <a:tc>
                  <a:txBody>
                    <a:bodyPr/>
                    <a:lstStyle/>
                    <a:p>
                      <a:r>
                        <a:rPr sz="1100">
                          <a:solidFill>
                            <a:srgbClr val="1B2640"/>
                          </a:solidFill>
                          <a:latin typeface="Calibri"/>
                        </a:rPr>
                        <a:t>Mewakili kondisi sepi, normal, padat</a:t>
                      </a:r>
                    </a:p>
                  </a:txBody>
                  <a:tcPr>
                    <a:solidFill>
                      <a:srgbClr val="EEF2F8"/>
                    </a:solidFill>
                  </a:tcPr>
                </a:tc>
              </a:tr>
              <a:tr h="548640">
                <a:tc>
                  <a:txBody>
                    <a:bodyPr/>
                    <a:lstStyle/>
                    <a:p>
                      <a:r>
                        <a:rPr sz="1100">
                          <a:solidFill>
                            <a:srgbClr val="1B2640"/>
                          </a:solidFill>
                          <a:latin typeface="Calibri"/>
                        </a:rPr>
                        <a:t>Replikasi</a:t>
                      </a:r>
                    </a:p>
                  </a:txBody>
                  <a:tcPr>
                    <a:solidFill>
                      <a:srgbClr val="FFFFFF"/>
                    </a:solidFill>
                  </a:tcPr>
                </a:tc>
                <a:tc>
                  <a:txBody>
                    <a:bodyPr/>
                    <a:lstStyle/>
                    <a:p>
                      <a:r>
                        <a:rPr sz="1100">
                          <a:solidFill>
                            <a:srgbClr val="1B2640"/>
                          </a:solidFill>
                          <a:latin typeface="Calibri"/>
                        </a:rPr>
                        <a:t>30 per kombinasi</a:t>
                      </a:r>
                    </a:p>
                  </a:txBody>
                  <a:tcPr>
                    <a:solidFill>
                      <a:srgbClr val="FFFFFF"/>
                    </a:solidFill>
                  </a:tcPr>
                </a:tc>
                <a:tc>
                  <a:txBody>
                    <a:bodyPr/>
                    <a:lstStyle/>
                    <a:p>
                      <a:r>
                        <a:rPr sz="1100">
                          <a:solidFill>
                            <a:srgbClr val="1B2640"/>
                          </a:solidFill>
                          <a:latin typeface="Calibri"/>
                        </a:rPr>
                        <a:t>Menstabilkan median dan p95</a:t>
                      </a:r>
                    </a:p>
                  </a:txBody>
                  <a:tcPr>
                    <a:solidFill>
                      <a:srgbClr val="FFFFFF"/>
                    </a:solidFill>
                  </a:tcPr>
                </a:tc>
              </a:tr>
              <a:tr h="548640">
                <a:tc>
                  <a:txBody>
                    <a:bodyPr/>
                    <a:lstStyle/>
                    <a:p>
                      <a:r>
                        <a:rPr sz="1100">
                          <a:solidFill>
                            <a:srgbClr val="1B2640"/>
                          </a:solidFill>
                          <a:latin typeface="Calibri"/>
                        </a:rPr>
                        <a:t>Kombinasi</a:t>
                      </a:r>
                    </a:p>
                  </a:txBody>
                  <a:tcPr>
                    <a:solidFill>
                      <a:srgbClr val="EEF2F8"/>
                    </a:solidFill>
                  </a:tcPr>
                </a:tc>
                <a:tc>
                  <a:txBody>
                    <a:bodyPr/>
                    <a:lstStyle/>
                    <a:p>
                      <a:r>
                        <a:rPr sz="1100">
                          <a:solidFill>
                            <a:srgbClr val="1B2640"/>
                          </a:solidFill>
                          <a:latin typeface="Calibri"/>
                        </a:rPr>
                        <a:t>37 (15 + 10 dengan gangguan, 12 tanpa)</a:t>
                      </a:r>
                    </a:p>
                  </a:txBody>
                  <a:tcPr>
                    <a:solidFill>
                      <a:srgbClr val="EEF2F8"/>
                    </a:solidFill>
                  </a:tcPr>
                </a:tc>
                <a:tc>
                  <a:txBody>
                    <a:bodyPr/>
                    <a:lstStyle/>
                    <a:p>
                      <a:r>
                        <a:rPr sz="1100">
                          <a:solidFill>
                            <a:srgbClr val="1B2640"/>
                          </a:solidFill>
                          <a:latin typeface="Calibri"/>
                        </a:rPr>
                        <a:t>Cakupan skenario dan gangguan</a:t>
                      </a:r>
                    </a:p>
                  </a:txBody>
                  <a:tcPr>
                    <a:solidFill>
                      <a:srgbClr val="EEF2F8"/>
                    </a:solidFill>
                  </a:tcPr>
                </a:tc>
              </a:tr>
              <a:tr h="548640">
                <a:tc>
                  <a:txBody>
                    <a:bodyPr/>
                    <a:lstStyle/>
                    <a:p>
                      <a:r>
                        <a:rPr sz="1100">
                          <a:solidFill>
                            <a:srgbClr val="1B2640"/>
                          </a:solidFill>
                          <a:latin typeface="Calibri"/>
                        </a:rPr>
                        <a:t>Warm-up</a:t>
                      </a:r>
                    </a:p>
                  </a:txBody>
                  <a:tcPr>
                    <a:solidFill>
                      <a:srgbClr val="FFFFFF"/>
                    </a:solidFill>
                  </a:tcPr>
                </a:tc>
                <a:tc>
                  <a:txBody>
                    <a:bodyPr/>
                    <a:lstStyle/>
                    <a:p>
                      <a:r>
                        <a:rPr sz="1100">
                          <a:solidFill>
                            <a:srgbClr val="1B2640"/>
                          </a:solidFill>
                          <a:latin typeface="Calibri"/>
                        </a:rPr>
                        <a:t>60 dtk</a:t>
                      </a:r>
                    </a:p>
                  </a:txBody>
                  <a:tcPr>
                    <a:solidFill>
                      <a:srgbClr val="FFFFFF"/>
                    </a:solidFill>
                  </a:tcPr>
                </a:tc>
                <a:tc>
                  <a:txBody>
                    <a:bodyPr/>
                    <a:lstStyle/>
                    <a:p>
                      <a:r>
                        <a:rPr sz="1100">
                          <a:solidFill>
                            <a:srgbClr val="1B2640"/>
                          </a:solidFill>
                          <a:latin typeface="Calibri"/>
                        </a:rPr>
                        <a:t>Menstabilkan sistem sebelum diukur</a:t>
                      </a:r>
                    </a:p>
                  </a:txBody>
                  <a:tcPr>
                    <a:solidFill>
                      <a:srgbClr val="FFFFFF"/>
                    </a:solidFill>
                  </a:tcPr>
                </a:tc>
              </a:tr>
              <a:tr h="548640">
                <a:tc>
                  <a:txBody>
                    <a:bodyPr/>
                    <a:lstStyle/>
                    <a:p>
                      <a:r>
                        <a:rPr sz="1100">
                          <a:solidFill>
                            <a:srgbClr val="1B2640"/>
                          </a:solidFill>
                          <a:latin typeface="Calibri"/>
                        </a:rPr>
                        <a:t>Beban</a:t>
                      </a:r>
                    </a:p>
                  </a:txBody>
                  <a:tcPr>
                    <a:solidFill>
                      <a:srgbClr val="EEF2F8"/>
                    </a:solidFill>
                  </a:tcPr>
                </a:tc>
                <a:tc>
                  <a:txBody>
                    <a:bodyPr/>
                    <a:lstStyle/>
                    <a:p>
                      <a:r>
                        <a:rPr sz="1100">
                          <a:solidFill>
                            <a:srgbClr val="1B2640"/>
                          </a:solidFill>
                          <a:latin typeface="Calibri"/>
                        </a:rPr>
                        <a:t>60 dtk</a:t>
                      </a:r>
                    </a:p>
                  </a:txBody>
                  <a:tcPr>
                    <a:solidFill>
                      <a:srgbClr val="EEF2F8"/>
                    </a:solidFill>
                  </a:tcPr>
                </a:tc>
                <a:tc>
                  <a:txBody>
                    <a:bodyPr/>
                    <a:lstStyle/>
                    <a:p>
                      <a:r>
                        <a:rPr sz="1100">
                          <a:solidFill>
                            <a:srgbClr val="1B2640"/>
                          </a:solidFill>
                          <a:latin typeface="Calibri"/>
                        </a:rPr>
                        <a:t>Jendela ukur tiap run</a:t>
                      </a:r>
                    </a:p>
                  </a:txBody>
                  <a:tcPr>
                    <a:solidFill>
                      <a:srgbClr val="EEF2F8"/>
                    </a:solidFill>
                  </a:tcPr>
                </a:tc>
              </a:tr>
              <a:tr h="548640">
                <a:tc>
                  <a:txBody>
                    <a:bodyPr/>
                    <a:lstStyle/>
                    <a:p>
                      <a:r>
                        <a:rPr sz="1100">
                          <a:solidFill>
                            <a:srgbClr val="1B2640"/>
                          </a:solidFill>
                          <a:latin typeface="Calibri"/>
                        </a:rPr>
                        <a:t>Recovery</a:t>
                      </a:r>
                    </a:p>
                  </a:txBody>
                  <a:tcPr>
                    <a:solidFill>
                      <a:srgbClr val="FFFFFF"/>
                    </a:solidFill>
                  </a:tcPr>
                </a:tc>
                <a:tc>
                  <a:txBody>
                    <a:bodyPr/>
                    <a:lstStyle/>
                    <a:p>
                      <a:r>
                        <a:rPr sz="1100">
                          <a:solidFill>
                            <a:srgbClr val="1B2640"/>
                          </a:solidFill>
                          <a:latin typeface="Calibri"/>
                        </a:rPr>
                        <a:t>60 dtk bila ada gangguan</a:t>
                      </a:r>
                    </a:p>
                  </a:txBody>
                  <a:tcPr>
                    <a:solidFill>
                      <a:srgbClr val="FFFFFF"/>
                    </a:solidFill>
                  </a:tcPr>
                </a:tc>
                <a:tc>
                  <a:txBody>
                    <a:bodyPr/>
                    <a:lstStyle/>
                    <a:p>
                      <a:r>
                        <a:rPr sz="1100">
                          <a:solidFill>
                            <a:srgbClr val="1B2640"/>
                          </a:solidFill>
                          <a:latin typeface="Calibri"/>
                        </a:rPr>
                        <a:t>Waktu pulih sebelum rekonsiliasi</a:t>
                      </a:r>
                    </a:p>
                  </a:txBody>
                  <a:tcPr>
                    <a:solidFill>
                      <a:srgbClr val="FFFFFF"/>
                    </a:solidFill>
                  </a:tcPr>
                </a:tc>
              </a:tr>
            </a:tbl>
          </a:graphicData>
        </a:graphic>
      </p:graphicFrame>
      <p:sp>
        <p:nvSpPr>
          <p:cNvPr id="4" name="TextBox 3"/>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5B6B8A"/>
                </a:solidFill>
                <a:latin typeface="Calibri"/>
              </a:rPr>
              <a:t>S1 Teknik Informatika  |  Universitas Negeri Surabaya</a:t>
            </a:r>
          </a:p>
          <a:p>
            <a:pPr algn="r">
              <a:spcAft>
                <a:spcPts val="400"/>
              </a:spcAft>
            </a:pPr>
            <a:r>
              <a:rPr sz="1200" b="0">
                <a:solidFill>
                  <a:srgbClr val="5B6B8A"/>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1463040"/>
          </a:xfrm>
          <a:prstGeom prst="rect">
            <a:avLst/>
          </a:prstGeom>
          <a:noFill/>
        </p:spPr>
        <p:txBody>
          <a:bodyPr wrap="square" anchor="t">
            <a:spAutoFit/>
          </a:bodyPr>
          <a:lstStyle/>
          <a:p>
            <a:pPr>
              <a:spcAft>
                <a:spcPts val="400"/>
              </a:spcAft>
            </a:pPr>
            <a:r>
              <a:rPr sz="3000" b="1">
                <a:solidFill>
                  <a:srgbClr val="12284C"/>
                </a:solidFill>
                <a:latin typeface="Cambria"/>
              </a:rPr>
              <a:t>Cadangan: definisi operasional yang dipertegas</a:t>
            </a:r>
          </a:p>
        </p:txBody>
      </p:sp>
      <p:graphicFrame>
        <p:nvGraphicFramePr>
          <p:cNvPr id="3" name="Table 2"/>
          <p:cNvGraphicFramePr>
            <a:graphicFrameLocks noGrp="1"/>
          </p:cNvGraphicFramePr>
          <p:nvPr/>
        </p:nvGraphicFramePr>
        <p:xfrm>
          <a:off x="640080" y="2286000"/>
          <a:ext cx="11064240" cy="3840480"/>
        </p:xfrm>
        <a:graphic>
          <a:graphicData uri="http://schemas.openxmlformats.org/drawingml/2006/table">
            <a:tbl>
              <a:tblPr firstRow="1" bandRow="1">
                <a:tableStyleId>{5C22544A-7EE6-4342-B048-85BDC9FD1C3A}</a:tableStyleId>
              </a:tblPr>
              <a:tblGrid>
                <a:gridCol w="2103120"/>
                <a:gridCol w="6035040"/>
                <a:gridCol w="2926080"/>
              </a:tblGrid>
              <a:tr h="640080">
                <a:tc>
                  <a:txBody>
                    <a:bodyPr/>
                    <a:lstStyle/>
                    <a:p>
                      <a:r>
                        <a:rPr sz="1200" b="1">
                          <a:solidFill>
                            <a:srgbClr val="FFFFFF"/>
                          </a:solidFill>
                          <a:latin typeface="Cambria"/>
                        </a:rPr>
                        <a:t>Istilah</a:t>
                      </a:r>
                    </a:p>
                  </a:txBody>
                  <a:tcPr>
                    <a:solidFill>
                      <a:srgbClr val="1F2937"/>
                    </a:solidFill>
                  </a:tcPr>
                </a:tc>
                <a:tc>
                  <a:txBody>
                    <a:bodyPr/>
                    <a:lstStyle/>
                    <a:p>
                      <a:r>
                        <a:rPr sz="1200" b="1">
                          <a:solidFill>
                            <a:srgbClr val="FFFFFF"/>
                          </a:solidFill>
                          <a:latin typeface="Cambria"/>
                        </a:rPr>
                        <a:t>Definisi</a:t>
                      </a:r>
                    </a:p>
                  </a:txBody>
                  <a:tcPr>
                    <a:solidFill>
                      <a:srgbClr val="1F2937"/>
                    </a:solidFill>
                  </a:tcPr>
                </a:tc>
                <a:tc>
                  <a:txBody>
                    <a:bodyPr/>
                    <a:lstStyle/>
                    <a:p>
                      <a:r>
                        <a:rPr sz="1200" b="1">
                          <a:solidFill>
                            <a:srgbClr val="FFFFFF"/>
                          </a:solidFill>
                          <a:latin typeface="Cambria"/>
                        </a:rPr>
                        <a:t>Acuan</a:t>
                      </a:r>
                    </a:p>
                  </a:txBody>
                  <a:tcPr>
                    <a:solidFill>
                      <a:srgbClr val="1F2937"/>
                    </a:solidFill>
                  </a:tcPr>
                </a:tc>
              </a:tr>
              <a:tr h="640080">
                <a:tc>
                  <a:txBody>
                    <a:bodyPr/>
                    <a:lstStyle/>
                    <a:p>
                      <a:r>
                        <a:rPr sz="1100">
                          <a:solidFill>
                            <a:srgbClr val="1B2640"/>
                          </a:solidFill>
                          <a:latin typeface="Calibri"/>
                        </a:rPr>
                        <a:t>oversell</a:t>
                      </a:r>
                    </a:p>
                  </a:txBody>
                  <a:tcPr>
                    <a:solidFill>
                      <a:srgbClr val="EEF2F8"/>
                    </a:solidFill>
                  </a:tcPr>
                </a:tc>
                <a:tc>
                  <a:txBody>
                    <a:bodyPr/>
                    <a:lstStyle/>
                    <a:p>
                      <a:r>
                        <a:rPr sz="1100">
                          <a:solidFill>
                            <a:srgbClr val="1B2640"/>
                          </a:solidFill>
                          <a:latin typeface="Calibri"/>
                        </a:rPr>
                        <a:t>Unit terjual melebihi stok tersedia</a:t>
                      </a:r>
                    </a:p>
                  </a:txBody>
                  <a:tcPr>
                    <a:solidFill>
                      <a:srgbClr val="EEF2F8"/>
                    </a:solidFill>
                  </a:tcPr>
                </a:tc>
                <a:tc>
                  <a:txBody>
                    <a:bodyPr/>
                    <a:lstStyle/>
                    <a:p>
                      <a:r>
                        <a:rPr sz="1100">
                          <a:solidFill>
                            <a:srgbClr val="1B2640"/>
                          </a:solidFill>
                          <a:latin typeface="Calibri"/>
                        </a:rPr>
                        <a:t>Invariant 2</a:t>
                      </a:r>
                    </a:p>
                  </a:txBody>
                  <a:tcPr>
                    <a:solidFill>
                      <a:srgbClr val="EEF2F8"/>
                    </a:solidFill>
                  </a:tcPr>
                </a:tc>
              </a:tr>
              <a:tr h="640080">
                <a:tc>
                  <a:txBody>
                    <a:bodyPr/>
                    <a:lstStyle/>
                    <a:p>
                      <a:r>
                        <a:rPr sz="1100">
                          <a:solidFill>
                            <a:srgbClr val="1B2640"/>
                          </a:solidFill>
                          <a:latin typeface="Calibri"/>
                        </a:rPr>
                        <a:t>lost update</a:t>
                      </a:r>
                    </a:p>
                  </a:txBody>
                  <a:tcPr>
                    <a:solidFill>
                      <a:srgbClr val="FFFFFF"/>
                    </a:solidFill>
                  </a:tcPr>
                </a:tc>
                <a:tc>
                  <a:txBody>
                    <a:bodyPr/>
                    <a:lstStyle/>
                    <a:p>
                      <a:r>
                        <a:rPr sz="1100">
                          <a:solidFill>
                            <a:srgbClr val="1B2640"/>
                          </a:solidFill>
                          <a:latin typeface="Calibri"/>
                        </a:rPr>
                        <a:t>Tulis sah tertimpa tulis lain tanpa jejak</a:t>
                      </a:r>
                    </a:p>
                  </a:txBody>
                  <a:tcPr>
                    <a:solidFill>
                      <a:srgbClr val="FFFFFF"/>
                    </a:solidFill>
                  </a:tcPr>
                </a:tc>
                <a:tc>
                  <a:txBody>
                    <a:bodyPr/>
                    <a:lstStyle/>
                    <a:p>
                      <a:r>
                        <a:rPr sz="1100">
                          <a:solidFill>
                            <a:srgbClr val="1B2640"/>
                          </a:solidFill>
                          <a:latin typeface="Calibri"/>
                        </a:rPr>
                        <a:t>Invariant 1</a:t>
                      </a:r>
                    </a:p>
                  </a:txBody>
                  <a:tcPr>
                    <a:solidFill>
                      <a:srgbClr val="FFFFFF"/>
                    </a:solidFill>
                  </a:tcPr>
                </a:tc>
              </a:tr>
              <a:tr h="640080">
                <a:tc>
                  <a:txBody>
                    <a:bodyPr/>
                    <a:lstStyle/>
                    <a:p>
                      <a:r>
                        <a:rPr sz="1100">
                          <a:solidFill>
                            <a:srgbClr val="1B2640"/>
                          </a:solidFill>
                          <a:latin typeface="Calibri"/>
                        </a:rPr>
                        <a:t>duplicate effect</a:t>
                      </a:r>
                    </a:p>
                  </a:txBody>
                  <a:tcPr>
                    <a:solidFill>
                      <a:srgbClr val="EEF2F8"/>
                    </a:solidFill>
                  </a:tcPr>
                </a:tc>
                <a:tc>
                  <a:txBody>
                    <a:bodyPr/>
                    <a:lstStyle/>
                    <a:p>
                      <a:r>
                        <a:rPr sz="1100">
                          <a:solidFill>
                            <a:srgbClr val="1B2640"/>
                          </a:solidFill>
                          <a:latin typeface="Calibri"/>
                        </a:rPr>
                        <a:t>Satu event menimbulkan dua efek bisnis</a:t>
                      </a:r>
                    </a:p>
                  </a:txBody>
                  <a:tcPr>
                    <a:solidFill>
                      <a:srgbClr val="EEF2F8"/>
                    </a:solidFill>
                  </a:tcPr>
                </a:tc>
                <a:tc>
                  <a:txBody>
                    <a:bodyPr/>
                    <a:lstStyle/>
                    <a:p>
                      <a:r>
                        <a:rPr sz="1100">
                          <a:solidFill>
                            <a:srgbClr val="1B2640"/>
                          </a:solidFill>
                          <a:latin typeface="Calibri"/>
                        </a:rPr>
                        <a:t>Idempotency</a:t>
                      </a:r>
                    </a:p>
                  </a:txBody>
                  <a:tcPr>
                    <a:solidFill>
                      <a:srgbClr val="EEF2F8"/>
                    </a:solidFill>
                  </a:tcPr>
                </a:tc>
              </a:tr>
              <a:tr h="640080">
                <a:tc>
                  <a:txBody>
                    <a:bodyPr/>
                    <a:lstStyle/>
                    <a:p>
                      <a:r>
                        <a:rPr sz="1100">
                          <a:solidFill>
                            <a:srgbClr val="1B2640"/>
                          </a:solidFill>
                          <a:latin typeface="Calibri"/>
                        </a:rPr>
                        <a:t>read-model lag</a:t>
                      </a:r>
                    </a:p>
                  </a:txBody>
                  <a:tcPr>
                    <a:solidFill>
                      <a:srgbClr val="FFFFFF"/>
                    </a:solidFill>
                  </a:tcPr>
                </a:tc>
                <a:tc>
                  <a:txBody>
                    <a:bodyPr/>
                    <a:lstStyle/>
                    <a:p>
                      <a:r>
                        <a:rPr sz="1100">
                          <a:solidFill>
                            <a:srgbClr val="1B2640"/>
                          </a:solidFill>
                          <a:latin typeface="Calibri"/>
                        </a:rPr>
                        <a:t>Jeda salinan Pelaporan dari data pemilik, ambang 60 dtk</a:t>
                      </a:r>
                    </a:p>
                  </a:txBody>
                  <a:tcPr>
                    <a:solidFill>
                      <a:srgbClr val="FFFFFF"/>
                    </a:solidFill>
                  </a:tcPr>
                </a:tc>
                <a:tc>
                  <a:txBody>
                    <a:bodyPr/>
                    <a:lstStyle/>
                    <a:p>
                      <a:r>
                        <a:rPr sz="1100">
                          <a:solidFill>
                            <a:srgbClr val="1B2640"/>
                          </a:solidFill>
                          <a:latin typeface="Calibri"/>
                        </a:rPr>
                        <a:t>Kriteria</a:t>
                      </a:r>
                    </a:p>
                  </a:txBody>
                  <a:tcPr>
                    <a:solidFill>
                      <a:srgbClr val="FFFFFF"/>
                    </a:solidFill>
                  </a:tcPr>
                </a:tc>
              </a:tr>
              <a:tr h="640080">
                <a:tc>
                  <a:txBody>
                    <a:bodyPr/>
                    <a:lstStyle/>
                    <a:p>
                      <a:r>
                        <a:rPr sz="1100">
                          <a:solidFill>
                            <a:srgbClr val="1B2640"/>
                          </a:solidFill>
                          <a:latin typeface="Calibri"/>
                        </a:rPr>
                        <a:t>terminal-state coverage</a:t>
                      </a:r>
                    </a:p>
                  </a:txBody>
                  <a:tcPr>
                    <a:solidFill>
                      <a:srgbClr val="EEF2F8"/>
                    </a:solidFill>
                  </a:tcPr>
                </a:tc>
                <a:tc>
                  <a:txBody>
                    <a:bodyPr/>
                    <a:lstStyle/>
                    <a:p>
                      <a:r>
                        <a:rPr sz="1100">
                          <a:solidFill>
                            <a:srgbClr val="1B2640"/>
                          </a:solidFill>
                          <a:latin typeface="Calibri"/>
                        </a:rPr>
                        <a:t>Proporsi transaksi berstatus final, target 100%</a:t>
                      </a:r>
                    </a:p>
                  </a:txBody>
                  <a:tcPr>
                    <a:solidFill>
                      <a:srgbClr val="EEF2F8"/>
                    </a:solidFill>
                  </a:tcPr>
                </a:tc>
                <a:tc>
                  <a:txBody>
                    <a:bodyPr/>
                    <a:lstStyle/>
                    <a:p>
                      <a:r>
                        <a:rPr sz="1100">
                          <a:solidFill>
                            <a:srgbClr val="1B2640"/>
                          </a:solidFill>
                          <a:latin typeface="Calibri"/>
                        </a:rPr>
                        <a:t>Kriteria</a:t>
                      </a:r>
                    </a:p>
                  </a:txBody>
                  <a:tcPr>
                    <a:solidFill>
                      <a:srgbClr val="EEF2F8"/>
                    </a:solidFill>
                  </a:tcPr>
                </a:tc>
              </a:tr>
            </a:tbl>
          </a:graphicData>
        </a:graphic>
      </p:graphicFrame>
      <p:sp>
        <p:nvSpPr>
          <p:cNvPr id="4" name="TextBox 3"/>
          <p:cNvSpPr txBox="1"/>
          <p:nvPr/>
        </p:nvSpPr>
        <p:spPr>
          <a:xfrm>
            <a:off x="640080" y="6400800"/>
            <a:ext cx="10881360" cy="320040"/>
          </a:xfrm>
          <a:prstGeom prst="rect">
            <a:avLst/>
          </a:prstGeom>
          <a:noFill/>
        </p:spPr>
        <p:txBody>
          <a:bodyPr wrap="square" anchor="t">
            <a:spAutoFit/>
          </a:bodyPr>
          <a:lstStyle/>
          <a:p>
            <a:pPr>
              <a:spcAft>
                <a:spcPts val="400"/>
              </a:spcAft>
            </a:pPr>
            <a:r>
              <a:rPr sz="1200" b="0">
                <a:solidFill>
                  <a:srgbClr val="5B6B8A"/>
                </a:solidFill>
                <a:latin typeface="Calibri"/>
              </a:rPr>
              <a:t>S1 Teknik Informatika  |  Universitas Negeri Surabaya</a:t>
            </a:r>
          </a:p>
          <a:p>
            <a:pPr algn="r">
              <a:spcAft>
                <a:spcPts val="400"/>
              </a:spcAft>
            </a:pPr>
            <a:r>
              <a:rPr sz="1200" b="0">
                <a:solidFill>
                  <a:srgbClr val="5B6B8A"/>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