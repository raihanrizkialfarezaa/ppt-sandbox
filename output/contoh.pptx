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Online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Mei</c:v>
                </c:pt>
                <c:pt idx="1">
                  <c:v>Jun</c:v>
                </c:pt>
                <c:pt idx="2">
                  <c:v>Jul</c:v>
                </c:pt>
                <c:pt idx="3">
                  <c:v>Agu</c:v>
                </c:pt>
                <c:pt idx="4">
                  <c:v>Sep</c:v>
                </c:pt>
                <c:pt idx="5">
                  <c:v>Okt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180</c:v>
                </c:pt>
                <c:pt idx="2">
                  <c:v>240</c:v>
                </c:pt>
                <c:pt idx="3">
                  <c:v>310</c:v>
                </c:pt>
                <c:pt idx="4">
                  <c:v>420</c:v>
                </c:pt>
                <c:pt idx="5">
                  <c:v>510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Offline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Mei</c:v>
                </c:pt>
                <c:pt idx="1">
                  <c:v>Jun</c:v>
                </c:pt>
                <c:pt idx="2">
                  <c:v>Jul</c:v>
                </c:pt>
                <c:pt idx="3">
                  <c:v>Agu</c:v>
                </c:pt>
                <c:pt idx="4">
                  <c:v>Sep</c:v>
                </c:pt>
                <c:pt idx="5">
                  <c:v>Okt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95</c:v>
                </c:pt>
                <c:pt idx="2">
                  <c:v>110</c:v>
                </c:pt>
                <c:pt idx="3">
                  <c:v>140</c:v>
                </c:pt>
                <c:pt idx="4">
                  <c:v>170</c:v>
                </c:pt>
                <c:pt idx="5">
                  <c:v>200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0" y="0"/>
            <a:ext cx="4599432" cy="6858000"/>
          </a:xfrm>
          <a:prstGeom prst="rect">
            <a:avLst/>
          </a:prstGeom>
          <a:solidFill>
            <a:srgbClr val="14325A"/>
          </a:solidFill>
          <a:ln w="12700">
            <a:solidFill>
              <a:srgbClr val="24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0"/>
            <a:ext cx="73152" cy="68580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62179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E9BFF"/>
                </a:solidFill>
                <a:latin typeface="Calibri"/>
              </a:rPr>
              <a:t>PITCH DECK</a:t>
            </a:r>
          </a:p>
          <a:p>
            <a:pPr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Kopi Nusantara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8FA3B8"/>
                </a:solidFill>
                <a:latin typeface="Calibri Light"/>
              </a:rPr>
              <a:t>Dari petani lokal ke cangkir dunia — seed round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Oktober 2026  •  Tim Founder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14400"/>
            <a:ext cx="3474720" cy="2926080"/>
          </a:xfrm>
          <a:prstGeom prst="round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73736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12K+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 Light"/>
              </a:rPr>
              <a:t>pelanggan / bulan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Kopi Nusantara • Confidential</a:t>
            </a:r>
          </a:p>
          <a:p>
            <a:pPr algn="r"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E9BFF"/>
                </a:solidFill>
                <a:latin typeface="Calibri"/>
              </a:rPr>
              <a:t>AGENDA</a:t>
            </a:r>
          </a:p>
          <a:p>
            <a:pPr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Apa yang akan dibahas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1097280" cy="54864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23774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1920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E9BFF"/>
                </a:solidFill>
                <a:latin typeface="Calibri"/>
              </a:rPr>
              <a:t>01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A2B3C"/>
                </a:solidFill>
                <a:latin typeface="Calibri"/>
              </a:rPr>
              <a:t>Masalah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B6B7C"/>
                </a:solidFill>
                <a:latin typeface="Calibri Light"/>
              </a:rPr>
              <a:t>Rantai pasok kopi yang panjang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286000"/>
            <a:ext cx="23774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2468880"/>
            <a:ext cx="1920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E9BFF"/>
                </a:solidFill>
                <a:latin typeface="Calibri"/>
              </a:rPr>
              <a:t>02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A2B3C"/>
                </a:solidFill>
                <a:latin typeface="Calibri"/>
              </a:rPr>
              <a:t>Solusi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B6B7C"/>
                </a:solidFill>
                <a:latin typeface="Calibri Light"/>
              </a:rPr>
              <a:t>Platform direct-trade + roastery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86000"/>
            <a:ext cx="23774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468880"/>
            <a:ext cx="1920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E9BFF"/>
                </a:solidFill>
                <a:latin typeface="Calibri"/>
              </a:rPr>
              <a:t>03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A2B3C"/>
                </a:solidFill>
                <a:latin typeface="Calibri"/>
              </a:rPr>
              <a:t>Traksi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B6B7C"/>
                </a:solidFill>
                <a:latin typeface="Calibri Light"/>
              </a:rPr>
              <a:t>Angka pertumbuhan 6 bulan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286000"/>
            <a:ext cx="23774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2468880"/>
            <a:ext cx="1920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E9BFF"/>
                </a:solidFill>
                <a:latin typeface="Calibri"/>
              </a:rPr>
              <a:t>04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A2B3C"/>
                </a:solidFill>
                <a:latin typeface="Calibri"/>
              </a:rPr>
              <a:t>Ask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B6B7C"/>
                </a:solidFill>
                <a:latin typeface="Calibri Light"/>
              </a:rPr>
              <a:t>Kebutuhan dana &amp; alokasi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Kopi Nusantara • Confidential</a:t>
            </a:r>
          </a:p>
          <a:p>
            <a:pPr algn="r"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E9BFF"/>
                </a:solidFill>
                <a:latin typeface="Calibri"/>
              </a:rPr>
              <a:t>BAGIAN 01</a:t>
            </a:r>
          </a:p>
          <a:p>
            <a:pPr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Masalah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8FA3B8"/>
                </a:solidFill>
                <a:latin typeface="Calibri Light"/>
              </a:rPr>
              <a:t>Petani dibayar murah, konsumen membayar mahal.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Kopi Nusantara • Confidential</a:t>
            </a:r>
          </a:p>
          <a:p>
            <a:pPr algn="r"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E9BFF"/>
                </a:solidFill>
                <a:latin typeface="Calibri"/>
              </a:rPr>
              <a:t>MASALAH</a:t>
            </a:r>
          </a:p>
          <a:p>
            <a:pPr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Tiga friksi utama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1097280" cy="54864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73152" cy="82296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Margin menipis di hulu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8FA3B8"/>
                </a:solidFill>
                <a:latin typeface="Calibri Light"/>
              </a:rPr>
              <a:t>Petani hanya terima 20–30% harga akhir.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73152" cy="82296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55848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Kualitas tidak konsisten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8FA3B8"/>
                </a:solidFill>
                <a:latin typeface="Calibri Light"/>
              </a:rPr>
              <a:t>Tanpa standarisasi pasca-panen.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572000"/>
            <a:ext cx="73152" cy="82296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98848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Distribusi lambat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8FA3B8"/>
                </a:solidFill>
                <a:latin typeface="Calibri Light"/>
              </a:rPr>
              <a:t>4–5 perantara sebelum sampai roastery.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Kopi Nusantara • Confidential</a:t>
            </a:r>
          </a:p>
          <a:p>
            <a:pPr algn="r"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E9BFF"/>
                </a:solidFill>
                <a:latin typeface="Calibri"/>
              </a:rPr>
              <a:t>TRAKSI</a:t>
            </a:r>
          </a:p>
          <a:p>
            <a:pPr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Dampak dalam angka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8FA3B8"/>
                </a:solidFill>
                <a:latin typeface="Calibri Light"/>
              </a:rPr>
              <a:t>6 bulan terakhir, terukur dan editable.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83080"/>
            <a:ext cx="1097280" cy="54864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2308860" cy="3017520"/>
          </a:xfrm>
          <a:prstGeom prst="roundRect">
            <a:avLst/>
          </a:prstGeom>
          <a:solidFill>
            <a:srgbClr val="14283F"/>
          </a:solidFill>
          <a:ln w="12700">
            <a:solidFill>
              <a:srgbClr val="24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2308860" cy="82296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7602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4400" b="1">
                <a:solidFill>
                  <a:srgbClr val="FFB020"/>
                </a:solidFill>
                <a:latin typeface="Calibri"/>
              </a:rPr>
              <a:t>12K+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8FA3B8"/>
                </a:solidFill>
                <a:latin typeface="Calibri Light"/>
              </a:rPr>
              <a:t>pelanggan / bulan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8FA3B8"/>
                </a:solidFill>
                <a:latin typeface="Calibri Light"/>
              </a:rPr>
              <a:t>naik 3x YoY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7580" y="2468880"/>
            <a:ext cx="2308860" cy="3017520"/>
          </a:xfrm>
          <a:prstGeom prst="roundRect">
            <a:avLst/>
          </a:prstGeom>
          <a:solidFill>
            <a:srgbClr val="14283F"/>
          </a:solidFill>
          <a:ln w="12700">
            <a:solidFill>
              <a:srgbClr val="24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97580" y="2468880"/>
            <a:ext cx="2308860" cy="82296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1900" y="2743200"/>
            <a:ext cx="17602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86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8FA3B8"/>
                </a:solidFill>
                <a:latin typeface="Calibri Light"/>
              </a:rPr>
              <a:t>petani mitra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8FA3B8"/>
                </a:solidFill>
                <a:latin typeface="Calibri Light"/>
              </a:rPr>
              <a:t>3 kabupaten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468880"/>
            <a:ext cx="2308860" cy="3017520"/>
          </a:xfrm>
          <a:prstGeom prst="roundRect">
            <a:avLst/>
          </a:prstGeom>
          <a:solidFill>
            <a:srgbClr val="14283F"/>
          </a:solidFill>
          <a:ln w="12700">
            <a:solidFill>
              <a:srgbClr val="24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468880"/>
            <a:ext cx="2308860" cy="82296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17602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4.9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8FA3B8"/>
                </a:solidFill>
                <a:latin typeface="Calibri Light"/>
              </a:rPr>
              <a:t>rating produk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8FA3B8"/>
                </a:solidFill>
                <a:latin typeface="Calibri Light"/>
              </a:rPr>
              <a:t>2.300 ulasan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12580" y="2468880"/>
            <a:ext cx="2308860" cy="3017520"/>
          </a:xfrm>
          <a:prstGeom prst="roundRect">
            <a:avLst/>
          </a:prstGeom>
          <a:solidFill>
            <a:srgbClr val="14283F"/>
          </a:solidFill>
          <a:ln w="12700">
            <a:solidFill>
              <a:srgbClr val="24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12580" y="2468880"/>
            <a:ext cx="2308860" cy="82296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6900" y="2743200"/>
            <a:ext cx="17602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38%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8FA3B8"/>
                </a:solidFill>
                <a:latin typeface="Calibri Light"/>
              </a:rPr>
              <a:t>repeat order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8FA3B8"/>
                </a:solidFill>
                <a:latin typeface="Calibri Light"/>
              </a:rPr>
              <a:t>cohort 90 hari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Kopi Nusantara • Confidential</a:t>
            </a:r>
          </a:p>
          <a:p>
            <a:pPr algn="r"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E9BFF"/>
                </a:solidFill>
                <a:latin typeface="Calibri"/>
              </a:rPr>
              <a:t>PERTUMBUHAN</a:t>
            </a:r>
          </a:p>
          <a:p>
            <a:pPr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Pendapatan bulanan (native chart — editable)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8FA3B8"/>
                </a:solidFill>
                <a:latin typeface="Calibri Light"/>
              </a:rPr>
              <a:t>Klik chart di PowerPoint untuk ubah datanya.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83080"/>
            <a:ext cx="1097280" cy="54864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2286000"/>
          <a:ext cx="69494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55279" y="2286000"/>
            <a:ext cx="35661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E9BFF"/>
                </a:solidFill>
                <a:latin typeface="Calibri"/>
              </a:rPr>
              <a:t>INSIGHT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 Light"/>
              </a:rPr>
              <a:t>Online tumbuh 4x dalam 6 bulan dan menyumbang 70% revenue.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8FA3B8"/>
                </a:solidFill>
                <a:latin typeface="Calibri Light"/>
              </a:rPr>
              <a:t>Sumber: internal finance, Okt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Kopi Nusantara • Confidential</a:t>
            </a:r>
          </a:p>
          <a:p>
            <a:pPr algn="r"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E9BFF"/>
                </a:solidFill>
                <a:latin typeface="Calibri"/>
              </a:rPr>
              <a:t>PERBANDINGAN</a:t>
            </a:r>
          </a:p>
          <a:p>
            <a:pPr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Kenapa kami menang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1097280" cy="54864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28600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9601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Aspek</a:t>
                      </a:r>
                    </a:p>
                  </a:txBody>
                  <a:tcPr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Kami</a:t>
                      </a:r>
                    </a:p>
                  </a:txBody>
                  <a:tcPr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Kompetitor A</a:t>
                      </a:r>
                    </a:p>
                  </a:txBody>
                  <a:tcPr>
                    <a:solidFill>
                      <a:srgbClr val="0B2C4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 Light"/>
                        </a:rPr>
                        <a:t>Harga ke petani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 Light"/>
                        </a:rPr>
                        <a:t>+35% di atas pasar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 Light"/>
                        </a:rPr>
                        <a:t>Harga pasar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 Light"/>
                        </a:rPr>
                        <a:t>Skor cupping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 Light"/>
                        </a:rPr>
                        <a:t>86+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 Light"/>
                        </a:rPr>
                        <a:t>80–82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 Light"/>
                        </a:rPr>
                        <a:t>Lead time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 Light"/>
                        </a:rPr>
                        <a:t>3 hari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 Light"/>
                        </a:rPr>
                        <a:t>7–10 hari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Kopi Nusantara • Confidential</a:t>
            </a:r>
          </a:p>
          <a:p>
            <a:pPr algn="r"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E9BFF"/>
                </a:solidFill>
                <a:latin typeface="Calibri"/>
              </a:rPr>
              <a:t>ROADMAP</a:t>
            </a:r>
          </a:p>
          <a:p>
            <a:pPr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12 bulan ke depan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1097280" cy="54864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10515600" cy="45720"/>
          </a:xfrm>
          <a:prstGeom prst="rect">
            <a:avLst/>
          </a:prstGeom>
          <a:solidFill>
            <a:srgbClr val="244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09393" y="3712463"/>
            <a:ext cx="256032" cy="256032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399" y="2377440"/>
            <a:ext cx="24460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BFF"/>
                </a:solidFill>
                <a:latin typeface="Calibri"/>
              </a:rPr>
              <a:t>Q4 2026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Seed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99" y="4114800"/>
            <a:ext cx="24460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Rp8M untuk roastery ke-2</a:t>
            </a:r>
          </a:p>
        </p:txBody>
      </p:sp>
      <p:sp>
        <p:nvSpPr>
          <p:cNvPr id="8" name="Oval 7"/>
          <p:cNvSpPr/>
          <p:nvPr/>
        </p:nvSpPr>
        <p:spPr>
          <a:xfrm>
            <a:off x="4638294" y="3712463"/>
            <a:ext cx="256032" cy="256032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3300" y="2377440"/>
            <a:ext cx="24460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BFF"/>
                </a:solidFill>
                <a:latin typeface="Calibri"/>
              </a:rPr>
              <a:t>Q1 2027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200 petani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3300" y="4114800"/>
            <a:ext cx="24460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SOP pasca-panen penuh</a:t>
            </a:r>
          </a:p>
        </p:txBody>
      </p:sp>
      <p:sp>
        <p:nvSpPr>
          <p:cNvPr id="11" name="Oval 10"/>
          <p:cNvSpPr/>
          <p:nvPr/>
        </p:nvSpPr>
        <p:spPr>
          <a:xfrm>
            <a:off x="7267194" y="3712463"/>
            <a:ext cx="256032" cy="256032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377440"/>
            <a:ext cx="24460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BFF"/>
                </a:solidFill>
                <a:latin typeface="Calibri"/>
              </a:rPr>
              <a:t>Q2 2027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Ekspor perdana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114800"/>
            <a:ext cx="24460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Kontrak 2 buyer SG</a:t>
            </a:r>
          </a:p>
        </p:txBody>
      </p:sp>
      <p:sp>
        <p:nvSpPr>
          <p:cNvPr id="14" name="Oval 13"/>
          <p:cNvSpPr/>
          <p:nvPr/>
        </p:nvSpPr>
        <p:spPr>
          <a:xfrm>
            <a:off x="9896094" y="3712463"/>
            <a:ext cx="256032" cy="256032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1100" y="2377440"/>
            <a:ext cx="24460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BFF"/>
                </a:solidFill>
                <a:latin typeface="Calibri"/>
              </a:rPr>
              <a:t>Q3 2027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4114800"/>
            <a:ext cx="24460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Run-rate Rp1,2M/bln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Kopi Nusantara • Confidential</a:t>
            </a:r>
          </a:p>
          <a:p>
            <a:pPr algn="r"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0" y="1097280"/>
            <a:ext cx="8138160" cy="4663440"/>
          </a:xfrm>
          <a:prstGeom prst="roundRect">
            <a:avLst/>
          </a:prstGeom>
          <a:solidFill>
            <a:srgbClr val="14283F"/>
          </a:solidFill>
          <a:ln w="12700">
            <a:solidFill>
              <a:srgbClr val="24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651760" y="1645920"/>
            <a:ext cx="68580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6000" b="1">
                <a:solidFill>
                  <a:srgbClr val="2E9BFF"/>
                </a:solidFill>
                <a:latin typeface="Calibri"/>
              </a:rPr>
              <a:t>“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FFFFFF"/>
                </a:solidFill>
                <a:latin typeface="Calibri Light"/>
              </a:rPr>
              <a:t>Kopi terbaik mereka yang pernah kami cicipi dari Jawa Barat.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8FA3B8"/>
                </a:solidFill>
                <a:latin typeface="Calibri Light"/>
              </a:rPr>
              <a:t>— Head Buyer, Singapore Roasters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Kopi Nusantara • Confidential</a:t>
            </a:r>
          </a:p>
          <a:p>
            <a:pPr algn="r"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9966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E9BFF"/>
                </a:solidFill>
                <a:latin typeface="Calibri"/>
              </a:rPr>
              <a:t>TERIMA KASIH</a:t>
            </a:r>
          </a:p>
          <a:p>
            <a:pPr algn="ctr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Mari seduh bersama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8FA3B8"/>
                </a:solidFill>
                <a:latin typeface="Calibri Light"/>
              </a:rPr>
              <a:t>kontak@kopinusantara.id • +62 812-0000-0000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4754880"/>
            <a:ext cx="2286000" cy="731520"/>
          </a:xfrm>
          <a:prstGeom prst="roundRect">
            <a:avLst/>
          </a:prstGeom>
          <a:solidFill>
            <a:srgbClr val="2E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0" y="4828032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Hubungi Kami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Kopi Nusantara • Confidential</a:t>
            </a:r>
          </a:p>
          <a:p>
            <a:pPr algn="r">
              <a:spcAft>
                <a:spcPts val="400"/>
              </a:spcAft>
            </a:pPr>
            <a:r>
              <a:rPr sz="1200" b="0">
                <a:solidFill>
                  <a:srgbClr val="8FA3B8"/>
                </a:solidFill>
                <a:latin typeface="Calibri Light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