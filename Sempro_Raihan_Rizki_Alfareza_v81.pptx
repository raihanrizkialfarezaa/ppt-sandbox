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10056305-D31C-91E4-F443-0046603B0CBE}">
          <p14:sldIdLst>
            <p14:sldId id="256"/>
            <p14:sldId id="257"/>
            <p14:sldId id="258"/>
            <p14:sldId id="259"/>
            <p14:sldId id="260"/>
          </p14:sldIdLst>
        </p14:section>
        <p14:section name="Rancangan" id="{70972B52-63DD-39B8-6F44-3D433546E504}">
          <p14:sldIdLst>
            <p14:sldId id="261"/>
            <p14:sldId id="262"/>
            <p14:sldId id="263"/>
            <p14:sldId id="264"/>
          </p14:sldIdLst>
        </p14:section>
        <p14:section name="Metode" id="{F4BC84A0-474D-285A-B7F4-7C5D9B8BB503}">
          <p14:sldIdLst>
            <p14:sldId id="265"/>
            <p14:sldId id="266"/>
            <p14:sldId id="267"/>
            <p14:sldId id="268"/>
          </p14:sldIdLst>
        </p14:section>
        <p14:section name="Penutup" id="{A60D2317-BB78-FD1D-AE59-1E3919CD3A8A}">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061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NASKAH LISAN
Selamat pagi Bapak/Ibu Penguji. Saya Raihan Rizki Alfareza. Penelitian saya menjawab satu pertanyaan: ketika catatan antarunit apotek dihubungkan secara terdistribusi, apakah transaksi tetap konsisten? Saya menjawabnya dengan membandingkan tiga kondisi arsitektur pada beban dan gangguan yang sama.
CATATAN PERTAHANAN
- Konsistensi transaksi dipahami melalui dua aspek: konsistensi data dan keandalan transaksi (Bab I, 1.1). Performa dan kompleksitas operasional adalah dimensi pendukung.
- Judul memakai kata "menjaga" karena yang dievaluasi adalah kemampuan tiap kondisi arsitektur menjaga konsistensi. Tidak diasumsikan sejak awal bahwa EDA pasti lebih baik.
- Kalau ditanya konsisten menurut indikator apa: empat invariant bisnis (slide 7) dan kriteria penerimaan (slide 11), keduanya ditetapkan sebelum eksperimen.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Apotek Bisma di Kabupaten Mojokerto memiliki tiga cabang dan satu gudang distribusi. Setiap cabang memakai aplikasi kasir mandiri, gudang memakai Excel VBA, dan tidak ada sinkronisasi real-time. Menurut Bab I, ketiga cabang memproses sekitar 450 transaksi penjualan per hari. Kondisi ini dipetakan melalui wawancara dan observasi bersama Ibu Atik, pemilik Apotek Bisma, pada 5 Juli 2026. Rekonsiliasi dapat memakan satu sampai dua hari di cabang dan empat sampai lima hari di gudang, dan selisih stok fisik dengan catatan sistem hampir selalu muncul pada rekonsiliasi bulanan. Selisih ini menunjukkan catatan sistem tidak selalu mencerminkan kondisi fisik, dan itulah persoalan konsistensi data. Pola ini menjadi indikasi kelemahan pada metode pencatatan terpisah. Bila pencatatan kelak dihubungkan otomatis tanpa sinkronisasi yang baik, berpotensi muncul risiko baru, misalnya lost update. Risiko integrasi ini belum terbukti terjadi di sistem eksisting. Pertanyaan penelitian saya: ketika catatan antarunit dihubungkan, apakah transaksi tetap konsisten?</a:t>
            </a:r>
          </a:p>
          <a:p>
            <a:endParaRPr/>
          </a:p>
          <a:p>
            <a:r>
              <a:t>CATATAN PERTAHANAN</a:t>
            </a:r>
          </a:p>
          <a:p>
            <a:r>
              <a:t>- Sumber angka: Bab I, 1.1. Wawancara dan observasi dengan Ibu Atik, pemilik usaha, 5 Juli 2026 tercatat di Bab III, 3.2.1. Proposal tidak menguraikan cara pengumpulan tiap angka, jadi sebut angka sebagaimana tercantum di Bab I 1.1 dan jangan mengklaim pengukuran sendiri.</a:t>
            </a:r>
          </a:p>
          <a:p>
            <a:r>
              <a:t>- Pakai "hampir selalu", sesuai Bab I, 1.1. Jangan ucapkan "selalu" tanpa "hampir". Kalau ditanya dasarnya, rujuk Bab I 1.1 dan tanggal wawancara dan observasi di Bab III 3.2.1.</a:t>
            </a:r>
          </a:p>
          <a:p>
            <a:r>
              <a:t>- Angka 450 adalah total tiga cabang per hari. Durasi 1–2 hari dan 4–5 hari adalah kisaran waktu yang dapat terjadi, bukan hasil pengukuran peneliti.</a:t>
            </a:r>
          </a:p>
          <a:p>
            <a:r>
              <a:t>- Selisih stok yang ada sekarang menjadi indikasi kelemahan pencatatan terpisah. Penyebabnya tidak diuji dalam penelitian ini. Lost update adalah risiko bersyarat (Bab I, 1.1 dan 1.2 butir 3) yang baru dapat muncul bila pencatatan dihubungkan tanpa mekanisme sinkronisasi yang baik, dan belum terbukti terjadi di Apotek Bisma.</a:t>
            </a:r>
          </a:p>
          <a:p>
            <a:r>
              <a:t>- Kalau ditanya mengapa ini masalah konsistensi: selisih stok fisik dan sistem berarti data antarunit tidak mencerminkan keadaan yang benar. Itu yang dimaksud konsistensi data. Konsistensi transaksi dipahami melalui konsistensi data dan keandalan transaksi (Bab I, 1.1).</a:t>
            </a:r>
          </a:p>
          <a:p>
            <a:r>
              <a:t>- Jangan membahas microservices di slide ini. Fokus pada masalah dan alasan masalah itu adalah masalah konsistensi data.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Kondisi lapangan tersebut menunjukkan lima masalah yang menjadi dasar penelitian. Pertama, rekonsiliasi membutuhkan satu sampai dua hari di cabang dan empat sampai lima hari di gudang. Kedua, stok di sistem tidak cocok dengan stok fisik, dan berdasarkan konfirmasi narasumber selisih ini hampir selalu muncul pada rekonsiliasi bulanan. Ketiga, bila pencatatan antarunit diintegrasikan tanpa mekanisme sinkronisasi yang baik, terdapat risiko lost update dan oversell. Keempat, belum ada dasbor monitoring terpadu. Kelima, konsekuensi tiap arsitektur terhadap konsistensi transaksi belum diketahui sebelum ketiganya diimplementasikan dan dibandingkan.</a:t>
            </a:r>
          </a:p>
          <a:p>
            <a:r>
              <a:t>Dari lima masalah itu, perebutan stok saya utamakan dalam skenario uji sesuai Batasan Masalah butir 5, tanpa klaim sebagai masalah terbesar apotek. Pada diagram, stok awal hanya satu unit. Kasir A dan Kasir B sama-sama membaca stok satu, keduanya berhasil menjual satu unit, lalu keduanya menyimpan stok nol. Secara bisnis terjadi oversell, karena dua unit terjual dari stok satu. Pada sisi data terjadi lost update, karena pembaruan salah satu transaksi tidak tercermin pada saldo akhir.</a:t>
            </a:r>
          </a:p>
          <a:p/>
          <a:p>
            <a:r>
              <a:t>CATATAN PERTAHANAN</a:t>
            </a:r>
          </a:p>
          <a:p>
            <a:r>
              <a:t>- Lima masalah mengikuti Bab I, 1.2. Empat berupa keadaan operasional atau risiko, satu berupa kesenjangan evaluasi (butir 5: konsekuensi arsitektur belum dapat diketahui sebelum diimplementasikan dan dibandingkan).</a:t>
            </a:r>
          </a:p>
          <a:p>
            <a:r>
              <a:t>- Slide menampilkan dua rentang terpisah: 1–2 hari di cabang dan 4–5 hari di gudang. Bab I, 1.2 butir 1 meringkasnya sebagai 1–5 hari kerja. Jangan mengatakan 1–5 hari berlaku di setiap unit.</a:t>
            </a:r>
          </a:p>
          <a:p>
            <a:r>
              <a:t>- Butir 3 bersifat bersyarat: risiko muncul bila pencatatan dihubungkan tanpa sinkronisasi yang baik. Jangan menyatakan integrasi menyebabkan lost update atau oversell.</a:t>
            </a:r>
          </a:p>
          <a:p>
            <a:r>
              <a:t>- Oversell adalah pelanggaran aturan bisnis, yaitu jumlah terjual melebihi stok siap jual. Pada diagram, kedua transaksi tetap berstatus sukses. Lost update diuji terpisah dari ilustrasi ini pada F5 melalui konflik pembaruan stok; diagram slide ini terutama menunjukkan oversell.</a:t>
            </a:r>
          </a:p>
          <a:p>
            <a:r>
              <a:t>- Mengapa perebutan stok dipilih: sesuai Batasan Masalah butir 5. Alasan tambahan tidak tertulis di proposal. Tidak ada klaim bahwa ini risiko terbesar Apotek Bisma, dan penelitian menguji skenario gangguan lain selain perebutan stok.</a:t>
            </a:r>
          </a:p>
          <a:p>
            <a:r>
              <a:t>- Kode F5 sengaja belum disebut di slide ini karena definisi kode gangguan baru diuraikan pada bagian metode. Perkenalkan kodenya saat definisi gangguan ditampilkan.</a:t>
            </a:r>
          </a:p>
          <a:p>
            <a:r>
              <a:t>- Dasbor monitoring (butir 4) tidak diuji sebagai tujuan. Layanan Pelaporan hanya menyediakan salinan data (Bab I, 1.3). </a:t>
            </a:r>
          </a:p>
          <a:p>
            <a:r>
              <a:t>CATATAN PERTAHANAN</a:t>
            </a:r>
          </a:p>
          <a:p>
            <a:r>
              <a:t>Diagram ini secara langsung mengilustrasikan oversell. Lost update diuji terpisah melalui konflik pembaruan stok pada F5.</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Penelitian ini berangkat dari kondisi lapangan dan dari beberapa studi terdahulu yang menjadi landasan rancangan. Pada arsitektur dan migrasi, Blinowski menunjukkan monolith dapat unggul pada beban tertentu, Söylemez menunjukkan konsistensi data dan kerumitan operasi sebagai tantangan microservices, dan Faustino menunjukkan migrasi membawa biaya kecepatan dan upaya penataan. Monolith saya jadikan kondisi acuan, tanpa asumsi bahwa monolith selalu lebih baik. Pada event dan konsistensi, Rochman dan Suartana menunjukkan EDA dapat mempercepat proses tetapi penguncian data memicu kemacetan pada pembaruan stok. Temuan ini saya gunakan sebagai dasar untuk menguji Optimistic Concurrency Control. Bação dan Guerreiro membedakan konsistensi data dari konsistensi proses, dan itu saya gunakan sebagai dasar kriteria konsistensi data dan keandalan transaksi. Pada uji keandalan, Al-Said Ahmad dan Andras mendasari fault injection, sedangkan Hui dan kawan-kawan menekankan perlunya aturan acuan kebenaran, yang saya wujudkan sebagai aturan bisnis (invariant) penentu validitas data. Terakhir, Rodrigues dan kawan-kawan menekankan beban dan perangkat yang setara. Dari landasan ini, masih ada ruang untuk menguji dampak pemisahan layanan dan proteksi konsistensi data terhadap konsistensi transaksi melalui perbandingan tiga kondisi arsitektur pada apotek multicabang.</a:t>
            </a:r>
          </a:p>
          <a:p>
            <a:endParaRPr/>
          </a:p>
          <a:p>
            <a:r>
              <a:t>CATATAN PERTAHANAN</a:t>
            </a:r>
          </a:p>
          <a:p>
            <a:r>
              <a:t>- Isi kolom mengikuti Tabel 2.1 proposal. Redaksi proposal: "masih ada ruang untuk menguji". Jangan mengucapkan "belum pernah ada penelitian" atau "belum ada yang membandingkan": proposal ini tidak berbasis systematic review, sehingga klaim itu tidak dapat dipertahankan bila ditanya cakupan pencarian literatur.</a:t>
            </a:r>
          </a:p>
          <a:p>
            <a:r>
              <a:t>- Alur yang dijaga: studi terdahulu menjadi landasan rancangan. Studi itu tidak membuktikan hasil penelitian ini. Contoh: temuan kemacetan akibat penguncian menjadi dasar menguji OCC, sedangkan apakah OCC mencegah oversell dan lost update ditentukan oleh hasil eksperimen.</a:t>
            </a:r>
          </a:p>
          <a:p>
            <a:r>
              <a:t>- Monolith adalah kondisi acuan. Kalau ditanya soal bias: tidak ada kondisi arsitektur yang diasumsikan lebih unggul sebelum hasil pengujian diperoleh.</a:t>
            </a:r>
          </a:p>
          <a:p>
            <a:r>
              <a:t>- Kebaruan: terletak pada evaluasi komparatif tiga kondisi arsitektur dengan fungsi bisnis setara, termasuk EDA tanpa dan dengan paket proteksi, menggunakan fault injection dan invariant bisnis. Pembuatan microservices atau pemakaian satu mekanisme tertentu tidak diajukan sebagai kebaruan. Studi terdahulu menjadi landasan komponen secara terpisah. Penelitian ini menyatukannya dalam satu protokol eksperimen.</a:t>
            </a:r>
          </a:p>
          <a:p>
            <a:r>
              <a:t>- Alasan memilih OCC: skenario utama menguji konflik pembaruan stok secara konkuren. OCC diuji melalui invariant oversell dan lost update. Gunakan kata "diuji konsistensinya", bukan "efektivitas" atau "menjamin".</a:t>
            </a:r>
          </a:p>
          <a:p>
            <a:r>
              <a:t>- Aturan bisnis dan kesetaraan lingkungan adalah keputusan rancangan penelitian ini yang berlandaskan studi tersebut. Istilah test oracle dipakai di Tabel 3.2 dan 3.7 tanpa definisi tertulis, jadi jelaskan sebagai acuan nilai benar yang diturunkan dari aturan bisnis. Studi itu sendiri tidak membuat klaim tersebut.</a:t>
            </a:r>
          </a:p>
          <a:p>
            <a:r>
              <a:t>- Kalau ditanya isi detail suatu paper, baca kembali paper itu sebelum menjawab.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Berdasarkan masalah dan ruang penelitian tersebut, penelitian ini memiliki empat rumusan masalah, masing-masing dengan tujuan yang sejajar. Pertama, bagaimana merancang dan mengimplementasikan event-driven microservices dengan pembagian tanggung jawab fungsional dan penetapan sumber kebenaran data pada masing-masing layanan. Ini memastikan kondisi EDA yang diuji memiliki pembagian domain dan otoritas data yang jelas. Kedua, bagaimana kondisi konsistensi data pada tiap arsitektur ketika terjadi konkurensi transaksi, yang dianalisis melalui invariant bisnis dan perebutan stok serentak. Ketiga, bagaimana kondisi keandalan transaksi ketika terjadi gangguan atau kegagalan proses, yang dievaluasi melalui fault injection dan pengamatan pemulihan. Keempat, bagaimana ketiga kondisi arsitektur dibandingkan dari sisi konsistensi data dan keandalan transaksi pada beban dan kondisi pengujian yang setara, melalui eksperimen utama sebanyak 3.330 run. Performa dan kompleksitas operasional menjadi dimensi pendukung evaluasi.</a:t>
            </a:r>
          </a:p>
          <a:p>
            <a:endParaRPr/>
          </a:p>
          <a:p>
            <a:r>
              <a:t>CATATAN PERTAHANAN</a:t>
            </a:r>
          </a:p>
          <a:p>
            <a:r>
              <a:t>- Redaksi lengkap ada di Bab I, 1.4 dan 1.5. Rumusan masalah di slide memakai redaksi proposal. Tujuan di slide diringkas dari 1.5 tanpa mengubah maknanya.</a:t>
            </a:r>
          </a:p>
          <a:p>
            <a:r>
              <a:t>- Mengapa RM1 membahas rancangan dan implementasi: RM1 memastikan kondisi EDA yang menjadi objek evaluasi dibangun dengan pembagian domain dan otoritas data yang jelas. Evaluasi konsistensi menjadi fokus RM2 sampai RM4.</a:t>
            </a:r>
          </a:p>
          <a:p>
            <a:r>
              <a:t>- RM2 dan RM3 berbunyi "bagaimana kondisi", sehingga hasil tidak dipaksakan. EDA dengan proteksi tidak diasumsikan lolos. Kriteria penerimaan ada di Bab III. RM2 tidak menyebut mekanisme tertentu seperti OCC.</a:t>
            </a:r>
          </a:p>
          <a:p>
            <a:r>
              <a:t>- RM2 adalah konsistensi data (kondisi akhir sesuai invariant). RM3 adalah keandalan transaksi (transaksi selesai sesuai aturan atau pulih saat gangguan). Keduanya dibedakan dan tidak digabung.</a:t>
            </a:r>
          </a:p>
          <a:p>
            <a:r>
              <a:t>- Label tujuan di kolom kanan adalah ringkasan presentasi. Perebutan stok adalah skenario utama konflik konkurensi, tetapi penilaian akhir memakai invariant dan metrik protokol. Kode gangguan F1 sampai F6 sengaja belum disebut di slide ini. Penerapannya berbeda antar arsitektur dan diuraikan pada bagian metode.</a:t>
            </a:r>
          </a:p>
          <a:p>
            <a:r>
              <a:t>- Angka 3.330 run adalah parameter protokol (37 kombinasi x 3 beban x 30 replikasi, Bab III), yaitu cara memperoleh bukti dan bukan hasil penelitian. Ucapkan: RM4 dijawab melalui perbandingan tiga kondisi dengan total 3.330 run eksperimen utama.</a:t>
            </a:r>
          </a:p>
          <a:p>
            <a:r>
              <a:t>- Mengapa performa tidak menjadi rumusan masalah: fokus penelitian adalah konsistensi transaksi. Performa dan kompleksitas dipakai untuk melihat kompromi (trade-off) tiap kondisi.</a:t>
            </a:r>
          </a:p>
          <a:p>
            <a:r>
              <a:t>- Kebaruan yang aman: evaluasi komparatif tiga kondisi arsitektur berfungsi bisnis setara dengan fault injection dan invariant bisnis. Pembuatan microservices atau pemakaian RabbitMQ tidak diajukan sebagai kebaruan.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Penelitian membandingkan tiga kondisi arsitektur dengan fungsi bisnis yang setara. Pertama, monolith terpusat: satu aplikasi Laravel dengan empat modul dan satu basis data MySQL bersama. Kedua, event-driven microservices tanpa paket proteksi konsistensi: empat layanan NestJS dengan basis data masing-masing dan RabbitMQ sebagai broker. Ketiga, struktur EDA yang sama, ditambah lima paket mekanisme proteksi konsistensi. EDA tanpa dan dengan proteksi adalah pembanding yang lebih terkontrol karena struktur layanan, basis data, broker, dan konfigurasi dasarnya sama. Yang berbeda hanya paket proteksi. Sementara itu, monolith dan EDA berbeda pada framework, jumlah basis data, dan pola komunikasi, sehingga perbandingan keduanya dibaca sebagai perbandingan arsitektur utuh.</a:t>
            </a:r>
          </a:p>
          <a:p>
            <a:endParaRPr/>
          </a:p>
          <a:p>
            <a:r>
              <a:t>CATATAN PERTAHANAN</a:t>
            </a:r>
          </a:p>
          <a:p>
            <a:r>
              <a:t>- Istilah singkat: "EDA tanpa Proteksi" = event-driven microservices tanpa proteksi konsistensi data. "EDA dengan Proteksi" = dengan proteksi konsistensi data.</a:t>
            </a:r>
          </a:p>
          <a:p>
            <a:r>
              <a:t>- Yang disetarakan: fungsi bisnis dan aturan transaksi (empat domain), data awal, beban, total CPU dan RAM per kondisi, konfigurasi dasar broker (Bab III 3.2.2, Tabel 3.4). Pembagian CPU dan RAM di dalam tiap arsitektur mengikuti kebutuhan komponennya. Kode dan jalur proses tetap berbeda sesuai arsitektur.</a:t>
            </a:r>
          </a:p>
          <a:p>
            <a:r>
              <a:t>- Jalur kedua EDA tidak identik: EDA dengan proteksi menambah Outbox, Inbox, dll. Bila lebih lambat, itu biaya proteksi yang memang sedang diukur.</a:t>
            </a:r>
          </a:p>
          <a:p>
            <a:r>
              <a:t>- Perbandingan kedua EDA menilai paket proteksi secara keseluruhan, bukan kontribusi tiap mekanisme.</a:t>
            </a:r>
          </a:p>
          <a:p>
            <a:r>
              <a:t>Monolith vs EDA bukan eksperimen satu variabel: Laravel vs NestJS, satu vs banyak basis data, panggilan fungsi vs broker berbeda sekaligus. Selisih performa tidak diatribusikan murni pada arsitektur. Dasar: Bab III 3.3.5 butir 1 (perbedaan implementasi mengikuti rancangan tiap arsitektur). Dipertegas sebagai batas interpretasi.</a:t>
            </a:r>
          </a:p>
          <a:p>
            <a:r>
              <a:t>EDA tanpa vs dengan Proteksi lebih terkontrol: susunan layanan, basis data, konfigurasi dasar broker, dan sumber daya sama. Hanya lima paket mekanisme proteksi yang berbeda (Bab III 3.2.2).</a:t>
            </a:r>
          </a:p>
          <a:p>
            <a:r>
              <a:t>"Tanpa proteksi" = tanpa lima paket mekanisme proteksi. Konfigurasi dasar broker diseragamkan pada kedua EDA (3.2.2). Rincian publisher confirm, antrean durable, ACK manual, dan 2 pemroses adalah penafsiran Tabel 3.4 yang perlu dikonfirmasi ke pembimbing. Jadi bukan sistem tanpa fitur dasar apa pun.</a:t>
            </a:r>
          </a:p>
          <a:p>
            <a:endParaRPr/>
          </a:p>
          <a:p>
            <a:r>
              <a:t>TAMBAHAN PERTAHANAN</a:t>
            </a:r>
          </a:p>
          <a:p>
            <a:r>
              <a:t>- Apakah ketiganya identik: tidak identik pada implementasi. Yang disetarakan adalah fungsi bisnis, aturan transaksi, data awal, beban, total sumber daya, dan kondisi pengujian. Implementasi internal mengikuti karakteristik tiap arsitektur.</a:t>
            </a:r>
          </a:p>
          <a:p>
            <a:r>
              <a:t>- Mengapa Laravel pada monolith dan NestJS pada microservices: framework mengikuti implementasi tiap kondisi arsitektur. Penelitian tidak dirancang untuk mengisolasi pengaruh framework, sehingga selisih performa Monolith vs EDA tidak diatribusikan pada satu faktor. Pembanding paling terkontrol untuk efek paket proteksi adalah EDA tanpa vs dengan proteksi.</a:t>
            </a:r>
          </a:p>
          <a:p>
            <a:r>
              <a:t>- Mengapa tiga kondisi: monolith menjadi acuan kondisi terpusat. Dua kondisi EDA pada struktur yang sama memungkinkan dampak paket proteksi diamati lebih terkontrol. Ketiganya tiga kondisi eksperimen dan tidak menyatakan urutan kualitas, maka visual sengaja tanpa panah evolusi.</a:t>
            </a:r>
          </a:p>
          <a:p>
            <a:r>
              <a:t>- Lima paket mekanisme diuji sebagai satu paket proteksi. Penelitian tidak mengisolasi kontribusi tiap mekanisme. Jangan menyebutnya lima teknologi.</a:t>
            </a:r>
          </a:p>
          <a:p>
            <a:r>
              <a:t>- Mengapa Pelaporan menjadi layanan: agar fungsi bisnis yang dibandingkan tetap sama. Pelaporan tidak memiliki data otoritatif dan hanya menyimpan salinan untuk dasbor dan notifikasi (lihat slide otoritas data).</a:t>
            </a:r>
          </a:p>
          <a:p>
            <a:r>
              <a:t>- Mengapa Monolith vs EDA tetap dibandingkan walau bukan satu variabel: penelitian juga melihat trade-off arsitektur secara utuh. Monolith memberi baseline kondisi terpusat, EDA menunjukkan konsekuensi pemisahan layanan dan komunikasi asinkron. Interpretasi dibatasi: selisih hasil tidak diatribusikan pada satu faktor tunggal.</a:t>
            </a:r>
          </a:p>
          <a:p>
            <a:r>
              <a:t>- Kalau ditanya apakah selisih latency Monolith vs EDA bisa karena framework: benar, perbedaan implementasi termasuk bagian dari kondisi arsitektur, jadi tidak diatribusikan pada satu faktor. Pembanding terkontrol untuk efek paket proteksi adalah EDA tanpa vs dengan Proteksi.</a:t>
            </a:r>
          </a:p>
          <a:p>
            <a:r>
              <a:t>- Tata letak slide: kotak bawah kiri (Monolith vs EDA) dan kotak bawah kanan berwarna emas (EDA vs EDA) sengaja ditaruh sejajar kartu terkait. Tiga kartu berdiri sejajar tanpa panah agar tidak terbaca sebagai peringkat kualitas.</a:t>
            </a:r>
          </a:p>
          <a:p>
            <a:r>
              <a:t>- Bila ditanya apakah implementasi kedua EDA berbeda: ya. Penambahan Outbox, Inbox, OCC, Saga, Retry dan DLQ memang pembeda yang diuji. Yang sama adalah struktur dasar, basis data, konfigurasi dasar broker, fungsi bisnis, dan total sumber daya. Selisih dibaca sebagai dampak paket proteksi secara keseluruhan, bukan kontribusi tiap mekanisme.</a:t>
            </a:r>
          </a:p>
          <a:p>
            <a:r>
              <a:t>- Ucapkan: monolith menjadi empat modul dalam satu aplikasi, EDA menjadi empat layanan terpisah. Jangan menyebut ketiga arsitektur memiliki empat layanan.</a:t>
            </a:r>
          </a:p>
          <a:p>
            <a:r>
              <a:t>- Sumber daya: yang disetarakan adalah total CPU dan RAM per kondisi, bukan jatah tiap layanan.</a:t>
            </a:r>
          </a:p>
          <a:p>
            <a:r>
              <a:t>- Istilah "tanpa proteksi" selalu berarti tanpa lima paket proteksi, bukan broker polos. Redaksi "fungsi bisnis yang setara" mengikuti Bab I dan 3.2.2.</a:t>
            </a:r>
          </a:p>
          <a:p>
            <a:r>
              <a:t>- Pertanyaan inti: bila lima paket proteksi dilepas dari EDA dengan Proteksi, kondisinya kembali ke baseline EDA tanpa Proteksi (bukan ke monolith). Ucapkan sebagai definisi desain kondisi, bukan klaim hasil: EDA dengan Proteksi = baseline EDA + lima paket proteksi.</a:t>
            </a:r>
          </a:p>
          <a:p>
            <a:r>
              <a:t>- Baseline disetarakan, bukan kode atau jalur internal yang identik. Outbox, OCC, dan mekanisme lain memang mengubah jalur internal, dan itu pembeda yang diuji.</a:t>
            </a:r>
          </a:p>
          <a:p>
            <a:r>
              <a:t>- Gunakan istilah "paket mekanisme proteksi", bukan "teknologi proteksi". Penelitian tidak mengisolasi kontribusi tiap mekanisme.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Komunikasi EDA bersifat asinkron, sehingga data antarlayanan dapat berbeda sementara selama event masih diproses. Perbedaan itu wajar. Kriteria integritas utama saya tetapkan pada kondisi akhir, setelah proses atau recovery selesai. Kondisi akhir dinilai dengan empat invariant bisnis. Pertama, available sama dengan on-hand dikurangi reserved. Kedua, available tidak negatif. Ketiga, stok akhir sesuai stok awal ditambah stok masuk dikurangi stok terjual. Keempat, transaksi yang sudah berstatus final tidak kembali aktif, termasuk saat event pembayaran datang terlambat. Invariant ini menilai kondisi bisnis lintas layanan, sedangkan Consistency pada ACID berada pada level constraint dalam satu transaksi database. Keandalan transaksi dinilai tersendiri: transaksi selesai sesuai aturan atau pulih ke kondisi yang benar. Contohnya, bila pembayaran gagal atau timeout setelah reservasi, transaksi dikompensasi sampai berstatus Compensated. Untuk pembayaran terlambat, acuannya adalah batas 30 detik sejak reservasi berhasil. Notifikasi atau konfirmasi sesudah batas itu dianggap terlambat dan diabaikan (Gambar 3.3).</a:t>
            </a:r>
          </a:p>
          <a:p>
            <a:endParaRPr/>
          </a:p>
          <a:p>
            <a:r>
              <a:t>CATATAN PERTAHANAN</a:t>
            </a:r>
          </a:p>
          <a:p>
            <a:r>
              <a:t>- ACID: Consistency pada ACID berfokus pada constraint dalam transaksi basis data. Invariant penelitian menilai kondisi bisnis lintas layanan. Bab II 2.1.2 menyatakan Consistency pada ACID berlaku pada transaksi basis data tunggal. Slide memakai redaksi yang sama.</a:t>
            </a:r>
          </a:p>
          <a:p>
            <a:r>
              <a:t>- Batas transaksi 30 detik dihitung sejak reservasi stok berhasil (Bab III, Tabel 3.4).</a:t>
            </a:r>
          </a:p>
          <a:p>
            <a:r>
              <a:t>- Invariant 4 adalah invariant status: transaksi final tidak boleh aktif kembali. "Final" tidak selalu berarti berhasil (bisa Completed atau Compensated).</a:t>
            </a:r>
          </a:p>
          <a:p>
            <a:r>
              <a:t>KLARIFIKASI LISAN, tidak tertulis di proposal. Proposal hanya menyatakan notifikasi atau konfirmasi setelah batas 30 detik diperlakukan terlambat. Istilah received_at = saat notifikasi pertama diterima sistem. Titiknya mengikuti arsitektur: webhook handler (Pembayaran Digital), aksi konfirmasi kasir atau admin (QRIS Statis), atau pemanggilan callback (Monolith). Pada EDA, timestamp dicatat sebelum event diteruskan ke broker. Pada Monolith, timestamp dicatat saat callback atau konfirmasi diterima, karena tidak ada broker. Aturan keterlambatan 30 detik sama pada ketiga kondisi: terlambat bila received_at &gt; waktu reservasi berhasil + 30 dtk (Tabel 3.4).</a:t>
            </a:r>
          </a:p>
          <a:p>
            <a:r>
              <a:t>Tiga waktu dibedakan pada EDA: batas bisnis 30 dtk, received_at, dan waktu consumer memproses. Pada EDA, retry/DLQ atau penundaan broker menggeser waktu proses, bukan received_at, sehingga klasifikasi tidak berubah karenanya.</a:t>
            </a:r>
          </a:p>
          <a:p>
            <a:r>
              <a:t>Invariant 4 dinilai pada kondisi akhir: transaksi yang sudah berstatus akhir (Completed atau Compensated) tidak boleh kembali aktif oleh notifikasi apa pun, kapan pun diproses. Failed dan Expired adalah status antara menuju Compensated, sedangkan status akhir adalah Completed dan Compensated (Gambar 3.3). Kasus notifikasi yang tiba sebelum batas tetapi diproses sesudahnya tidak diatur eksplisit di proposal. Jangan menjawab lebih jauh dari Gambar 3.3 dan Tabel 3.4. Status final tetap tidak boleh berubah.</a:t>
            </a:r>
          </a:p>
          <a:p>
            <a:r>
              <a:t>Gambar 3.3 menandai late payment sebagai diabaikan. Pengembalian dana tidak ditetapkan proposal dan bukan objek uji.</a:t>
            </a:r>
          </a:p>
          <a:p>
            <a:r>
              <a:t>- Selisih sementara: state antarlayanan wajar berbeda sementara pada EDA. Integritas utama dinilai pada kondisi akhir setelah run dan recovery selesai. Perilaku selama proses (read-model lag, latency, technical error rate) tetap dicatat sebagai metrik pendukung.</a:t>
            </a:r>
          </a:p>
          <a:p>
            <a:r>
              <a:t>- Bila database akhirnya sama: state akhir tetap harus memenuhi invariant (tanpa oversell, stok akhir sesuai mutasi, status final tidak kembali aktif).</a:t>
            </a:r>
          </a:p>
          <a:p>
            <a:r>
              <a:t>- Oversell tidak selalu berarti Available &lt; 0. Pada lost update, dua transaksi dapat sama-sama menyimpan nilai 0, tetapi dua unit terjual dari stok satu. Oversell dideteksi dari unit terjual melebihi stok sah. Available &lt; 0 hanya salah satu bentuk pelanggaran invariant stok. Keduanya dinilai sebagai kriteria berbeda.</a:t>
            </a:r>
          </a:p>
          <a:p>
            <a:r>
              <a:t>- Konsistensi vs keandalan: konsistensi menilai apakah state akhir memenuhi aturan bisnis. Keandalan menilai apakah transaksi selesai sesuai aturan atau dipulihkan saat gangguan.</a:t>
            </a:r>
          </a:p>
          <a:p>
            <a:r>
              <a:t>- Mengapa tidak cukup ACID Consistency: transaksi melibatkan beberapa layanan dan basis data, sehingga ACID pada satu database tidak otomatis menjamin state bisnis lintas layanan benar.</a:t>
            </a:r>
          </a:p>
          <a:p>
            <a:r>
              <a:t>- Istilah: invariant 3 memakai saldo stok fisik sesuai Bab II 2.1.2. Rumusan konsistensi data pada slide: aturan bisnis stok dan status transaksi, karena invariant 4 adalah invariant status.</a:t>
            </a:r>
          </a:p>
          <a:p>
            <a:r>
              <a:t>- ACID tidak lagi ada di slide. Bila ditanya: konsistensi di penelitian ini adalah kondisi akhir data lintas layanan berdasarkan invariant bisnis, sedangkan Consistency pada ACID berlaku pada transaksi basis data tunggal.</a:t>
            </a:r>
          </a:p>
          <a:p>
            <a:r>
              <a:t>- Batas 30 detik adalah parameter skenario uji (Tabel 3.4), bukan klaim bahwa pembayaran wajib selesai dalam 30 detik. Reserved mencakup stok yang direservasi atau menunggu pembayaran (Bab II 2.1.2).</a:t>
            </a:r>
          </a:p>
          <a:p>
            <a:r>
              <a:t>- Kontras dua dimensi: konsistensi menilai benar tidaknya kondisi akhir data (diukur dengan empat invariant). Keandalan menilai apakah transaksi berhasil mengikuti alur atau dipulihkan ke kondisi benar, baik ada gangguan maupun tidak. Keduanya berbeda dan tidak boleh disamakan dengan recovery.</a:t>
            </a:r>
          </a:p>
          <a:p>
            <a:r>
              <a:t>- Hubungan dua dimensi: keandalan menilai apakah transaksi berhasil pada alur normal atau dipulihkan setelah gangguan atau kegagalan (contoh: pembayaran gagal atau timeout setelah reservasi). Konsistensi menilai apakah kondisi akhir data memenuhi invariant setelah proses atau pemulihan selesai. Completed dan Compensated sama-sama status akhir lewat jalur berbeda. Invariant 4 menguji bahwa status akhir tidak diaktifkan kembali oleh event terlambat.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Pada kedua kondisi EDA ada empat layanan dengan basis data MySQL masing-masing. Pada monolith, empat domain yang sama menjadi empat modul dalam satu aplikasi. Penjualan memiliki order, item, dan status transaksi. Persediaan memiliki stok fisik, stok dipesan, stok siap jual, dan riwayat mutasi, serta menyelesaikan konflik perebutan stok. Pembayaran memiliki percobaan pembayaran, nominal, dan status bayar. Pelaporan tidak memiliki data otoritatif. Ia hanya menyimpan salinan untuk dasbor dan notifikasi. Aturannya tunggal: data otoritatif hanya diubah melalui domain pemiliknya, dan domain lain tidak boleh mengubah data tersebut secara langsung. Pembagian domain dan aturan kepemilikan sama pada ketiga kondisi. Pada EDA, setiap layanan memiliki basis data sendiri. Pada monolith, empat domain menjadi empat modul dalam satu aplikasi dengan satu basis data bersama. Jadi pemilik data menjadi sumber kebenaran bagi jenis data tersebut (Bab I, 1.4 butir 1).</a:t>
            </a:r>
          </a:p>
          <a:p>
            <a:endParaRPr/>
          </a:p>
          <a:p>
            <a:r>
              <a:t>CATATAN PERTAHANAN</a:t>
            </a:r>
          </a:p>
          <a:p>
            <a:r>
              <a:t>- Mengikuti Tabel 3.1 proposal (Batas Domain dan Otoritas Data). Pembagian ini berlaku sama pada ketiga kondisi arsitektur. Pada monolith ia berupa empat modul dalam satu aplikasi.</a:t>
            </a:r>
          </a:p>
          <a:p>
            <a:r>
              <a:t>- Pelaporan adalah salinan data (read model). Selisih sementara dengan pemilik data diukur sebagai read-model lag, bukan otomatis dianggap kesalahan. Salinan di Pelaporan bukan sumber kebenaran dan tidak berwenang mengubah data transaksi. Gambar 3.2 menunjukkan keempat layanan terhubung dua arah dengan RabbitMQ. Pelaporan tidak berwenang mengubah data transaksi.</a:t>
            </a:r>
          </a:p>
          <a:p>
            <a:r>
              <a:t>- Publisher confirm hanya berarti broker menerima pesan, bukan transaksi bisnis selesai.</a:t>
            </a:r>
          </a:p>
          <a:p>
            <a:r>
              <a:t>Satu host Docker Compose: terdistribusi secara logis (proses, basis data, broker terpisah), tetapi domain kegagalan fisik satu. Partisi permanen dan split-brain tidak diuji (3.3.5 butir 2–3).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Proteksi terdiri atas lima paket mekanisme, masing-masing menargetkan risiko tertentu. Pada F1, transaksi bisnis commit secara lokal lalu producer dihentikan sebelum publish. Pada EDA dengan Proteksi, event terkait telah tersimpan di Outbox dalam transaksi lokal yang sama sehingga relay dapat meneruskannya setelah layanan pulih. Pada EDA tanpa Proteksi, tidak ada Outbox untuk menyimpan event yang belum dipublikasikan. Idempotent Consumer dan Inbox Pattern mencatat event_id yang sudah diproses sehingga pesan yang terkirim ulang tidak menghasilkan efek bisnis ganda. Optimistic Concurrency Control memeriksa nomor versi sebelum menyimpan sehingga dua pembaruan stok yang bersamaan tidak saling menimpa. Saga dan Compensation melepaskan reservasi stok bila pembayaran gagal atau kedaluwarsa. Retry dan Dead-Letter Queue mencoba ulang pesan yang gagal lima kali setelah percobaan awal dengan jeda 1, 2, 4, 8, dan 16 detik, lalu memindahkannya ke DLQ. Kondisi EDA tanpa proteksi tidak memakai kelima paket tersebut, sehingga dampaknya dapat diamati sebagai pembanding. Konfigurasi dasar broker dan basis data sama pada kedua kondisi EDA. Yang membedakan hanya kelima paket mekanisme ini.</a:t>
            </a:r>
          </a:p>
          <a:p/>
          <a:p>
            <a:r>
              <a:t>CATATAN PERTAHANAN</a:t>
            </a:r>
          </a:p>
          <a:p>
            <a:r>
              <a:t>- Outbox tidak menjamin exactly-once karena relay dapat mengirim ulang. Itu sebabnya Inbox diperlukan. Gunakan bahasa "mencegah/diuji", bukan "menjamin mutlak". Efek ganda diuji lewat duplicate effect = 0, bukan diasumsikan.</a:t>
            </a:r>
          </a:p>
          <a:p>
            <a:r>
              <a:t>- OCC tidak mengunci baris selama fase baca. Transaksi yang kalah ditolak. OCC mendeteksi konflik perubahan yang bersamaan sehingga salah satu transaksi tidak menimpa yang lain. Benar-salahnya keadaan akhir ditentukan invariant, bukan klaim bahwa OCC mencegah oversell. Bahwa stok tidak pernah negatif adalah hipotesis yang diuji lewat oversell = 0, bukan klaim awal.</a:t>
            </a:r>
          </a:p>
          <a:p>
            <a:r>
              <a:t>- Saga adalah rangkaian transaksi lokal dengan kompensasi, bukan rollback lintas layanan: kompensasi menjalankan aksi bisnis kebalikan pada layanan yang sebelumnya sudah berhasil.</a:t>
            </a:r>
          </a:p>
          <a:p>
            <a:r>
              <a:t>- Kalau ditanya mengapa bukan two-phase commit (tidak dibahas di proposal): arsitektur memakai basis data per layanan dan komunikasi asinkron. Pemulihan lewat transaksi lokal dan kompensasi mengikuti model Saga (Garcia-Molina dan Salem, 1987).</a:t>
            </a:r>
          </a:p>
          <a:p>
            <a:r>
              <a:t>Batas dasar vs paket. Konfigurasi dasar (sama di kedua EDA): publisher confirm, antrean durable dan persistent message, ACK manual, 2 pemroses konkuren per layanan. Paket proteksi (hanya EDA dengan Proteksi): Outbox, Inbox, OCC, Saga, Retry dan DLQ. Pada F3, pengiriman ulang pesan yang belum di-ACK adalah perilaku konfigurasi dasar. Retry berjeda dan DLQ adalah paket.</a:t>
            </a:r>
          </a:p>
          <a:p>
            <a:r>
              <a:t>Kalau ditanya apakah benar tanpa proteksi: istilah merujuk pada tidak adanya lima paket mekanisme proteksi yang diteliti, bukan pada sengaja menonaktifkan fitur dasar. Kalau ditanya mengapa F4 tidak muncul: F4 menguji perilaku terhadap keterlambatan delivery dan timeout, tidak dipetakan ke satu paket karena responsnya bergantung pada alur transaksi dan konfigurasi timeout. Kartu Retry dan DLQ bertanda Tidak diuji sebagai F khusus karena proposal tidak menetapkan kode gangguan tersendiri untuk paket ini, dan label skenario baru sengaja tidak dibuat. Lima paket bukan lima eksperimen terpisah: kelimanya diterapkan sebagai satu paket proteksi pada EDA dengan Proteksi, F1 sampai F6 menguji risiko yang relevan, dan hasil dinilai sebagai paket secara keseluruhan. DLQ mengisolasi pesan yang gagal diproses berulang, bukan memperbaikinya. Konfigurasi broker kedua EDA dicocokkan sebelum eksperimen.</a:t>
            </a:r>
          </a:p>
          <a:p>
            <a:r>
              <a:t>Retry/DLQ: bukti terkonfigurasi (parameter Tabel 3.4) dibedakan dari bukti berfungsi. Pencatatan log Retry dan DLQ sebagai data pendukung tidak tertulis di proposal, jadi jangan sebut sebagai metrik. Kontribusi spesifik Retry/DLQ tidak disimpulkan. Yang dinilai tetap paket.</a:t>
            </a:r>
          </a:p>
          <a:p>
            <a:r>
              <a:t>Batas F1 berlaku pada kedua kondisi EDA: transaksi bisnis sudah commit dan producer dihentikan sebelum publish. Event tersimpan di Outbox hanya pada EDA dengan Proteksi; pada kondisi tanpa Proteksi, tidak ada penyimpanan Outbox untuk event yang belum dipublikasikan.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Alur penelitian terdiri atas lima tahap, yaitu analisis kebutuhan dan penetapan aturan bisnis lewat wawancara dan observasi pada 5 Juli 2026, perancangan arsitektur, pengembangan sistem pada tiga kondisi, pengujian dan simulasi gangguan, serta analisis hasil. Pada tahap pengujian, pilot test dijalankan lebih dulu pada 10, 50, dan 100 request per detik tanpa gangguan. Pilot dinyatakan dapat dilanjutkan ke eksperimen utama bila seluruh skenario tanpa gangguan berjalan dengan baik, log transaksi dan event tercatat, dan hasil rekonsiliasi diperoleh tanpa kegagalan prosedural pada alat pengujian. Setelah itu eksperimen utama dijalankan. Seluruh komponen dijalankan dengan Docker Compose pada satu host dengan resource CPU dan RAM yang disetarakan antar kondisi. Pilot memastikan alat uji berjalan dan hasil dapat direkonsiliasi sebelum eksperimen utama. Pilot bukan untuk memilih arsitektur terbaik dan bukan hasil penelitian.</a:t>
            </a:r>
          </a:p>
          <a:p>
            <a:endParaRPr/>
          </a:p>
          <a:p>
            <a:r>
              <a:t>CATATAN PERTAHANAN</a:t>
            </a:r>
          </a:p>
          <a:p>
            <a:r>
              <a:t>- Lima tahap sama dengan Gambar 3.1 proposal. Penelitian memakai alur mandiri, bukan DSRM, sehingga tidak ada klaim kepatuhan terhadap metodologi baku.</a:t>
            </a:r>
          </a:p>
          <a:p>
            <a:r>
              <a:t>- Validasi alur pengguna bersama staf apotek hanya memeriksa kewajaran alur. Penilaian konsistensi tetap dari hasil pengujian dan metrik.</a:t>
            </a:r>
          </a:p>
          <a:p>
            <a:r>
              <a:t>- Teknologi: Laravel (monolith), NestJS (EDA), MySQL InnoDB REPEATABLE READ, RabbitMQ, Docker Compose.</a:t>
            </a:r>
          </a:p>
          <a:p>
            <a:r>
              <a:t>Pilot: memeriksa kesiapan load generator, fault injector, pencatatan log, dan skrip rekonsiliasi (3.3.1). Kriteria tertulis di proposal ada tiga (3.3.1): seluruh skenario tanpa gangguan berjalan baik, log transaksi dan event tercatat, serta hasil rekonsiliasi diperoleh tanpa kegagalan prosedural pada alat pengujian. Penjabaran untuk pelaksanaan lisan (bukan teks proposal):
1. setiap run 10, 50, 100 req/s selesai sampai rekonsiliasi
2. setiap request terlacak sampai hasil transaksi atau penolakan
3. event relevan terlacak lewat event_id dan ID transaksi
4. hasil transaksi hanya untuk validasi fungsional awal terhadap kriteria "Cakupan fungsi" (Tabel 3.7)
Jumlah event tidak harus sama dengan jumlah request. Satu request dapat menghasilkan lebih dari satu event atau terkirim ulang.
Run pilot tidak masuk 3.330 dan tidak dilaporkan sebagai hasil. Pembelaan: tingkat beban 10, 50, dan 100 req/s sudah ditetapkan di proposal (3.3.1 dan 3.3.2), bukan dipilih dari hasil pilot. Error alat uji dipisahkan karena dapat menghasilkan false failure. Data direset tiap run agar tiap run mulai dari kondisi awal yang sama, bukan dari sisa state run sebelumnya.</a:t>
            </a:r>
          </a:p>
          <a:p>
            <a:r>
              <a:t>Kriteria Tabel 3.7 dan parameter Tabel 3.4 tertulis di proposal sebelum eksperimen. Komitmen tidak mengubahnya setelah data dilihat adalah sikap peneliti, tidak tertulis eksplisit.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Sebelum membahas gangguan, saya definisikan apa yang diukur. Delapan ambang metrik utama pada Tabel 3.7 (Tabel 3.7 juga memuat saldo akhir sesuai test oracle dan cakupan fungsi) menjadi dasar penilaian konsistensi. Oversell, lost update, duplicate effect, permanent mismatch, dan untraceable event harus nol. Terminal-state coverage dan compensation success harus seratus persen pada penyebut yang berlaku. Read-model lag tidak boleh melebihi 60 detik. Kriteria penerimaan utama bersifat non-kompensatori: performa yang lebih baik tidak dapat mengompensasi pelanggaran integritas atau kegagalan pemulihan. Jadi kriteria utama dinilai sebagai outcome wajib. Performa dan kompleksitas operasional dilaporkan sebagai dimensi pendukung dan dibaca sebagai biaya yang dibandingkan dengan manfaat keandalan.</a:t>
            </a:r>
          </a:p>
          <a:p>
            <a:endParaRPr/>
          </a:p>
          <a:p>
            <a:r>
              <a:t>CATATAN PERTAHANAN</a:t>
            </a:r>
          </a:p>
          <a:p>
            <a:r>
              <a:t>- Non-kompensatori bukan berarti data dibuang. Kondisi arsitektur mana pun dapat melanggar kriteria. Pelanggaran itu adalah hasil penelitian dan run-nya tetap dianalisis, termasuk performanya. Tidak ada kondisi yang diasumsikan lolos atau gagal.</a:t>
            </a:r>
          </a:p>
          <a:p>
            <a:r>
              <a:t>- Analisis bersifat deskriptif: median, IQR, p95, minimum, maksimum untuk metrik waktu, serta jumlah atau proporsi untuk metrik integritas. Proposal tidak merancang uji signifikansi. Jangan mengklaim telah menguji signifikansi.</a:t>
            </a:r>
          </a:p>
          <a:p>
            <a:r>
              <a:t>- Technical error rate (gagal teknis) berbeda dari business rejection (ditolak aturan bisnis, mis. stok habis). Business transaction success rate dihitung terhadap transaksi yang memenuhi syarat diproses (Tabel 3.6).</a:t>
            </a:r>
          </a:p>
          <a:p>
            <a:r>
              <a:t>- Batas read-model lag 60 detik bernilai sama dengan recovery window. Proposal tidak menyatakan dasar penetapannya. Jawab: keduanya batas protokol eksperimen, bukan klaim kebutuhan bisnis nyata. Batas 60 detik ini berbeda dari batas 30 detik pada slide 7: 30 detik mendefinisikan keterlambatan event terhadap reservasi, 60 detik adalah target freshness read model sampai data tampil di Pelaporan.</a:t>
            </a:r>
          </a:p>
          <a:p>
            <a:r>
              <a:t>- Recovery time dihitung sejak gangguan dihentikan hingga aturan bisnis terpenuhi. Bila belum tercapai di akhir recovery window, run dicatat tidak pulih dalam batas waktu pengujian.</a:t>
            </a:r>
          </a:p>
          <a:p>
            <a:r>
              <a:t>Kriteria Tabel 3.7 ditetapkan sebelum eksperimen utama dan tidak diubah setelah data dilihat. Kriteria adalah batas pemeriksaan, bukan prediksi hasil. Terminal-state coverage 100% berarti semua transaksi yang seharusnya mencapai status akhir benar-benar mencapainya (Completed atau Compensated, sesuai Gambar 3.3), bukan semua transaksi sukses. Compensation success 100% berarti semua transaksi yang masuk jalur kompensasi dipulihkan dengan reservasi dilepas tepat satu kali, sehingga berakhir di Compensated. Tidak ada skor komposit atau bobot: kriteria utama dilaporkan sebagai outcome terpisah, performa sebagai dimensi pendukung.</a:t>
            </a:r>
          </a:p>
          <a:p>
            <a:r>
              <a:t>Request vs transaksi: 10, 50, 100 req/s adalah laju kirim load generator (tekanan simulasi). Request gagal teknis tetap dihitung sebagai beban dan masuk technical error rate. Penolakan aturan bisnis (mis. stok habis) masuk business rejection. Business transaction success rate memakai penyebut transaksi yang memenuhi syarat diproses (Tabel 3.6). Request rate sama tidak berarti transaksi sukses sama, maka jumlah request, transaksi sukses, dan penyebut dilaporkan eksplisit. Komposisi request per skenario tidak dirinci di proposal.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Pengujian memakai empat skenario transaksi: Penjualan Bersamaan, Mutasi Stok, Pembayaran Digital, dan QRIS Statis. Gangguan disuntikkan dengan enam fault utama. F4 memiliki dua varian, F4a dan F4b, sehingga tabel menampilkan tujuh baris. Pada F1, transaksi bisnis dan event Outbox telah commit secara lokal sebelum producer dihentikan; penghentian terjadi sebelum publish. F1 sampai F4a berkaitan dengan penerbitan, pengiriman, dan penerimaan pesan lewat broker, sehingga hanya diuji pada kedua kondisi EDA. F4b, F5, dan F6 berlaku pada ketiga kondisi dengan bentuk simulasi yang disesuaikan perilaku tiap arsitektur. Kolom paling kanan menunjukkan metrik utama yang diperiksa pada tiap gangguan. Tiga kondisi hanya dibandingkan pada skenario yang berlaku pada ketiganya. F1 sampai F4a dibaca khusus sebagai perbandingan kedua EDA.</a:t>
            </a:r>
          </a:p>
          <a:p/>
          <a:p>
            <a:r>
              <a:t>CATATAN PERTAHANAN</a:t>
            </a:r>
          </a:p>
          <a:p>
            <a:r>
              <a:t>- Isi mengikuti Tabel 3.2 dan 3.3 proposal. Kolom Metrik utama mengikuti kolom Metrik Utama pada Tabel 3.3 (definisi tiap metrik ada di slide 11 dan Tabel 3.6). Istilah di slide sengaja sama dengan proposal. F4 punya dua bentuk (F4a pada broker, F4b pada konfirmasi pembayaran). Oversell hanya relevan pada Penjualan Bersamaan. Pada Mutasi Stok, F5 diukur lewat lost update dan saldo akhir.</a:t>
            </a:r>
          </a:p>
          <a:p>
            <a:r>
              <a:t>- F3 disuntikkan setelah efek bisnis tersimpan dan sebelum ACK. Layanan target dihentikan 10 detik (producer pada F1, consumer pada F3), sedangkan F4a menunda pengiriman event 10 detik (Tabel 3.4).</a:t>
            </a:r>
          </a:p>
          <a:p>
            <a:r>
              <a:t>- F5 pada monolith: transaksi basis data dengan InnoDB REPEATABLE READ. Pada EDA tanpa proteksi: tanpa OCC. Pada EDA dengan proteksi: OCC dengan data versioning. Hasil monolith diamati apa adanya, tidak diasumsikan aman. Yang disetarakan antararsitektur adalah tujuan dan aturan bisnis yang diuji, bukan implementasi internalnya. Ilustrasi slide 3 memakai dua transaksi untuk menjelaskan race condition secara sederhana. Pada eksperimen F5 skenarionya 20 pembaruan stok serentak.</a:t>
            </a:r>
          </a:p>
          <a:p>
            <a:r>
              <a:t>- F6 pada monolith: transaksi kompensasi pada basis data yang sama. Pada EDA dengan proteksi: Saga dan Compensation. Pada EDA tanpa proteksi: tidak ada mekanisme tersebut. Ketiganya bukan mekanisme identik. Kompensasi monolith bukan Saga.</a:t>
            </a:r>
          </a:p>
          <a:p>
            <a:r>
              <a:t>- F4b: konfirmasi yang datang setelah batas 30 detik tidak boleh menghidupkan kembali transaksi yang sudah final. Beda F4a dan F4b: F4a adalah keterlambatan delivery event pada infrastruktur atau broker. F4b adalah keterlambatan konfirmasi pada proses bisnis pembayaran, berbasis aturan timeout bisnis sehingga dapat diterapkan pada ketiga kondisi. F1 sampai F6 adalah enam fault utama. F4 dipecah dua karena sumber gangguannya berbeda.</a:t>
            </a:r>
          </a:p>
          <a:p>
            <a:r>
              <a:t>Pelaporan lintas arsitektur: </a:t>
            </a:r>
          </a:p>
          <a:p>
            <a:r>
              <a:t>1. Tiga kondisi dibandingkan pada F4b, F5, F6, dan tanpa gangguan.</a:t>
            </a:r>
          </a:p>
          <a:p>
            <a:r>
              <a:t>2. F1–F4a hanya dibandingkan pada kedua kondisi EDA.</a:t>
            </a:r>
          </a:p>
          <a:p>
            <a:r>
              <a:t>3. Hasil dilaporkan per skenario, beban, dan metrik (Bab III 3.3.3).</a:t>
            </a:r>
          </a:p>
          <a:p>
            <a:r>
              <a:t>4. Proposal membandingkan secara deskriptif per skenario dan request rate yang sama (3.3.3) dan tidak menetapkan skor gabungan.</a:t>
            </a:r>
          </a:p>
          <a:p>
            <a:r>
              <a:t>Retry dan DLQ tidak punya kode gangguan sendiri. Dinilai sebagai bagian paket (lihat catatan slide 9).</a:t>
            </a:r>
          </a:p>
          <a:p>
            <a:r>
              <a:t>Proposal menyatakan F1 sebagai producer dipaksa berhenti sebelum event sempat diterbitkan ke broker (Tabel 3.2). Penegasan titik setelah commit adalah klarifikasi lisan, bukan teks proposal. Dengan begitu F1 benar-benar menguji Outbox, bukan menghentikan proses sebelum catatan Outbox sempat tersimpan. Pada EDA tanpa Proteksi tidak ada Outbox, sehingga event yang belum terbit tidak punya jejak untuk dikirim ulang.</a:t>
            </a:r>
          </a:p>
          <a:p>
            <a:r>
              <a:t>Redaksi F2 “terkirim ganda” dipertahankan karena mengikuti Tabel 3.2: event asli dikirim satu kali lalu dibuat satu salinan duplikat, sehingga ada dua pengiriman dengan event_id yang sama (Tabel 3.3 memakai “dikirim berulang”). Yang dinilai bukan jumlah pesan, melainkan efek bisnis: event_id yang sama tidak boleh menghasilkan efek bisnis lebih dari sekali (duplicate effect, Tabel 3.6).</a:t>
            </a:r>
          </a:p>
          <a:p>
            <a:r>
              <a:t>Kondisi tanpa gangguan pada footer adalah performa dasar tanpa injeksi gangguan pada keempat skenario dan ketiga kondisi (Tabel 3.3), bukan kondisi arsitektur keempat. Arsitektur tetap tiga: Monolith, EDA tanpa Proteksi, EDA dengan Proteksi. “Dua kondisi EDA” berarti dua dari ketiga kondisi tersebut, bukan dua arsitektur utuh.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Sel perlakuan dihitung per pasangan skenario, gangguan, dan kondisi arsitektur. Lima pasangan skenario-gangguan berlaku pada ketiga kondisi, menghasilkan lima kali tiga sama dengan 15. Lima pasangan lainnya hanya berlaku pada kedua EDA, lima kali dua sama dengan 10, sehingga ada 25 sel bergangguan. Ditambah empat skenario tanpa gangguan pada ketiga kondisi, yaitu 12, totalnya 37 sel perlakuan. Dikali tiga tingkat beban kerja, yaitu 10, 50, dan 100 request per detik, lalu dikali 30 replikasi berpasangan, menjadi 3.330 run. Satu run adalah satu eksekusi satu sel perlakuan pada satu tingkat beban. Tiga arsitektur sudah masuk di dalam 37 sel, jadi tidak dikali tiga lagi. Dalam replikasi berpasangan, seed, data awal, beban, urutan request, dan fault dibuat identik, dan urutan arsitektur dirotasi. Satu run dimulai dengan reset data dan warm-up 60 detik. Setelah itu beban dijalankan selama 60 detik, dengan gangguan pada titik pemicu. Jika ada gangguan, recovery window berlangsung 60 detik. Window ini adalah batas waktu pemulihan. Bila aturan bisnis belum terpenuhi di akhir window, run dicatat tidak pulih dalam batas waktu pengujian. Setelah itu dilakukan rekonsiliasi. Beban 10, 50, dan 100 request per detik adalah tekanan simulasi. Beban kerja yang sama tidak otomatis menghasilkan jumlah transaksi sukses yang sama.</a:t>
            </a:r>
          </a:p>
          <a:p>
            <a:endParaRPr/>
          </a:p>
          <a:p>
            <a:r>
              <a:t>CATATAN PERTAHANAN</a:t>
            </a:r>
          </a:p>
          <a:p>
            <a:r>
              <a:t>- Mengikuti Bab III, 3.3.2. Beban 10, 50, dan 100 req/s adalah tingkat simulasi untuk mengamati respons pada beban meningkat, bukan representasi langsung 450 transaksi harian apotek.</a:t>
            </a:r>
          </a:p>
          <a:p>
            <a:r>
              <a:t>- Pada skenario yang diuji di lebih dari satu arsitektur, data awal, throughput, dan kondisi gangguan dibuat sama. Urutan pelaksanaan arsitektur ditukar bergantian untuk mengurangi pengaruh urutan dan cache.</a:t>
            </a:r>
          </a:p>
          <a:p>
            <a:r>
              <a:t>- Estimasi durasi minimum (hitungan dari parameter proposal): 2.250 run bergangguan × 180 detik + 1.080 run tanpa gangguan × 120 detik = 534.600 detik, sekitar 148,5 jam, belum termasuk reset data, rekonsiliasi, dan jeda antar run. Hitungan ini pendamping presentasi, tidak ada di proposal, dan mengasumsikan gangguan berlangsung di dalam 60 detik pengukuran (proposal belum menegaskan).</a:t>
            </a:r>
          </a:p>
          <a:p>
            <a:r>
              <a:t>- Bila recovery window pada akhir run belum memenuhi aturan bisnis, run dicatat tidak pulih dalam batas waktu pengujian dan tetap dilaporkan.</a:t>
            </a:r>
          </a:p>
          <a:p>
            <a:r>
              <a:t>Replikasi 30: keputusan praktis, bukan hasil perhitungan ukuran sampel, dan tidak dipakai untuk klaim signifikansi. Analisis deskriptif (median, IQR, p95, min, maks).</a:t>
            </a:r>
          </a:p>
          <a:p>
            <a:r>
              <a:t>- Angka 5 dan 5 pada hitungan 37 adalah jumlah pasangan skenario-gangguan (bukan jumlah skenario, bukan jumlah kode fault) dan dapat dihitung langsung dari strip rincian di slide ini, sesuai slide 12. Pada 3 kondisi: F4b-Pembayaran Digital, F4b-QRIS Statis, F5-Penjualan Bersamaan, F5-Mutasi Stok, F6-Pembayaran Digital (5 x 3 = 15). Pada 2 kondisi EDA: F1-Mutasi Stok, F2-Mutasi Stok, F2-Pembayaran Digital, F3-Mutasi Stok, F4a-Mutasi Stok (5 x 2 = 10). Kalau ditanya "kenapa lima, skenarionya kan empat?": skenario transaksinya memang empat; lima adalah jumlah pasangan skenario-gangguan pada tiga kondisi, dan lima lainnya khusus dua kondisi EDA. Satu kombinasi = satu pasangan skenario, gangguan, dan kondisi arsitektur. Tiap kombinasi diuji pada 3 target request rate dan diulang 30 kali.</a:t>
            </a:r>
          </a:p>
          <a:p>
            <a:r>
              <a:t>- Kalau ditanya kenapa 30: proposal menetapkan 30 replikasi tanpa uraian alasan statistik, jadi jawab sebagai keputusan praktis untuk analisis deskriptif. Jumlahnya ditetapkan sebelum eksperimen utama dan tidak disesuaikan berdasarkan hasil. Warm-up memberi waktu lingkungan mencapai kondisi operasi sebelum pengukuran, agar efek inisialisasi tidak mendominasi.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Saya tutup dengan batasan dan luaran. Pengujian memakai data sintetis dan beban simulasi pada satu host Docker Compose. Gangguan dibatasi pada F1 sampai F6. Partisi jaringan permanen dan split-brain tidak diuji. Aspek medis seperti aturan obat keras, FEFO, dan stock opname berada di luar lingkup. Luarannya adalah analisis komparatif tiga arsitektur pada apotek multicabang, temuan perbandingan konsistensi dan keandalan, serta trade-off performa dan kompleksitas operasional, serta bahan pertimbangan arsitektur bagi Apotek Bisma. Keputusan penerapan produksi berada di luar penelitian. Terima kasih. Mohon masukan dan arahan Bapak/Ibu Penguji.</a:t>
            </a:r>
          </a:p>
          <a:p>
            <a:endParaRPr/>
          </a:p>
          <a:p>
            <a:r>
              <a:t>CATATAN PERTAHANAN</a:t>
            </a:r>
          </a:p>
          <a:p>
            <a:r>
              <a:t>- Jangan menyebut data uji "representatif". Gunakan "disesuaikan semirip mungkin dengan karakteristik operasional" (Bab I, 1.3).</a:t>
            </a:r>
          </a:p>
          <a:p>
            <a:r>
              <a:t>- Jangan menyatakan penelitian membuktikan EDA terbaik, atau bahwa Apotek Bisma harus migrasi, atau bahwa durasi rekonsiliasi pasti turun. Proposal memisahkan temuan penelitian dari keputusan penerapan produksi (Bab I, 1.6.2).</a:t>
            </a:r>
          </a:p>
          <a:p>
            <a:r>
              <a:t>- Kalau ditanya generalisasi (cloud atau multi-host): tidak berlaku langsung. Hasil dibatasi pada lingkungan uji satu host Docker Compose.</a:t>
            </a:r>
          </a:p>
          <a:p>
            <a:r>
              <a:t>- Kalau ditanya kompleksitas: tidak mengklaim seluruh kompleksitas perangkat lunak. Dibatasi pada indikator operasional yang ditetapkan (komponen aktif, langkah dan waktu pemulihan manual, intervensi manual).</a:t>
            </a:r>
          </a:p>
          <a:p>
            <a:r>
              <a:t>- Partisi jaringan permanen dan split-brain sengaja tidak diuji. Tidak ditambahkan agar cakupan tidak melebar.</a:t>
            </a:r>
          </a:p>
          <a:p>
            <a:r>
              <a:t>- Validasi alur bersama staf apotek memeriksa kewajaran alur kerja. Ia bukan pengukuran usability dan bukan dasar penilaian konsistensi.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Slide cadangan untuk tanya jawab. Setiap angka punya peran sendiri dan tidak boleh dicampur. Beban 10, 50, dan 100 request per detik adalah tingkat tekanan sistem. Dua puluh pembaruan serentak adalah intensitas kompetisi pada satu stok untuk F5. Recovery window 60 detik adalah batas waktu pemulihan dalam protokol. Batas transaksi 30 detik adalah batas bisnis pembayaran sejak reservasi. Maksimal lima retry dengan backoff 1, 2, 4, 8, dan 16 detik. Setelah batas retry tercapai, pesan masuk DLQ. Dua pemroses per layanan EDA adalah jumlah consumer konkuren yang disamakan pada kedua kondisi EDA.</a:t>
            </a:r>
          </a:p>
          <a:p>
            <a:endParaRPr/>
          </a:p>
          <a:p>
            <a:r>
              <a:t>CATATAN PERTAHANAN</a:t>
            </a:r>
          </a:p>
          <a:p>
            <a:r>
              <a:t>- Semua angka dari Tabel 3.4 dan 3.3.2 proposal.</a:t>
            </a:r>
          </a:p>
          <a:p>
            <a:r>
              <a:t>- 20 pembaruan serentak (F5) berbeda dari beban sistem 10, 50, 100 req/s: F5 memusatkan konflik pada satu produk, sedangkan beban mengatur tekanan seluruh sistem.</a:t>
            </a:r>
          </a:p>
          <a:p>
            <a:r>
              <a:t>- Recovery window dan batas read-model lag sama-sama 60 detik. Keduanya batas protokol, bukan kebutuhan bisnis nyata (dasar penetapan tidak diuraikan di proposal).</a:t>
            </a:r>
          </a:p>
          <a:p>
            <a:r>
              <a:t>- Tiga nilai berbeda jangan disebut timeout: 30 detik adalah batas bisnis pembayaran. 60 detik pertama adalah warm-up sebelum pengukuran. 60 detik kedua adalah batas waktu pemulihan.</a:t>
            </a:r>
          </a:p>
          <a:p>
            <a:r>
              <a:t>- Kenapa 20: parameter intensitas konkurensi F5, bukan volume transaksi harian. Diterapkan sama pada kondisi yang dibandingkan.</a:t>
            </a:r>
          </a:p>
          <a:p>
            <a:r>
              <a:t>- Kenapa 10, 50, 100: tiga tingkat beban terkontrol untuk melihat perilaku pada intensitas berbeda, bukan konversi langsung volume harian Apotek Bisma.</a:t>
            </a:r>
          </a:p>
          <a:p>
            <a:r>
              <a:t>- Kenapa 2 consumer: konfigurasi dasar yang dikunci dan sama pada kedua kondisi EDA, agar konkurensi consumer bukan variabel pembeda, bukan hasil optimasi.</a:t>
            </a:r>
          </a:p>
          <a:p>
            <a:r>
              <a:t>- Replikasi 30 per sel per beban: 37 sel perlakuan × 3 tingkat beban × 30 replikasi = 3.330 run. Jawab: 30 replikasi adalah keputusan praktis untuk menangkap variasi antarulangan. Analisis bersifat deskriptif, bukan pengujian signifikansi. Jangan menyebut 30 cukup secara statistik.</a:t>
            </a:r>
          </a:p>
          <a:p>
            <a:r>
              <a:t>- Warm-up 60 detik bukan timeout: pemanasan sebelum pengukuran. Recovery window 60 detik bukan timeout: batas melihat pemulihan setelah gangguan dihentikan. Keduanya parameter berbeda.</a:t>
            </a:r>
          </a:p>
          <a:p>
            <a:r>
              <a:t>- 30 detik pada F4b adalah parameter skenario pengujian, bukan SLA operasional Apotek Bisma.</a:t>
            </a:r>
          </a:p>
          <a:p>
            <a:r>
              <a:t>- Retry: retry ke-1 sampai ke-5 menunggu 1, 2, 4, 8, 16 detik. Setelah retry habis, pesan masuk DLQ.</a:t>
            </a:r>
          </a:p>
          <a:p>
            <a:r>
              <a:t>- 10 detik berlaku pada fault terkait, tetapi objeknya berbeda: F4a menunda pengiriman event, F1 menghentikan producer, F3 menghentikan consumer.</a:t>
            </a:r>
          </a:p>
          <a:p>
            <a:r>
              <a:t>- Slide cadangan. Buka saat tanya jawab (ketik 15 lalu Enter pada mode presentasi).</a:t>
            </a:r>
          </a:p>
          <a:p>
            <a:r>
              <a:t>Penegasan definisi ada di slide 16.</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NASKAH LISAN</a:t>
            </a:r>
          </a:p>
          <a:p>
            <a:r>
              <a:t>Slide cadangan: penegasan definisi operasional yang bersumber dari Bab III proposal.</a:t>
            </a:r>
          </a:p>
          <a:p>
            <a:endParaRPr/>
          </a:p>
          <a:p>
            <a:r>
              <a:t>CATATAN PERTAHANAN</a:t>
            </a:r>
          </a:p>
          <a:p>
            <a:r>
              <a:t>- Mengapa Laravel vs NestJS? Fungsi bisnis disetarakan. Framework mengikuti ekosistem tiap arsitektur. Perbandingan dibaca sebagai arsitektur utuh, bukan satu variabel. Pembanding terkontrol adalah EDA tanpa Proteksi vs EDA dengan Proteksi.</a:t>
            </a:r>
          </a:p>
          <a:p>
            <a:r>
              <a:t>- Konsistensi data vs keandalan transaksi? Konsistensi data: kondisi akhir memenuhi invariant stok dan status transaksi. Keandalan: transaksi selesai sesuai aturan atau pulih ke kondisi benar.</a:t>
            </a:r>
          </a:p>
          <a:p>
            <a:r>
              <a:t>- Mengapa ACK manual dan durable pada tanpa proteksi? Itu konfigurasi dasar yang diseragamkan (penafsiran Tabel 3.4, konfirmasi ke pembimbing). Yang dihilangkan adalah lima paket mekanisme proteksi.</a:t>
            </a:r>
          </a:p>
          <a:p>
            <a:r>
              <a:t>- Adil bila F1–F4a tidak berlaku pada monolith? Perbandingan tiga kondisi hanya pada skenario yang sama. F1–F4a hanya dibandingkan antara EDA tanpa dan dengan Proteksi. Tanpa skor gabungan.</a:t>
            </a:r>
          </a:p>
          <a:p>
            <a:r>
              <a:t>- Konfirmasi bayar datang setelah final? Diklasifikasikan terlambat karena melewati 30 detik sejak reservasi. Status final tidak boleh aktif lagi. Dinilai lewat invariant 4.</a:t>
            </a:r>
          </a:p>
          <a:p>
            <a:r>
              <a:t>- Apakah 30 replikasi cukup? Keputusan praktis untuk melihat variasi antarulangan. Analisis deskriptif. Tanpa klaim signifikansi.</a:t>
            </a:r>
          </a:p>
          <a:p>
            <a:r>
              <a:t>- Kalau EDA dengan Proteksi tidak lolos kriteria? Dilaporkan apa adanya. Kontribusinya adalah temuan trade-off dan batas kemampuan paket menjaga konsistensi pada parameter uji.</a:t>
            </a:r>
          </a:p>
          <a:p>
            <a:r>
              <a:t>- Klarifikasi lisan, tidak tertulis di proposal. Definisi received_at (F4b): saat notifikasi pertama diterima sistem. Pada EDA dicatat sebelum event diteruskan ke broker. Pada Monolith dicatat saat callback atau konfirmasi diterima. Yang dinilai bukan jalur internal, melainkan aturan bahwa status final tidak boleh aktif kembali.</a:t>
            </a:r>
          </a:p>
          <a:p>
            <a:r>
              <a:t>- Request rate bukan throughput transaksi: 100 req/s tidak berarti 100 transaksi sukses per detik. Sebagian request dapat ditolak bisnis atau gagal teknis, maka jumlah request, transaksi sukses, dan penyebut dilaporkan eksplisit.</a:t>
            </a:r>
          </a:p>
          <a:p>
            <a:r>
              <a:t>- Pilot memeriksa kesiapan alat uji (generator, fault injector, skrip rekonsiliasi, log). Hasilnya bukan data utama penelitian.</a:t>
            </a:r>
          </a:p>
          <a:p>
            <a:r>
              <a:t>- Run pilot tidak masuk 3.330 dan bukan hasil penelitian utama. Pilot hanya memastikan alat dan prosedur pengujian siap.</a:t>
            </a:r>
          </a:p>
          <a:p>
            <a:r>
              <a:t>- Tanpa Proteksi berarti tanpa lima paket mekanisme proteksi yang menjadi pembeda eksperimen, bukan berarti broker tidak memiliki konfigurasi dasar.</a:t>
            </a:r>
          </a:p>
          <a:p>
            <a:r>
              <a:t>- Recovery window: bila aturan belum terpenuhi di akhir 60 detik, katakan tidak pulih dalam batas waktu pengujian, bukan sistem gagal.</a:t>
            </a:r>
          </a:p>
          <a:p>
            <a:r>
              <a:t>- 30 detik pada F4b adalah batas dalam parameter eksperimen untuk mendefinisikan keterlambatan pembayaran, bukan SLA operasional Apotek Bisma.</a:t>
            </a:r>
          </a:p>
          <a:p>
            <a:r>
              <a:t>- Request rate adalah laju permintaan dari load generator. Sebagian request dapat ditolak bisnis atau gagal teknis, sehingga tidak sama dengan jumlah transaksi sukses.</a:t>
            </a:r>
          </a:p>
          <a:p>
            <a:r>
              <a:t>Proposal menyatakan F1 sebagai producer dipaksa berhenti sebelum event sempat diterbitkan ke broker (Tabel 3.2). Penegasan titik setelah commit adalah klarifikasi lisan, bukan teks proposal. Dengan begitu F1 benar-benar menguji Outbox, bukan menghentikan proses sebelum catatan Outbox sempat tersimpan. Pada EDA tanpa Proteksi tidak ada Outbox, sehingga event yang belum terbit tidak punya jejak untuk dikirim ulang.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rtlCol="0"/>
          <a:lstStyle>
            <a:lvl1pPr marL="0" indent="0" algn="l">
              <a:buNone/>
              <a:defRPr lang="en-US" sz="2800" b="1" dirty="0">
                <a:solidFill>
                  <a:srgbClr val="12284C"/>
                </a:solidFill>
                <a:latin typeface="Calibri" pitchFamily="34" charset="0"/>
                <a:ea typeface="Calibri" pitchFamily="34" charset="-122"/>
                <a:cs typeface="Calibri" pitchFamily="34" charset="-120"/>
              </a:defRPr>
            </a:lvl1pPr>
          </a:lstStyle>
          <a:p>
            <a:pPr marL="0" indent="0" algn="l">
              <a:buNone/>
            </a:pPr>
            <a:endParaRPr lang="en-US" sz="2800" dirty="0"/>
          </a:p>
        </p:txBody>
      </p:sp>
      <p:pic>
        <p:nvPicPr>
          <p:cNvPr id="3" name="Image 0" descr="/home/claude/logo_t.png"/>
          <p:cNvPicPr>
            <a:picLocks noChangeAspect="1"/>
          </p:cNvPicPr>
          <p:nvPr/>
        </p:nvPicPr>
        <p:blipFill>
          <a:blip r:embed="rId2"/>
          <a:stretch>
            <a:fillRect/>
          </a:stretch>
        </p:blipFill>
        <p:spPr>
          <a:xfrm>
            <a:off x="548640" y="6492240"/>
            <a:ext cx="274320" cy="274320"/>
          </a:xfrm>
          <a:prstGeom prst="rect">
            <a:avLst/>
          </a:prstGeom>
        </p:spPr>
      </p:pic>
      <p:sp>
        <p:nvSpPr>
          <p:cNvPr id="4" name="Text 0"/>
          <p:cNvSpPr/>
          <p:nvPr/>
        </p:nvSpPr>
        <p:spPr>
          <a:xfrm>
            <a:off x="914400" y="6492240"/>
            <a:ext cx="5486400" cy="274320"/>
          </a:xfrm>
          <a:prstGeom prst="rect">
            <a:avLst/>
          </a:prstGeom>
          <a:noFill/>
          <a:ln/>
        </p:spPr>
        <p:txBody>
          <a:bodyPr wrap="square" lIns="0" tIns="0" rIns="0" bIns="0" rtlCol="0" anchor="ctr"/>
          <a:lstStyle/>
          <a:p>
            <a:pPr marL="0" indent="0">
              <a:buNone/>
            </a:pPr>
            <a:r>
              <a:rPr lang="en-US" sz="1000" dirty="0">
                <a:solidFill>
                  <a:srgbClr val="5B6B8A"/>
                </a:solidFill>
                <a:latin typeface="Calibri" pitchFamily="34" charset="0"/>
                <a:ea typeface="Calibri" pitchFamily="34" charset="-122"/>
                <a:cs typeface="Calibri" pitchFamily="34" charset="-120"/>
              </a:rPr>
              <a:t>S1 Teknik Informatika  |  Universitas Negeri Surabaya</a:t>
            </a:r>
            <a:endParaRPr lang="en-US" sz="1000" dirty="0"/>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A"/>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A"/>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2284C"/>
          </a:solidFill>
          <a:ln w="12700">
            <a:solidFill>
              <a:srgbClr val="12284C"/>
            </a:solidFill>
            <a:prstDash val="solid"/>
          </a:ln>
        </p:spPr>
        <p:txBody>
          <a:bodyPr/>
          <a:lstStyle/>
          <a:p>
            <a:endParaRPr/>
          </a:p>
        </p:txBody>
      </p:sp>
      <p:pic>
        <p:nvPicPr>
          <p:cNvPr id="3" name="Image 0" descr="/home/claude/logo_t.png"/>
          <p:cNvPicPr>
            <a:picLocks noChangeAspect="1"/>
          </p:cNvPicPr>
          <p:nvPr/>
        </p:nvPicPr>
        <p:blipFill>
          <a:blip r:embed="rId3"/>
          <a:stretch>
            <a:fillRect/>
          </a:stretch>
        </p:blipFill>
        <p:spPr>
          <a:xfrm>
            <a:off x="9235440" y="1554480"/>
            <a:ext cx="2286000" cy="2304288"/>
          </a:xfrm>
          <a:prstGeom prst="rect">
            <a:avLst/>
          </a:prstGeom>
        </p:spPr>
      </p:pic>
      <p:sp>
        <p:nvSpPr>
          <p:cNvPr id="4" name="Text 1"/>
          <p:cNvSpPr txBox="1"/>
          <p:nvPr/>
        </p:nvSpPr>
        <p:spPr>
          <a:xfrm>
            <a:off x="822960" y="822960"/>
            <a:ext cx="7772400" cy="365760"/>
          </a:xfrm>
          <a:prstGeom prst="rect">
            <a:avLst/>
          </a:prstGeom>
          <a:noFill/>
          <a:ln/>
        </p:spPr>
        <p:txBody>
          <a:bodyPr wrap="square" lIns="0" tIns="0" rIns="0" bIns="0" rtlCol="0" anchor="t"/>
          <a:lstStyle/>
          <a:p>
            <a:pPr marL="0" indent="0">
              <a:buNone/>
            </a:pPr>
            <a:r>
              <a:rPr lang="en-US" sz="1700" b="1" kern="0" spc="400" dirty="0">
                <a:solidFill>
                  <a:srgbClr val="E9BC3A"/>
                </a:solidFill>
                <a:latin typeface="Calibri" pitchFamily="34" charset="0"/>
                <a:ea typeface="Calibri" pitchFamily="34" charset="-122"/>
                <a:cs typeface="Calibri" pitchFamily="34" charset="-120"/>
              </a:rPr>
              <a:t>SEMINAR PROPOSAL TUGAS AKHIR</a:t>
            </a:r>
            <a:endParaRPr lang="en-US" sz="1600" dirty="0"/>
          </a:p>
        </p:txBody>
      </p:sp>
      <p:sp>
        <p:nvSpPr>
          <p:cNvPr id="5" name="Text 2"/>
          <p:cNvSpPr txBox="1"/>
          <p:nvPr/>
        </p:nvSpPr>
        <p:spPr>
          <a:xfrm>
            <a:off x="822960" y="1417320"/>
            <a:ext cx="7498080" cy="237744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libri" pitchFamily="34" charset="-122"/>
                <a:cs typeface="Calibri" pitchFamily="34" charset="-120"/>
              </a:rPr>
              <a:t>Implementasi dan Evaluasi Arsitektur Event-Driven Microservices untuk Menjaga Konsistensi Transaksi pada Apotek Multicabang</a:t>
            </a:r>
            <a:endParaRPr lang="en-US" sz="3400" dirty="0"/>
          </a:p>
        </p:txBody>
      </p:sp>
      <p:sp>
        <p:nvSpPr>
          <p:cNvPr id="6" name="Text 3"/>
          <p:cNvSpPr txBox="1"/>
          <p:nvPr/>
        </p:nvSpPr>
        <p:spPr>
          <a:xfrm>
            <a:off x="822960" y="4480560"/>
            <a:ext cx="7315200" cy="457200"/>
          </a:xfrm>
          <a:prstGeom prst="rect">
            <a:avLst/>
          </a:prstGeom>
          <a:noFill/>
          <a:ln/>
        </p:spPr>
        <p:txBody>
          <a:bodyPr wrap="square" lIns="0" tIns="0" rIns="0" bIns="0" rtlCol="0" anchor="t"/>
          <a:lstStyle/>
          <a:p>
            <a:pPr marL="0" indent="0">
              <a:buNone/>
            </a:pPr>
            <a:r>
              <a:rPr lang="en-US" sz="2400" b="1" dirty="0">
                <a:solidFill>
                  <a:srgbClr val="FFFFFF"/>
                </a:solidFill>
                <a:latin typeface="Cambria" pitchFamily="34" charset="0"/>
                <a:ea typeface="Calibri" pitchFamily="34" charset="-122"/>
                <a:cs typeface="Calibri" pitchFamily="34" charset="-120"/>
              </a:rPr>
              <a:t>Raihan Rizki Alfareza</a:t>
            </a:r>
            <a:endParaRPr lang="en-US" sz="2400" dirty="0"/>
          </a:p>
        </p:txBody>
      </p:sp>
      <p:sp>
        <p:nvSpPr>
          <p:cNvPr id="7" name="Text 4"/>
          <p:cNvSpPr txBox="1"/>
          <p:nvPr/>
        </p:nvSpPr>
        <p:spPr>
          <a:xfrm>
            <a:off x="822960" y="5029200"/>
            <a:ext cx="8229600" cy="365760"/>
          </a:xfrm>
          <a:prstGeom prst="rect">
            <a:avLst/>
          </a:prstGeom>
          <a:noFill/>
          <a:ln/>
        </p:spPr>
        <p:txBody>
          <a:bodyPr wrap="square" lIns="0" tIns="0" rIns="0" bIns="0" rtlCol="0" anchor="t"/>
          <a:lstStyle/>
          <a:p>
            <a:pPr marL="0" indent="0">
              <a:buNone/>
            </a:pPr>
            <a:r>
              <a:rPr lang="en-US" sz="1700" dirty="0">
                <a:solidFill>
                  <a:srgbClr val="CADCFC"/>
                </a:solidFill>
                <a:latin typeface="Calibri" pitchFamily="34" charset="0"/>
                <a:ea typeface="Calibri" pitchFamily="34" charset="-122"/>
                <a:cs typeface="Calibri" pitchFamily="34" charset="-120"/>
              </a:rPr>
              <a:t>NIM 23051204067  |  S1 Teknik Informatika, Fakultas Teknik</a:t>
            </a:r>
            <a:endParaRPr lang="en-US" sz="1600" dirty="0"/>
          </a:p>
        </p:txBody>
      </p:sp>
      <p:sp>
        <p:nvSpPr>
          <p:cNvPr id="8" name="Text 5"/>
          <p:cNvSpPr txBox="1"/>
          <p:nvPr/>
        </p:nvSpPr>
        <p:spPr>
          <a:xfrm>
            <a:off x="822960" y="5440680"/>
            <a:ext cx="8229600" cy="365760"/>
          </a:xfrm>
          <a:prstGeom prst="rect">
            <a:avLst/>
          </a:prstGeom>
          <a:noFill/>
          <a:ln/>
        </p:spPr>
        <p:txBody>
          <a:bodyPr wrap="square" lIns="0" tIns="0" rIns="0" bIns="0" rtlCol="0" anchor="t"/>
          <a:lstStyle/>
          <a:p>
            <a:pPr marL="0" indent="0">
              <a:buNone/>
            </a:pPr>
            <a:r>
              <a:rPr lang="en-US" sz="1700" dirty="0">
                <a:solidFill>
                  <a:srgbClr val="CADCFC"/>
                </a:solidFill>
                <a:latin typeface="Calibri" pitchFamily="34" charset="0"/>
                <a:ea typeface="Calibri" pitchFamily="34" charset="-122"/>
                <a:cs typeface="Calibri" pitchFamily="34" charset="-120"/>
              </a:rPr>
              <a:t>Pembimbing: I Made Suartana, S.Kom., M.Kom.</a:t>
            </a:r>
            <a:endParaRPr lang="en-US" sz="1600" dirty="0"/>
          </a:p>
        </p:txBody>
      </p:sp>
      <p:sp>
        <p:nvSpPr>
          <p:cNvPr id="9" name="Text 6"/>
          <p:cNvSpPr txBox="1"/>
          <p:nvPr/>
        </p:nvSpPr>
        <p:spPr>
          <a:xfrm>
            <a:off x="8595360" y="4069080"/>
            <a:ext cx="3566160" cy="365760"/>
          </a:xfrm>
          <a:prstGeom prst="rect">
            <a:avLst/>
          </a:prstGeom>
          <a:noFill/>
          <a:ln/>
        </p:spPr>
        <p:txBody>
          <a:bodyPr wrap="square" lIns="0" tIns="0" rIns="0" bIns="0" rtlCol="0" anchor="t"/>
          <a:lstStyle/>
          <a:p>
            <a:pPr marL="0" indent="0" algn="ctr">
              <a:buNone/>
            </a:pPr>
            <a:r>
              <a:rPr lang="en-US" sz="1700" dirty="0">
                <a:solidFill>
                  <a:srgbClr val="CADCFC"/>
                </a:solidFill>
                <a:latin typeface="Calibri" pitchFamily="34" charset="0"/>
                <a:ea typeface="Calibri" pitchFamily="34" charset="-122"/>
                <a:cs typeface="Calibri" pitchFamily="34" charset="-120"/>
              </a:rPr>
              <a:t>Universitas Negeri Surabaya  |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165"/>
            <a:ext cx="11064240" cy="914400"/>
          </a:xfrm>
          <a:prstGeom prst="rect">
            <a:avLst/>
          </a:prstGeom>
          <a:noFill/>
          <a:ln/>
        </p:spPr>
        <p:txBody>
          <a:bodyPr wrap="square" lIns="0" tIns="0" rIns="0" bIns="0" rtlCol="0" anchor="ctr"/>
          <a:lstStyle/>
          <a:p>
            <a:r>
              <a:rPr lang="en-ID" sz="2700" dirty="0" err="1">
                <a:latin typeface="Cambria" panose="02040503050406030204" pitchFamily="18" charset="0"/>
                <a:ea typeface="Cambria" panose="02040503050406030204" pitchFamily="18" charset="0"/>
              </a:rPr>
              <a:t>Pencatatan</a:t>
            </a:r>
            <a:r>
              <a:rPr lang="en-ID" sz="2700" dirty="0">
                <a:latin typeface="Cambria" panose="02040503050406030204" pitchFamily="18" charset="0"/>
                <a:ea typeface="Cambria" panose="02040503050406030204" pitchFamily="18" charset="0"/>
              </a:rPr>
              <a:t> </a:t>
            </a:r>
            <a:r>
              <a:rPr lang="en-ID" sz="2700" dirty="0" err="1">
                <a:latin typeface="Cambria" panose="02040503050406030204" pitchFamily="18" charset="0"/>
                <a:ea typeface="Cambria" panose="02040503050406030204" pitchFamily="18" charset="0"/>
              </a:rPr>
              <a:t>Terpisah</a:t>
            </a:r>
            <a:r>
              <a:rPr lang="en-ID" sz="2700" dirty="0">
                <a:latin typeface="Cambria" panose="02040503050406030204" pitchFamily="18" charset="0"/>
                <a:ea typeface="Cambria" panose="02040503050406030204" pitchFamily="18" charset="0"/>
              </a:rPr>
              <a:t>: </a:t>
            </a:r>
            <a:r>
              <a:rPr lang="en-ID" sz="2700" dirty="0" err="1">
                <a:latin typeface="Cambria" panose="02040503050406030204" pitchFamily="18" charset="0"/>
                <a:ea typeface="Cambria" panose="02040503050406030204" pitchFamily="18" charset="0"/>
              </a:rPr>
              <a:t>Rekonsiliasi</a:t>
            </a:r>
            <a:r>
              <a:rPr lang="en-ID" sz="2700" dirty="0">
                <a:latin typeface="Cambria" panose="02040503050406030204" pitchFamily="18" charset="0"/>
                <a:ea typeface="Cambria" panose="02040503050406030204" pitchFamily="18" charset="0"/>
              </a:rPr>
              <a:t> </a:t>
            </a:r>
            <a:r>
              <a:rPr lang="en-ID" sz="2700" dirty="0" err="1">
                <a:latin typeface="Cambria" panose="02040503050406030204" pitchFamily="18" charset="0"/>
                <a:ea typeface="Cambria" panose="02040503050406030204" pitchFamily="18" charset="0"/>
              </a:rPr>
              <a:t>Berhari-hari</a:t>
            </a:r>
            <a:r>
              <a:rPr lang="en-ID" sz="2700" dirty="0">
                <a:latin typeface="Cambria" panose="02040503050406030204" pitchFamily="18" charset="0"/>
                <a:ea typeface="Cambria" panose="02040503050406030204" pitchFamily="18" charset="0"/>
              </a:rPr>
              <a:t>, </a:t>
            </a:r>
            <a:r>
              <a:rPr lang="en-ID" sz="2700" dirty="0" err="1">
                <a:latin typeface="Cambria" panose="02040503050406030204" pitchFamily="18" charset="0"/>
                <a:ea typeface="Cambria" panose="02040503050406030204" pitchFamily="18" charset="0"/>
              </a:rPr>
              <a:t>Selisih</a:t>
            </a:r>
            <a:r>
              <a:rPr lang="en-ID" sz="2700" dirty="0">
                <a:latin typeface="Cambria" panose="02040503050406030204" pitchFamily="18" charset="0"/>
                <a:ea typeface="Cambria" panose="02040503050406030204" pitchFamily="18" charset="0"/>
              </a:rPr>
              <a:t> Stok </a:t>
            </a:r>
            <a:r>
              <a:rPr lang="en-ID" sz="2700" dirty="0" err="1">
                <a:latin typeface="Cambria" panose="02040503050406030204" pitchFamily="18" charset="0"/>
                <a:ea typeface="Cambria" panose="02040503050406030204" pitchFamily="18" charset="0"/>
              </a:rPr>
              <a:t>Berulang</a:t>
            </a:r>
            <a:endParaRPr lang="en-US" sz="2700" dirty="0">
              <a:latin typeface="Cambria" panose="02040503050406030204" pitchFamily="18" charset="0"/>
              <a:ea typeface="Cambria" panose="02040503050406030204" pitchFamily="18" charset="0"/>
            </a:endParaRPr>
          </a:p>
        </p:txBody>
      </p:sp>
      <p:sp>
        <p:nvSpPr>
          <p:cNvPr id="4" name="stat0"/>
          <p:cNvSpPr/>
          <p:nvPr/>
        </p:nvSpPr>
        <p:spPr>
          <a:xfrm>
            <a:off x="548640" y="1220444"/>
            <a:ext cx="2606040" cy="173736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5" name="Text 2"/>
          <p:cNvSpPr txBox="1"/>
          <p:nvPr/>
        </p:nvSpPr>
        <p:spPr>
          <a:xfrm>
            <a:off x="777240" y="1403324"/>
            <a:ext cx="2194560" cy="640080"/>
          </a:xfrm>
          <a:prstGeom prst="rect">
            <a:avLst/>
          </a:prstGeom>
          <a:noFill/>
          <a:ln/>
        </p:spPr>
        <p:txBody>
          <a:bodyPr wrap="square" lIns="0" tIns="0" rIns="0" bIns="0" rtlCol="0" anchor="ctr"/>
          <a:lstStyle/>
          <a:p>
            <a:pPr marL="0" indent="0">
              <a:buNone/>
            </a:pPr>
            <a:r>
              <a:rPr lang="en-US" sz="3600" b="1" dirty="0">
                <a:solidFill>
                  <a:srgbClr val="12284C"/>
                </a:solidFill>
                <a:latin typeface="Cambria" pitchFamily="34" charset="0"/>
                <a:ea typeface="Calibri" pitchFamily="34" charset="-122"/>
                <a:cs typeface="Calibri" pitchFamily="34" charset="-120"/>
              </a:rPr>
              <a:t>±450</a:t>
            </a:r>
            <a:endParaRPr lang="en-US" sz="3600" dirty="0"/>
          </a:p>
        </p:txBody>
      </p:sp>
      <p:sp>
        <p:nvSpPr>
          <p:cNvPr id="6" name="Text 3"/>
          <p:cNvSpPr txBox="1"/>
          <p:nvPr/>
        </p:nvSpPr>
        <p:spPr>
          <a:xfrm>
            <a:off x="777240" y="2134844"/>
            <a:ext cx="2331720" cy="640080"/>
          </a:xfrm>
          <a:prstGeom prst="rect">
            <a:avLst/>
          </a:prstGeom>
          <a:noFill/>
          <a:ln/>
        </p:spPr>
        <p:txBody>
          <a:bodyPr wrap="square" lIns="0" tIns="0" rIns="0" bIns="0" rtlCol="0" anchor="t"/>
          <a:lstStyle/>
          <a:p>
            <a:pPr marL="0" indent="0">
              <a:buNone/>
            </a:pPr>
            <a:r>
              <a:rPr lang="en-US" sz="1700" dirty="0" err="1">
                <a:solidFill>
                  <a:srgbClr val="4D5D78"/>
                </a:solidFill>
                <a:latin typeface="Calibri" pitchFamily="34" charset="0"/>
                <a:ea typeface="Calibri" pitchFamily="34" charset="-122"/>
                <a:cs typeface="Calibri" pitchFamily="34" charset="-120"/>
              </a:rPr>
              <a:t>Transaksi</a:t>
            </a:r>
            <a:r>
              <a:rPr lang="en-US" sz="1700" dirty="0">
                <a:solidFill>
                  <a:srgbClr val="4D5D78"/>
                </a:solidFill>
                <a:latin typeface="Calibri" pitchFamily="34" charset="0"/>
                <a:ea typeface="Calibri" pitchFamily="34" charset="-122"/>
                <a:cs typeface="Calibri" pitchFamily="34" charset="-120"/>
              </a:rPr>
              <a:t> penjualan</a:t>
            </a:r>
            <a:endParaRPr lang="en-US" sz="1700" dirty="0"/>
          </a:p>
          <a:p>
            <a:pPr marL="0" indent="0">
              <a:buNone/>
            </a:pPr>
            <a:r>
              <a:rPr lang="en-US" sz="1700" dirty="0">
                <a:solidFill>
                  <a:srgbClr val="4D5D78"/>
                </a:solidFill>
                <a:latin typeface="Calibri" pitchFamily="34" charset="0"/>
                <a:ea typeface="Calibri" pitchFamily="34" charset="-122"/>
                <a:cs typeface="Calibri" pitchFamily="34" charset="-120"/>
              </a:rPr>
              <a:t>per </a:t>
            </a:r>
            <a:r>
              <a:rPr lang="en-US" sz="1700" dirty="0" err="1">
                <a:solidFill>
                  <a:srgbClr val="4D5D78"/>
                </a:solidFill>
                <a:latin typeface="Calibri" pitchFamily="34" charset="0"/>
                <a:ea typeface="Calibri" pitchFamily="34" charset="-122"/>
                <a:cs typeface="Calibri" pitchFamily="34" charset="-120"/>
              </a:rPr>
              <a:t>hari</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dari</a:t>
            </a:r>
            <a:r>
              <a:rPr lang="en-US" sz="1700" dirty="0">
                <a:solidFill>
                  <a:srgbClr val="4D5D78"/>
                </a:solidFill>
                <a:latin typeface="Calibri" pitchFamily="34" charset="0"/>
                <a:ea typeface="Calibri" pitchFamily="34" charset="-122"/>
                <a:cs typeface="Calibri" pitchFamily="34" charset="-120"/>
              </a:rPr>
              <a:t> 3 cabang</a:t>
            </a:r>
            <a:endParaRPr lang="en-US" sz="1700" dirty="0"/>
          </a:p>
        </p:txBody>
      </p:sp>
      <p:sp>
        <p:nvSpPr>
          <p:cNvPr id="7" name="stat1"/>
          <p:cNvSpPr/>
          <p:nvPr/>
        </p:nvSpPr>
        <p:spPr>
          <a:xfrm>
            <a:off x="3337560" y="1220444"/>
            <a:ext cx="2606040" cy="173736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8" name="Text 5"/>
          <p:cNvSpPr txBox="1"/>
          <p:nvPr/>
        </p:nvSpPr>
        <p:spPr>
          <a:xfrm>
            <a:off x="3566160" y="1403324"/>
            <a:ext cx="2194560" cy="640080"/>
          </a:xfrm>
          <a:prstGeom prst="rect">
            <a:avLst/>
          </a:prstGeom>
          <a:noFill/>
          <a:ln/>
        </p:spPr>
        <p:txBody>
          <a:bodyPr wrap="square" lIns="0" tIns="0" rIns="0" bIns="0" rtlCol="0" anchor="ctr"/>
          <a:lstStyle/>
          <a:p>
            <a:pPr marL="0" indent="0">
              <a:buNone/>
            </a:pPr>
            <a:r>
              <a:rPr lang="en-US" sz="3600" b="1" dirty="0">
                <a:solidFill>
                  <a:srgbClr val="12284C"/>
                </a:solidFill>
                <a:latin typeface="Cambria" pitchFamily="34" charset="0"/>
                <a:ea typeface="Calibri" pitchFamily="34" charset="-122"/>
                <a:cs typeface="Calibri" pitchFamily="34" charset="-120"/>
              </a:rPr>
              <a:t>1–2 hari</a:t>
            </a:r>
            <a:endParaRPr lang="en-US" sz="3600" dirty="0"/>
          </a:p>
        </p:txBody>
      </p:sp>
      <p:sp>
        <p:nvSpPr>
          <p:cNvPr id="9" name="Text 6"/>
          <p:cNvSpPr txBox="1"/>
          <p:nvPr/>
        </p:nvSpPr>
        <p:spPr>
          <a:xfrm>
            <a:off x="3566160" y="2134844"/>
            <a:ext cx="2331720" cy="640080"/>
          </a:xfrm>
          <a:prstGeom prst="rect">
            <a:avLst/>
          </a:prstGeom>
          <a:noFill/>
          <a:ln/>
        </p:spPr>
        <p:txBody>
          <a:bodyPr wrap="square" lIns="0" tIns="0" rIns="0" bIns="0" rtlCol="0" anchor="t"/>
          <a:lstStyle/>
          <a:p>
            <a:pPr marL="0" indent="0">
              <a:buNone/>
            </a:pPr>
            <a:r>
              <a:rPr lang="en-US" sz="1700" dirty="0" err="1">
                <a:solidFill>
                  <a:srgbClr val="4D5D78"/>
                </a:solidFill>
                <a:latin typeface="Calibri" pitchFamily="34" charset="0"/>
                <a:ea typeface="Calibri" pitchFamily="34" charset="-122"/>
                <a:cs typeface="Calibri" pitchFamily="34" charset="-120"/>
              </a:rPr>
              <a:t>Rekonsiliasi</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stok</a:t>
            </a:r>
            <a:endParaRPr lang="en-US" sz="1700" dirty="0"/>
          </a:p>
          <a:p>
            <a:pPr marL="0" indent="0">
              <a:buNone/>
            </a:pPr>
            <a:r>
              <a:rPr lang="en-US" sz="1700" dirty="0">
                <a:solidFill>
                  <a:srgbClr val="4D5D78"/>
                </a:solidFill>
                <a:latin typeface="Calibri" pitchFamily="34" charset="0"/>
                <a:ea typeface="Calibri" pitchFamily="34" charset="-122"/>
                <a:cs typeface="Calibri" pitchFamily="34" charset="-120"/>
              </a:rPr>
              <a:t>di cabang</a:t>
            </a:r>
            <a:endParaRPr lang="en-US" sz="1700" dirty="0"/>
          </a:p>
        </p:txBody>
      </p:sp>
      <p:sp>
        <p:nvSpPr>
          <p:cNvPr id="10" name="stat2"/>
          <p:cNvSpPr/>
          <p:nvPr/>
        </p:nvSpPr>
        <p:spPr>
          <a:xfrm>
            <a:off x="6126480" y="1220444"/>
            <a:ext cx="2606040" cy="173736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1" name="Text 8"/>
          <p:cNvSpPr txBox="1"/>
          <p:nvPr/>
        </p:nvSpPr>
        <p:spPr>
          <a:xfrm>
            <a:off x="6355080" y="1403324"/>
            <a:ext cx="2194560" cy="640080"/>
          </a:xfrm>
          <a:prstGeom prst="rect">
            <a:avLst/>
          </a:prstGeom>
          <a:noFill/>
          <a:ln/>
        </p:spPr>
        <p:txBody>
          <a:bodyPr wrap="square" lIns="0" tIns="0" rIns="0" bIns="0" rtlCol="0" anchor="ctr"/>
          <a:lstStyle/>
          <a:p>
            <a:pPr marL="0" indent="0">
              <a:buNone/>
            </a:pPr>
            <a:r>
              <a:rPr lang="en-US" sz="3600" b="1" dirty="0">
                <a:solidFill>
                  <a:srgbClr val="12284C"/>
                </a:solidFill>
                <a:latin typeface="Cambria" pitchFamily="34" charset="0"/>
                <a:ea typeface="Calibri" pitchFamily="34" charset="-122"/>
                <a:cs typeface="Calibri" pitchFamily="34" charset="-120"/>
              </a:rPr>
              <a:t>4–5 hari</a:t>
            </a:r>
            <a:endParaRPr lang="en-US" sz="3600" dirty="0"/>
          </a:p>
        </p:txBody>
      </p:sp>
      <p:sp>
        <p:nvSpPr>
          <p:cNvPr id="12" name="Text 9"/>
          <p:cNvSpPr txBox="1"/>
          <p:nvPr/>
        </p:nvSpPr>
        <p:spPr>
          <a:xfrm>
            <a:off x="6355080" y="2134844"/>
            <a:ext cx="2331720" cy="640080"/>
          </a:xfrm>
          <a:prstGeom prst="rect">
            <a:avLst/>
          </a:prstGeom>
          <a:noFill/>
          <a:ln/>
        </p:spPr>
        <p:txBody>
          <a:bodyPr wrap="square" lIns="0" tIns="0" rIns="0" bIns="0" rtlCol="0" anchor="t"/>
          <a:lstStyle/>
          <a:p>
            <a:pPr marL="0" indent="0">
              <a:buNone/>
            </a:pPr>
            <a:r>
              <a:rPr lang="en-US" sz="1700" dirty="0" err="1">
                <a:solidFill>
                  <a:srgbClr val="4D5D78"/>
                </a:solidFill>
                <a:latin typeface="Calibri" pitchFamily="34" charset="0"/>
                <a:ea typeface="Calibri" pitchFamily="34" charset="-122"/>
                <a:cs typeface="Calibri" pitchFamily="34" charset="-120"/>
              </a:rPr>
              <a:t>Rekonsiliasi</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stok</a:t>
            </a:r>
            <a:endParaRPr lang="en-US" sz="1700" dirty="0"/>
          </a:p>
          <a:p>
            <a:pPr marL="0" indent="0">
              <a:buNone/>
            </a:pPr>
            <a:r>
              <a:rPr lang="en-US" sz="1700" dirty="0">
                <a:solidFill>
                  <a:srgbClr val="4D5D78"/>
                </a:solidFill>
                <a:latin typeface="Calibri" pitchFamily="34" charset="0"/>
                <a:ea typeface="Calibri" pitchFamily="34" charset="-122"/>
                <a:cs typeface="Calibri" pitchFamily="34" charset="-120"/>
              </a:rPr>
              <a:t>di gudang</a:t>
            </a:r>
            <a:endParaRPr lang="en-US" sz="1700" dirty="0"/>
          </a:p>
        </p:txBody>
      </p:sp>
      <p:sp>
        <p:nvSpPr>
          <p:cNvPr id="13" name="stat3"/>
          <p:cNvSpPr/>
          <p:nvPr/>
        </p:nvSpPr>
        <p:spPr>
          <a:xfrm>
            <a:off x="8915400" y="1220444"/>
            <a:ext cx="2606040" cy="173736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4" name="Text 11"/>
          <p:cNvSpPr txBox="1"/>
          <p:nvPr/>
        </p:nvSpPr>
        <p:spPr>
          <a:xfrm>
            <a:off x="9144000" y="1403324"/>
            <a:ext cx="2331720" cy="640080"/>
          </a:xfrm>
          <a:prstGeom prst="rect">
            <a:avLst/>
          </a:prstGeom>
          <a:noFill/>
          <a:ln/>
        </p:spPr>
        <p:txBody>
          <a:bodyPr wrap="square" lIns="0" tIns="0" rIns="0" bIns="0" rtlCol="0" anchor="ctr"/>
          <a:lstStyle/>
          <a:p>
            <a:pPr marL="0" indent="0">
              <a:buNone/>
            </a:pPr>
            <a:r>
              <a:rPr lang="en-US" sz="2600" b="1" dirty="0">
                <a:solidFill>
                  <a:srgbClr val="12284C"/>
                </a:solidFill>
                <a:latin typeface="Cambria" pitchFamily="34" charset="0"/>
                <a:ea typeface="Calibri" pitchFamily="34" charset="-122"/>
                <a:cs typeface="Calibri" pitchFamily="34" charset="-120"/>
              </a:rPr>
              <a:t>Hampir selalu</a:t>
            </a:r>
            <a:endParaRPr lang="en-US" sz="2600" dirty="0"/>
          </a:p>
        </p:txBody>
      </p:sp>
      <p:sp>
        <p:nvSpPr>
          <p:cNvPr id="15" name="Text 12"/>
          <p:cNvSpPr txBox="1"/>
          <p:nvPr/>
        </p:nvSpPr>
        <p:spPr>
          <a:xfrm>
            <a:off x="9144000" y="2024835"/>
            <a:ext cx="2331720" cy="640080"/>
          </a:xfrm>
          <a:prstGeom prst="rect">
            <a:avLst/>
          </a:prstGeom>
          <a:noFill/>
          <a:ln/>
        </p:spPr>
        <p:txBody>
          <a:bodyPr wrap="square" lIns="0" tIns="0" rIns="0" bIns="0" rtlCol="0" anchor="t"/>
          <a:lstStyle/>
          <a:p>
            <a:pPr marL="0" indent="0">
              <a:buNone/>
            </a:pPr>
            <a:r>
              <a:rPr lang="en-US" sz="1700" dirty="0" err="1">
                <a:solidFill>
                  <a:srgbClr val="4D5D78"/>
                </a:solidFill>
                <a:latin typeface="Calibri" pitchFamily="34" charset="0"/>
                <a:ea typeface="Calibri" pitchFamily="34" charset="-122"/>
                <a:cs typeface="Calibri" pitchFamily="34" charset="-120"/>
              </a:rPr>
              <a:t>Terdapat</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selisih</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antara</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stok</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fisik</a:t>
            </a:r>
            <a:r>
              <a:rPr lang="en-US" sz="1700" dirty="0"/>
              <a:t> </a:t>
            </a:r>
            <a:r>
              <a:rPr lang="en-US" sz="1700" dirty="0" err="1">
                <a:solidFill>
                  <a:srgbClr val="4D5D78"/>
                </a:solidFill>
                <a:latin typeface="Calibri" pitchFamily="34" charset="0"/>
                <a:ea typeface="Calibri" pitchFamily="34" charset="-122"/>
                <a:cs typeface="Calibri" pitchFamily="34" charset="-120"/>
              </a:rPr>
              <a:t>dengan</a:t>
            </a:r>
            <a:r>
              <a:rPr lang="en-US" sz="1700" dirty="0">
                <a:solidFill>
                  <a:srgbClr val="4D5D78"/>
                </a:solidFill>
                <a:latin typeface="Calibri" pitchFamily="34" charset="0"/>
                <a:ea typeface="Calibri" pitchFamily="34" charset="-122"/>
                <a:cs typeface="Calibri" pitchFamily="34" charset="-120"/>
              </a:rPr>
              <a:t> sistem tiap bulan</a:t>
            </a:r>
            <a:endParaRPr lang="en-US" sz="1700" dirty="0"/>
          </a:p>
        </p:txBody>
      </p:sp>
      <p:sp>
        <p:nvSpPr>
          <p:cNvPr id="16" name="kondisi"/>
          <p:cNvSpPr/>
          <p:nvPr/>
        </p:nvSpPr>
        <p:spPr>
          <a:xfrm>
            <a:off x="548640" y="3227273"/>
            <a:ext cx="5120640" cy="18288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7" name="Text 14"/>
          <p:cNvSpPr txBox="1"/>
          <p:nvPr/>
        </p:nvSpPr>
        <p:spPr>
          <a:xfrm>
            <a:off x="822960" y="3410153"/>
            <a:ext cx="4572000" cy="365760"/>
          </a:xfrm>
          <a:prstGeom prst="rect">
            <a:avLst/>
          </a:prstGeom>
          <a:noFill/>
          <a:ln/>
        </p:spPr>
        <p:txBody>
          <a:bodyPr wrap="square" lIns="0" tIns="0" rIns="0" bIns="0" rtlCol="0" anchor="t"/>
          <a:lstStyle/>
          <a:p>
            <a:pPr marL="0" indent="0">
              <a:buNone/>
            </a:pPr>
            <a:r>
              <a:rPr lang="en-US" sz="1800" b="1" dirty="0" err="1">
                <a:solidFill>
                  <a:srgbClr val="12284C"/>
                </a:solidFill>
                <a:latin typeface="Calibri" pitchFamily="34" charset="0"/>
                <a:ea typeface="Calibri" pitchFamily="34" charset="-122"/>
                <a:cs typeface="Calibri" pitchFamily="34" charset="-120"/>
              </a:rPr>
              <a:t>Kondisi</a:t>
            </a:r>
            <a:r>
              <a:rPr lang="en-US" sz="1800" b="1" dirty="0">
                <a:solidFill>
                  <a:srgbClr val="12284C"/>
                </a:solidFill>
                <a:latin typeface="Calibri" pitchFamily="34" charset="0"/>
                <a:ea typeface="Calibri" pitchFamily="34" charset="-122"/>
                <a:cs typeface="Calibri" pitchFamily="34" charset="-120"/>
              </a:rPr>
              <a:t> </a:t>
            </a:r>
            <a:r>
              <a:rPr lang="en-US" sz="1800" b="1" dirty="0" err="1">
                <a:solidFill>
                  <a:srgbClr val="12284C"/>
                </a:solidFill>
                <a:latin typeface="Calibri" pitchFamily="34" charset="0"/>
                <a:ea typeface="Calibri" pitchFamily="34" charset="-122"/>
                <a:cs typeface="Calibri" pitchFamily="34" charset="-120"/>
              </a:rPr>
              <a:t>Pencatatan</a:t>
            </a:r>
            <a:r>
              <a:rPr lang="en-US" sz="1800" b="1" dirty="0">
                <a:solidFill>
                  <a:srgbClr val="12284C"/>
                </a:solidFill>
                <a:latin typeface="Calibri" pitchFamily="34" charset="0"/>
                <a:ea typeface="Calibri" pitchFamily="34" charset="-122"/>
                <a:cs typeface="Calibri" pitchFamily="34" charset="-120"/>
              </a:rPr>
              <a:t> Saat </a:t>
            </a:r>
            <a:r>
              <a:rPr lang="en-US" b="1" dirty="0">
                <a:solidFill>
                  <a:srgbClr val="12284C"/>
                </a:solidFill>
                <a:latin typeface="Calibri" pitchFamily="34" charset="0"/>
                <a:ea typeface="Calibri" pitchFamily="34" charset="-122"/>
                <a:cs typeface="Calibri" pitchFamily="34" charset="-120"/>
              </a:rPr>
              <a:t>Ini:</a:t>
            </a:r>
            <a:endParaRPr lang="en-US" sz="1800" dirty="0"/>
          </a:p>
        </p:txBody>
      </p:sp>
      <p:sp>
        <p:nvSpPr>
          <p:cNvPr id="18" name="Text 15"/>
          <p:cNvSpPr txBox="1"/>
          <p:nvPr/>
        </p:nvSpPr>
        <p:spPr>
          <a:xfrm>
            <a:off x="822960" y="3730193"/>
            <a:ext cx="4572000" cy="1188720"/>
          </a:xfrm>
          <a:prstGeom prst="rect">
            <a:avLst/>
          </a:prstGeom>
          <a:noFill/>
          <a:ln/>
        </p:spPr>
        <p:txBody>
          <a:bodyPr wrap="square" lIns="0" tIns="0" rIns="0" bIns="0" rtlCol="0" anchor="t"/>
          <a:lstStyle/>
          <a:p>
            <a:pPr lvl="0">
              <a:lnSpc>
                <a:spcPct val="150000"/>
              </a:lnSpc>
            </a:pPr>
            <a:r>
              <a:rPr lang="en-ID" sz="1600" b="1" dirty="0"/>
              <a:t>Cabang:</a:t>
            </a:r>
            <a:r>
              <a:rPr lang="en-ID" sz="1600" dirty="0"/>
              <a:t> </a:t>
            </a:r>
            <a:r>
              <a:rPr lang="en-ID" sz="1600" dirty="0" err="1"/>
              <a:t>Aplikasi</a:t>
            </a:r>
            <a:r>
              <a:rPr lang="en-ID" sz="1600" dirty="0"/>
              <a:t> </a:t>
            </a:r>
            <a:r>
              <a:rPr lang="en-ID" sz="1600" dirty="0" err="1"/>
              <a:t>kasir</a:t>
            </a:r>
            <a:r>
              <a:rPr lang="en-ID" sz="1600" dirty="0"/>
              <a:t> </a:t>
            </a:r>
            <a:r>
              <a:rPr lang="en-ID" sz="1600" dirty="0" err="1"/>
              <a:t>berjalan</a:t>
            </a:r>
            <a:r>
              <a:rPr lang="en-ID" sz="1600" dirty="0"/>
              <a:t> </a:t>
            </a:r>
            <a:r>
              <a:rPr lang="en-ID" sz="1600" dirty="0" err="1"/>
              <a:t>mandiri</a:t>
            </a:r>
            <a:r>
              <a:rPr lang="en-ID" sz="1600" dirty="0"/>
              <a:t> per </a:t>
            </a:r>
            <a:r>
              <a:rPr lang="en-ID" sz="1600" dirty="0" err="1"/>
              <a:t>cabang</a:t>
            </a:r>
            <a:endParaRPr lang="en-ID" sz="1600" dirty="0"/>
          </a:p>
          <a:p>
            <a:pPr lvl="0">
              <a:lnSpc>
                <a:spcPct val="150000"/>
              </a:lnSpc>
            </a:pPr>
            <a:r>
              <a:rPr lang="en-ID" sz="1600" b="1" dirty="0"/>
              <a:t>Gudang </a:t>
            </a:r>
            <a:r>
              <a:rPr lang="en-ID" sz="1600" b="1" dirty="0" err="1"/>
              <a:t>Distribusi</a:t>
            </a:r>
            <a:r>
              <a:rPr lang="en-ID" sz="1600" b="1" dirty="0"/>
              <a:t>:</a:t>
            </a:r>
            <a:r>
              <a:rPr lang="en-ID" sz="1600" dirty="0"/>
              <a:t> </a:t>
            </a:r>
            <a:r>
              <a:rPr lang="en-ID" sz="1600" dirty="0" err="1"/>
              <a:t>Pencatatan</a:t>
            </a:r>
            <a:r>
              <a:rPr lang="en-ID" sz="1600" dirty="0"/>
              <a:t> </a:t>
            </a:r>
            <a:r>
              <a:rPr lang="en-ID" sz="1600" dirty="0" err="1"/>
              <a:t>berbasis</a:t>
            </a:r>
            <a:r>
              <a:rPr lang="en-ID" sz="1600" dirty="0"/>
              <a:t> Excel VBA</a:t>
            </a:r>
          </a:p>
          <a:p>
            <a:pPr lvl="0">
              <a:lnSpc>
                <a:spcPct val="150000"/>
              </a:lnSpc>
            </a:pPr>
            <a:r>
              <a:rPr lang="en-ID" sz="1600" b="1" dirty="0"/>
              <a:t>Antar unit:</a:t>
            </a:r>
            <a:r>
              <a:rPr lang="en-ID" sz="1600" dirty="0"/>
              <a:t> Belum </a:t>
            </a:r>
            <a:r>
              <a:rPr lang="en-ID" sz="1600" dirty="0" err="1"/>
              <a:t>ada</a:t>
            </a:r>
            <a:r>
              <a:rPr lang="en-ID" sz="1600" dirty="0"/>
              <a:t> </a:t>
            </a:r>
            <a:r>
              <a:rPr lang="en-ID" sz="1600" dirty="0" err="1"/>
              <a:t>sinkronisasi</a:t>
            </a:r>
            <a:r>
              <a:rPr lang="en-ID" sz="1600" dirty="0"/>
              <a:t> data real-time</a:t>
            </a:r>
          </a:p>
        </p:txBody>
      </p:sp>
      <p:sp>
        <p:nvSpPr>
          <p:cNvPr id="19" name="Shape 16"/>
          <p:cNvSpPr/>
          <p:nvPr/>
        </p:nvSpPr>
        <p:spPr>
          <a:xfrm>
            <a:off x="5760720" y="4141673"/>
            <a:ext cx="502920" cy="0"/>
          </a:xfrm>
          <a:prstGeom prst="line">
            <a:avLst/>
          </a:prstGeom>
          <a:noFill/>
          <a:ln w="22225">
            <a:solidFill>
              <a:srgbClr val="12284C"/>
            </a:solidFill>
            <a:prstDash val="solid"/>
            <a:tailEnd type="triangle"/>
          </a:ln>
        </p:spPr>
        <p:txBody>
          <a:bodyPr/>
          <a:lstStyle/>
          <a:p>
            <a:endParaRPr/>
          </a:p>
        </p:txBody>
      </p:sp>
      <p:sp>
        <p:nvSpPr>
          <p:cNvPr id="20" name="risiko"/>
          <p:cNvSpPr/>
          <p:nvPr/>
        </p:nvSpPr>
        <p:spPr>
          <a:xfrm>
            <a:off x="6355080" y="3227273"/>
            <a:ext cx="5257800" cy="1828800"/>
          </a:xfrm>
          <a:prstGeom prst="roundRect">
            <a:avLst>
              <a:gd name="adj" fmla="val 14000"/>
            </a:avLst>
          </a:prstGeom>
          <a:solidFill>
            <a:srgbClr val="12284C"/>
          </a:solidFill>
          <a:ln w="9525">
            <a:solidFill>
              <a:srgbClr val="12284C"/>
            </a:solidFill>
            <a:prstDash val="solid"/>
          </a:ln>
        </p:spPr>
        <p:txBody>
          <a:bodyPr/>
          <a:lstStyle/>
          <a:p>
            <a:endParaRPr/>
          </a:p>
        </p:txBody>
      </p:sp>
      <p:sp>
        <p:nvSpPr>
          <p:cNvPr id="21" name="Text 18"/>
          <p:cNvSpPr txBox="1"/>
          <p:nvPr/>
        </p:nvSpPr>
        <p:spPr>
          <a:xfrm>
            <a:off x="6629400" y="3346704"/>
            <a:ext cx="4754880" cy="365760"/>
          </a:xfrm>
          <a:prstGeom prst="rect">
            <a:avLst/>
          </a:prstGeom>
          <a:noFill/>
          <a:ln/>
        </p:spPr>
        <p:txBody>
          <a:bodyPr wrap="square" lIns="0" tIns="0" rIns="0" bIns="0" rtlCol="0" anchor="t"/>
          <a:lstStyle/>
          <a:p>
            <a:pPr marL="0" indent="0">
              <a:buNone/>
            </a:pPr>
            <a:r>
              <a:rPr lang="en-US" sz="1800" b="1" dirty="0">
                <a:solidFill>
                  <a:srgbClr val="E9BC3A"/>
                </a:solidFill>
                <a:latin typeface="Calibri" pitchFamily="34" charset="0"/>
                <a:ea typeface="Calibri" pitchFamily="34" charset="-122"/>
                <a:cs typeface="Calibri" pitchFamily="34" charset="-120"/>
              </a:rPr>
              <a:t>Risiko </a:t>
            </a:r>
            <a:r>
              <a:rPr lang="en-US" sz="1800" b="1" dirty="0" err="1">
                <a:solidFill>
                  <a:srgbClr val="E9BC3A"/>
                </a:solidFill>
                <a:latin typeface="Calibri" pitchFamily="34" charset="0"/>
                <a:ea typeface="Calibri" pitchFamily="34" charset="-122"/>
                <a:cs typeface="Calibri" pitchFamily="34" charset="-120"/>
              </a:rPr>
              <a:t>bila</a:t>
            </a:r>
            <a:r>
              <a:rPr lang="en-US" sz="1800" b="1" dirty="0">
                <a:solidFill>
                  <a:srgbClr val="E9BC3A"/>
                </a:solidFill>
                <a:latin typeface="Calibri" pitchFamily="34" charset="0"/>
                <a:ea typeface="Calibri" pitchFamily="34" charset="-122"/>
                <a:cs typeface="Calibri" pitchFamily="34" charset="-120"/>
              </a:rPr>
              <a:t> </a:t>
            </a:r>
            <a:r>
              <a:rPr lang="en-US" sz="1800" b="1" dirty="0" err="1">
                <a:solidFill>
                  <a:srgbClr val="E9BC3A"/>
                </a:solidFill>
                <a:latin typeface="Calibri" pitchFamily="34" charset="0"/>
                <a:ea typeface="Calibri" pitchFamily="34" charset="-122"/>
                <a:cs typeface="Calibri" pitchFamily="34" charset="-120"/>
              </a:rPr>
              <a:t>Sinkronisasi</a:t>
            </a:r>
            <a:r>
              <a:rPr lang="en-US" sz="1800" b="1" dirty="0">
                <a:solidFill>
                  <a:srgbClr val="E9BC3A"/>
                </a:solidFill>
                <a:latin typeface="Calibri" pitchFamily="34" charset="0"/>
                <a:ea typeface="Calibri" pitchFamily="34" charset="-122"/>
                <a:cs typeface="Calibri" pitchFamily="34" charset="-120"/>
              </a:rPr>
              <a:t> </a:t>
            </a:r>
            <a:r>
              <a:rPr lang="en-US" b="1" dirty="0">
                <a:solidFill>
                  <a:srgbClr val="E9BC3A"/>
                </a:solidFill>
                <a:latin typeface="Calibri" pitchFamily="34" charset="0"/>
                <a:ea typeface="Calibri" pitchFamily="34" charset="-122"/>
                <a:cs typeface="Calibri" pitchFamily="34" charset="-120"/>
              </a:rPr>
              <a:t>T</a:t>
            </a:r>
            <a:r>
              <a:rPr lang="en-US" sz="1800" b="1" dirty="0">
                <a:solidFill>
                  <a:srgbClr val="E9BC3A"/>
                </a:solidFill>
                <a:latin typeface="Calibri" pitchFamily="34" charset="0"/>
                <a:ea typeface="Calibri" pitchFamily="34" charset="-122"/>
                <a:cs typeface="Calibri" pitchFamily="34" charset="-120"/>
              </a:rPr>
              <a:t>idak </a:t>
            </a:r>
            <a:r>
              <a:rPr lang="en-US" b="1" dirty="0" err="1">
                <a:solidFill>
                  <a:srgbClr val="E9BC3A"/>
                </a:solidFill>
                <a:latin typeface="Calibri" pitchFamily="34" charset="0"/>
                <a:ea typeface="Calibri" pitchFamily="34" charset="-122"/>
                <a:cs typeface="Calibri" pitchFamily="34" charset="-120"/>
              </a:rPr>
              <a:t>Berjalan</a:t>
            </a:r>
            <a:r>
              <a:rPr lang="en-US" b="1" dirty="0">
                <a:solidFill>
                  <a:srgbClr val="E9BC3A"/>
                </a:solidFill>
                <a:latin typeface="Calibri" pitchFamily="34" charset="0"/>
                <a:ea typeface="Calibri" pitchFamily="34" charset="-122"/>
                <a:cs typeface="Calibri" pitchFamily="34" charset="-120"/>
              </a:rPr>
              <a:t> Baik:</a:t>
            </a:r>
            <a:endParaRPr lang="en-US" sz="1800" dirty="0"/>
          </a:p>
        </p:txBody>
      </p:sp>
      <p:sp>
        <p:nvSpPr>
          <p:cNvPr id="22" name="Text 19"/>
          <p:cNvSpPr txBox="1"/>
          <p:nvPr/>
        </p:nvSpPr>
        <p:spPr>
          <a:xfrm>
            <a:off x="6629400" y="3649015"/>
            <a:ext cx="4754880" cy="1261872"/>
          </a:xfrm>
          <a:prstGeom prst="rect">
            <a:avLst/>
          </a:prstGeom>
          <a:noFill/>
          <a:ln/>
        </p:spPr>
        <p:txBody>
          <a:bodyPr wrap="square" lIns="0" tIns="0" rIns="0" bIns="0" rtlCol="0" anchor="t"/>
          <a:lstStyle/>
          <a:p>
            <a:r>
              <a:rPr lang="en-US" sz="1600" dirty="0" err="1">
                <a:solidFill>
                  <a:srgbClr val="FFFFFF"/>
                </a:solidFill>
                <a:latin typeface="Calibri" pitchFamily="34" charset="0"/>
                <a:ea typeface="Calibri" pitchFamily="34" charset="-122"/>
                <a:cs typeface="Calibri" pitchFamily="34" charset="-120"/>
              </a:rPr>
              <a:t>Beberapa</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transaksi</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penjualan</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terjadi</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bersamaan</a:t>
            </a:r>
            <a:r>
              <a:rPr lang="en-US" sz="1600" dirty="0">
                <a:solidFill>
                  <a:srgbClr val="FFFFFF"/>
                </a:solidFill>
                <a:latin typeface="Calibri" pitchFamily="34" charset="0"/>
                <a:ea typeface="Calibri" pitchFamily="34" charset="-122"/>
                <a:cs typeface="Calibri" pitchFamily="34" charset="-120"/>
              </a:rPr>
              <a:t> pada produk yang sama tanpa </a:t>
            </a:r>
            <a:r>
              <a:rPr lang="en-US" sz="1600" dirty="0" err="1">
                <a:solidFill>
                  <a:srgbClr val="FFFFFF"/>
                </a:solidFill>
                <a:latin typeface="Calibri" pitchFamily="34" charset="0"/>
                <a:ea typeface="Calibri" pitchFamily="34" charset="-122"/>
                <a:cs typeface="Calibri" pitchFamily="34" charset="-120"/>
              </a:rPr>
              <a:t>sinkronisasi</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berisiko</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memicu</a:t>
            </a:r>
            <a:r>
              <a:rPr lang="en-US" sz="1600" dirty="0">
                <a:solidFill>
                  <a:srgbClr val="FFFFFF"/>
                </a:solidFill>
                <a:latin typeface="Calibri" pitchFamily="34" charset="0"/>
                <a:ea typeface="Calibri" pitchFamily="34" charset="-122"/>
                <a:cs typeface="Calibri" pitchFamily="34" charset="-120"/>
              </a:rPr>
              <a:t> lost update (</a:t>
            </a:r>
            <a:r>
              <a:rPr lang="en-ID" sz="1600" dirty="0" err="1">
                <a:solidFill>
                  <a:schemeClr val="bg1"/>
                </a:solidFill>
                <a:latin typeface="+mj-lt"/>
              </a:rPr>
              <a:t>hasil</a:t>
            </a:r>
            <a:r>
              <a:rPr lang="en-ID" sz="1600" dirty="0">
                <a:solidFill>
                  <a:schemeClr val="bg1"/>
                </a:solidFill>
                <a:latin typeface="+mj-lt"/>
              </a:rPr>
              <a:t> </a:t>
            </a:r>
            <a:r>
              <a:rPr lang="en-ID" sz="1600" dirty="0" err="1">
                <a:solidFill>
                  <a:schemeClr val="bg1"/>
                </a:solidFill>
                <a:latin typeface="+mj-lt"/>
              </a:rPr>
              <a:t>pembaruan</a:t>
            </a:r>
            <a:r>
              <a:rPr lang="en-ID" sz="1600" dirty="0">
                <a:solidFill>
                  <a:schemeClr val="bg1"/>
                </a:solidFill>
                <a:latin typeface="+mj-lt"/>
              </a:rPr>
              <a:t> </a:t>
            </a:r>
            <a:r>
              <a:rPr lang="en-ID" sz="1600" dirty="0" err="1">
                <a:solidFill>
                  <a:schemeClr val="bg1"/>
                </a:solidFill>
                <a:latin typeface="+mj-lt"/>
              </a:rPr>
              <a:t>satu</a:t>
            </a:r>
            <a:r>
              <a:rPr lang="en-ID" sz="1600" dirty="0">
                <a:solidFill>
                  <a:schemeClr val="bg1"/>
                </a:solidFill>
                <a:latin typeface="+mj-lt"/>
              </a:rPr>
              <a:t> </a:t>
            </a:r>
            <a:r>
              <a:rPr lang="en-ID" sz="1600" dirty="0" err="1">
                <a:solidFill>
                  <a:schemeClr val="bg1"/>
                </a:solidFill>
                <a:latin typeface="+mj-lt"/>
              </a:rPr>
              <a:t>transaksi</a:t>
            </a:r>
            <a:r>
              <a:rPr lang="en-ID" sz="1600" dirty="0">
                <a:solidFill>
                  <a:schemeClr val="bg1"/>
                </a:solidFill>
                <a:latin typeface="+mj-lt"/>
              </a:rPr>
              <a:t> </a:t>
            </a:r>
            <a:r>
              <a:rPr lang="en-ID" sz="1600" dirty="0" err="1">
                <a:solidFill>
                  <a:schemeClr val="bg1"/>
                </a:solidFill>
                <a:latin typeface="+mj-lt"/>
              </a:rPr>
              <a:t>tertimpa</a:t>
            </a:r>
            <a:r>
              <a:rPr lang="en-ID" sz="1600" dirty="0">
                <a:solidFill>
                  <a:schemeClr val="bg1"/>
                </a:solidFill>
                <a:latin typeface="+mj-lt"/>
              </a:rPr>
              <a:t> </a:t>
            </a:r>
            <a:r>
              <a:rPr lang="en-ID" sz="1600" dirty="0" err="1">
                <a:solidFill>
                  <a:schemeClr val="bg1"/>
                </a:solidFill>
                <a:latin typeface="+mj-lt"/>
              </a:rPr>
              <a:t>transaksi</a:t>
            </a:r>
            <a:r>
              <a:rPr lang="en-ID" sz="1600" dirty="0">
                <a:solidFill>
                  <a:schemeClr val="bg1"/>
                </a:solidFill>
                <a:latin typeface="+mj-lt"/>
              </a:rPr>
              <a:t> lain</a:t>
            </a:r>
            <a:r>
              <a:rPr lang="en-US" sz="1600" dirty="0">
                <a:solidFill>
                  <a:srgbClr val="FFFFFF"/>
                </a:solidFill>
                <a:latin typeface="Calibri" pitchFamily="34" charset="0"/>
                <a:ea typeface="Calibri" pitchFamily="34" charset="-122"/>
                <a:cs typeface="Calibri" pitchFamily="34" charset="-120"/>
              </a:rPr>
              <a:t>) dan oversell (penjualan melebihi stok).</a:t>
            </a:r>
            <a:endParaRPr lang="en-US" sz="1800" dirty="0"/>
          </a:p>
          <a:p>
            <a:pPr marL="0" indent="0">
              <a:spcBef>
                <a:spcPts val="600"/>
              </a:spcBef>
              <a:buNone/>
            </a:pPr>
            <a:r>
              <a:rPr lang="id-ID" sz="1500" i="1" dirty="0">
                <a:solidFill>
                  <a:srgbClr val="C9D3E8"/>
                </a:solidFill>
                <a:latin typeface="Calibri" pitchFamily="34" charset="0"/>
                <a:ea typeface="Calibri" pitchFamily="34" charset="-122"/>
                <a:cs typeface="Calibri" pitchFamily="34" charset="-120"/>
              </a:rPr>
              <a:t>Risiko integrasi belum terbukti pada sistem eksisting.</a:t>
            </a:r>
          </a:p>
        </p:txBody>
      </p:sp>
      <p:sp>
        <p:nvSpPr>
          <p:cNvPr id="23" name="Text 20"/>
          <p:cNvSpPr txBox="1"/>
          <p:nvPr/>
        </p:nvSpPr>
        <p:spPr>
          <a:xfrm>
            <a:off x="548640" y="5357544"/>
            <a:ext cx="11064240" cy="411480"/>
          </a:xfrm>
          <a:prstGeom prst="rect">
            <a:avLst/>
          </a:prstGeom>
          <a:noFill/>
          <a:ln/>
        </p:spPr>
        <p:txBody>
          <a:bodyPr wrap="square" lIns="0" tIns="0" rIns="0" bIns="0" rtlCol="0" anchor="ctr"/>
          <a:lstStyle/>
          <a:p>
            <a:pPr marL="0" indent="0">
              <a:buNone/>
            </a:pPr>
            <a:r>
              <a:rPr lang="en-US" sz="2000" b="1" dirty="0">
                <a:solidFill>
                  <a:srgbClr val="12284C"/>
                </a:solidFill>
                <a:latin typeface="Cambria" panose="02040503050406030204" pitchFamily="18" charset="0"/>
                <a:ea typeface="Cambria" panose="02040503050406030204" pitchFamily="18" charset="0"/>
                <a:cs typeface="Calibri" pitchFamily="34" charset="-120"/>
              </a:rPr>
              <a:t>Pertanyaan penelitian: Ketika data </a:t>
            </a:r>
            <a:r>
              <a:rPr lang="en-US" sz="2000" b="1" dirty="0" err="1">
                <a:solidFill>
                  <a:srgbClr val="12284C"/>
                </a:solidFill>
                <a:latin typeface="Cambria" panose="02040503050406030204" pitchFamily="18" charset="0"/>
                <a:ea typeface="Cambria" panose="02040503050406030204" pitchFamily="18" charset="0"/>
                <a:cs typeface="Calibri" pitchFamily="34" charset="-120"/>
              </a:rPr>
              <a:t>operasional</a:t>
            </a:r>
            <a:r>
              <a:rPr lang="en-US" sz="2000" b="1" dirty="0">
                <a:solidFill>
                  <a:srgbClr val="12284C"/>
                </a:solidFill>
                <a:latin typeface="Cambria" panose="02040503050406030204" pitchFamily="18" charset="0"/>
                <a:ea typeface="Cambria" panose="02040503050406030204" pitchFamily="18" charset="0"/>
                <a:cs typeface="Calibri" pitchFamily="34" charset="-120"/>
              </a:rPr>
              <a:t> </a:t>
            </a:r>
            <a:r>
              <a:rPr lang="en-US" sz="2000" b="1" dirty="0" err="1">
                <a:solidFill>
                  <a:srgbClr val="12284C"/>
                </a:solidFill>
                <a:latin typeface="Cambria" panose="02040503050406030204" pitchFamily="18" charset="0"/>
                <a:ea typeface="Cambria" panose="02040503050406030204" pitchFamily="18" charset="0"/>
                <a:cs typeface="Calibri" pitchFamily="34" charset="-120"/>
              </a:rPr>
              <a:t>antar</a:t>
            </a:r>
            <a:r>
              <a:rPr lang="en-US" sz="2000" b="1" dirty="0">
                <a:solidFill>
                  <a:srgbClr val="12284C"/>
                </a:solidFill>
                <a:latin typeface="Cambria" panose="02040503050406030204" pitchFamily="18" charset="0"/>
                <a:ea typeface="Cambria" panose="02040503050406030204" pitchFamily="18" charset="0"/>
                <a:cs typeface="Calibri" pitchFamily="34" charset="-120"/>
              </a:rPr>
              <a:t> unit </a:t>
            </a:r>
            <a:r>
              <a:rPr lang="en-US" sz="2000" b="1" dirty="0" err="1">
                <a:solidFill>
                  <a:srgbClr val="12284C"/>
                </a:solidFill>
                <a:latin typeface="Cambria" panose="02040503050406030204" pitchFamily="18" charset="0"/>
                <a:ea typeface="Cambria" panose="02040503050406030204" pitchFamily="18" charset="0"/>
                <a:cs typeface="Calibri" pitchFamily="34" charset="-120"/>
              </a:rPr>
              <a:t>dihubungkan</a:t>
            </a:r>
            <a:r>
              <a:rPr lang="en-US" sz="2000" b="1" dirty="0">
                <a:solidFill>
                  <a:srgbClr val="12284C"/>
                </a:solidFill>
                <a:latin typeface="Cambria" panose="02040503050406030204" pitchFamily="18" charset="0"/>
                <a:ea typeface="Cambria" panose="02040503050406030204" pitchFamily="18" charset="0"/>
                <a:cs typeface="Calibri" pitchFamily="34" charset="-120"/>
              </a:rPr>
              <a:t>, apakah transaksi tetap </a:t>
            </a:r>
            <a:r>
              <a:rPr lang="en-US" sz="2000" b="1" dirty="0" err="1">
                <a:solidFill>
                  <a:srgbClr val="12284C"/>
                </a:solidFill>
                <a:latin typeface="Cambria" panose="02040503050406030204" pitchFamily="18" charset="0"/>
                <a:ea typeface="Cambria" panose="02040503050406030204" pitchFamily="18" charset="0"/>
                <a:cs typeface="Calibri" pitchFamily="34" charset="-120"/>
              </a:rPr>
              <a:t>konsisten</a:t>
            </a:r>
            <a:r>
              <a:rPr lang="en-US" sz="2000" b="1" dirty="0">
                <a:solidFill>
                  <a:srgbClr val="12284C"/>
                </a:solidFill>
                <a:latin typeface="Cambria" panose="02040503050406030204" pitchFamily="18" charset="0"/>
                <a:ea typeface="Cambria" panose="02040503050406030204" pitchFamily="18" charset="0"/>
                <a:cs typeface="Calibri" pitchFamily="34" charset="-120"/>
              </a:rPr>
              <a:t>?</a:t>
            </a:r>
            <a:endParaRPr lang="en-US" sz="2000" dirty="0">
              <a:latin typeface="Cambria" panose="02040503050406030204" pitchFamily="18" charset="0"/>
              <a:ea typeface="Cambria" panose="02040503050406030204" pitchFamily="18" charset="0"/>
            </a:endParaRPr>
          </a:p>
        </p:txBody>
      </p:sp>
      <p:sp>
        <p:nvSpPr>
          <p:cNvPr id="24" name="Text 21"/>
          <p:cNvSpPr txBox="1"/>
          <p:nvPr/>
        </p:nvSpPr>
        <p:spPr>
          <a:xfrm>
            <a:off x="548640" y="6003316"/>
            <a:ext cx="10241280" cy="27432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Sumber: Bab I (1.1). Kondisi operasional dipetakan melalui wawancara dan observasi bersama Ibu Atik (pemilik Apotek Bisma), 5 Juli 2026.</a:t>
            </a:r>
            <a:endParaRPr lang="en-US" sz="1100" dirty="0"/>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r>
              <a:rPr lang="en-US" sz="3000" b="1" dirty="0">
                <a:solidFill>
                  <a:srgbClr val="12284C"/>
                </a:solidFill>
                <a:latin typeface="Cambria" pitchFamily="34" charset="0"/>
                <a:ea typeface="Calibri" pitchFamily="34" charset="-122"/>
                <a:cs typeface="Calibri" pitchFamily="34" charset="-120"/>
              </a:rPr>
              <a:t>Lima masalah: </a:t>
            </a:r>
            <a:r>
              <a:rPr lang="en-ID" sz="3000" b="1" dirty="0" err="1">
                <a:solidFill>
                  <a:srgbClr val="12284C"/>
                </a:solidFill>
                <a:latin typeface="Cambria" panose="02040503050406030204" pitchFamily="18" charset="0"/>
                <a:ea typeface="Cambria" panose="02040503050406030204" pitchFamily="18" charset="0"/>
                <a:cs typeface="Calibri" pitchFamily="34" charset="-120"/>
              </a:rPr>
              <a:t>P</a:t>
            </a:r>
            <a:r>
              <a:rPr lang="en-ID" sz="3000" dirty="0" err="1">
                <a:latin typeface="Cambria" panose="02040503050406030204" pitchFamily="18" charset="0"/>
                <a:ea typeface="Cambria" panose="02040503050406030204" pitchFamily="18" charset="0"/>
              </a:rPr>
              <a:t>erebutan</a:t>
            </a:r>
            <a:r>
              <a:rPr lang="en-ID" sz="3000" dirty="0">
                <a:latin typeface="Cambria" panose="02040503050406030204" pitchFamily="18" charset="0"/>
                <a:ea typeface="Cambria" panose="02040503050406030204" pitchFamily="18" charset="0"/>
              </a:rPr>
              <a:t> Stok </a:t>
            </a:r>
            <a:r>
              <a:rPr lang="en-ID" sz="3000" dirty="0" err="1">
                <a:latin typeface="Cambria" panose="02040503050406030204" pitchFamily="18" charset="0"/>
                <a:ea typeface="Cambria" panose="02040503050406030204" pitchFamily="18" charset="0"/>
              </a:rPr>
              <a:t>menjadi</a:t>
            </a:r>
            <a:r>
              <a:rPr lang="en-ID" sz="3000" dirty="0">
                <a:latin typeface="Cambria" panose="02040503050406030204" pitchFamily="18" charset="0"/>
                <a:ea typeface="Cambria" panose="02040503050406030204" pitchFamily="18" charset="0"/>
              </a:rPr>
              <a:t> </a:t>
            </a:r>
            <a:r>
              <a:rPr lang="en-ID" sz="3000" dirty="0" err="1">
                <a:latin typeface="Cambria" panose="02040503050406030204" pitchFamily="18" charset="0"/>
                <a:ea typeface="Cambria" panose="02040503050406030204" pitchFamily="18" charset="0"/>
              </a:rPr>
              <a:t>Skenario</a:t>
            </a:r>
            <a:r>
              <a:rPr lang="en-ID" sz="3000" dirty="0">
                <a:latin typeface="Cambria" panose="02040503050406030204" pitchFamily="18" charset="0"/>
                <a:ea typeface="Cambria" panose="02040503050406030204" pitchFamily="18" charset="0"/>
              </a:rPr>
              <a:t> Uji Utama</a:t>
            </a:r>
            <a:endParaRPr lang="en-US" sz="3000" dirty="0">
              <a:latin typeface="Cambria" panose="02040503050406030204" pitchFamily="18" charset="0"/>
              <a:ea typeface="Cambria" panose="02040503050406030204" pitchFamily="18" charset="0"/>
            </a:endParaRPr>
          </a:p>
        </p:txBody>
      </p:sp>
      <p:sp>
        <p:nvSpPr>
          <p:cNvPr id="4" name="m0"/>
          <p:cNvSpPr/>
          <p:nvPr/>
        </p:nvSpPr>
        <p:spPr>
          <a:xfrm>
            <a:off x="548640" y="1463040"/>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5" name="Shape 2"/>
          <p:cNvSpPr/>
          <p:nvPr/>
        </p:nvSpPr>
        <p:spPr>
          <a:xfrm>
            <a:off x="731520" y="1618488"/>
            <a:ext cx="438912" cy="438912"/>
          </a:xfrm>
          <a:prstGeom prst="ellipse">
            <a:avLst/>
          </a:prstGeom>
          <a:solidFill>
            <a:srgbClr val="12284C"/>
          </a:solidFill>
          <a:ln w="12700">
            <a:solidFill>
              <a:srgbClr val="12284C"/>
            </a:solidFill>
            <a:prstDash val="solid"/>
          </a:ln>
        </p:spPr>
        <p:txBody>
          <a:bodyPr/>
          <a:lstStyle/>
          <a:p>
            <a:endParaRPr/>
          </a:p>
        </p:txBody>
      </p:sp>
      <p:sp>
        <p:nvSpPr>
          <p:cNvPr id="6" name="Text 3"/>
          <p:cNvSpPr txBox="1"/>
          <p:nvPr/>
        </p:nvSpPr>
        <p:spPr>
          <a:xfrm>
            <a:off x="731520" y="1618488"/>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txBox="1"/>
          <p:nvPr/>
        </p:nvSpPr>
        <p:spPr>
          <a:xfrm>
            <a:off x="1371600" y="1463040"/>
            <a:ext cx="4114800" cy="749808"/>
          </a:xfrm>
          <a:prstGeom prst="rect">
            <a:avLst/>
          </a:prstGeom>
          <a:noFill/>
          <a:ln/>
        </p:spPr>
        <p:txBody>
          <a:bodyPr wrap="square" lIns="0" tIns="0" rIns="0" bIns="0" rtlCol="0" anchor="ctr"/>
          <a:lstStyle/>
          <a:p>
            <a:r>
              <a:rPr lang="en-ID" sz="1700" dirty="0" err="1"/>
              <a:t>Rekonsiliasi</a:t>
            </a:r>
            <a:r>
              <a:rPr lang="en-ID" sz="1700" dirty="0"/>
              <a:t> </a:t>
            </a:r>
            <a:r>
              <a:rPr lang="en-ID" sz="1700" dirty="0" err="1"/>
              <a:t>membutuhkan</a:t>
            </a:r>
            <a:r>
              <a:rPr lang="en-ID" sz="1700" dirty="0"/>
              <a:t> </a:t>
            </a:r>
            <a:r>
              <a:rPr lang="en-ID" sz="1700" dirty="0" err="1"/>
              <a:t>waktu</a:t>
            </a:r>
            <a:r>
              <a:rPr lang="en-ID" sz="1700" dirty="0"/>
              <a:t> 1–2 </a:t>
            </a:r>
            <a:r>
              <a:rPr lang="en-ID" sz="1700" dirty="0" err="1"/>
              <a:t>hari</a:t>
            </a:r>
            <a:r>
              <a:rPr lang="en-ID" sz="1700" dirty="0"/>
              <a:t> di </a:t>
            </a:r>
            <a:r>
              <a:rPr lang="en-ID" sz="1700" dirty="0" err="1"/>
              <a:t>cabang</a:t>
            </a:r>
            <a:r>
              <a:rPr lang="en-ID" sz="1700" dirty="0"/>
              <a:t> dan 4–5 </a:t>
            </a:r>
            <a:r>
              <a:rPr lang="en-ID" sz="1700" dirty="0" err="1"/>
              <a:t>hari</a:t>
            </a:r>
            <a:r>
              <a:rPr lang="en-ID" sz="1700" dirty="0"/>
              <a:t> di </a:t>
            </a:r>
            <a:r>
              <a:rPr lang="en-ID" sz="1700" dirty="0" err="1"/>
              <a:t>gudang</a:t>
            </a:r>
            <a:endParaRPr lang="en-US" sz="1700" dirty="0"/>
          </a:p>
        </p:txBody>
      </p:sp>
      <p:sp>
        <p:nvSpPr>
          <p:cNvPr id="8" name="m1"/>
          <p:cNvSpPr/>
          <p:nvPr/>
        </p:nvSpPr>
        <p:spPr>
          <a:xfrm>
            <a:off x="548640" y="2359152"/>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9" name="Shape 6"/>
          <p:cNvSpPr/>
          <p:nvPr/>
        </p:nvSpPr>
        <p:spPr>
          <a:xfrm>
            <a:off x="731520" y="2514600"/>
            <a:ext cx="438912" cy="438912"/>
          </a:xfrm>
          <a:prstGeom prst="ellipse">
            <a:avLst/>
          </a:prstGeom>
          <a:solidFill>
            <a:srgbClr val="12284C"/>
          </a:solidFill>
          <a:ln w="12700">
            <a:solidFill>
              <a:srgbClr val="12284C"/>
            </a:solidFill>
            <a:prstDash val="solid"/>
          </a:ln>
        </p:spPr>
        <p:txBody>
          <a:bodyPr/>
          <a:lstStyle/>
          <a:p>
            <a:endParaRPr/>
          </a:p>
        </p:txBody>
      </p:sp>
      <p:sp>
        <p:nvSpPr>
          <p:cNvPr id="10" name="Text 7"/>
          <p:cNvSpPr txBox="1"/>
          <p:nvPr/>
        </p:nvSpPr>
        <p:spPr>
          <a:xfrm>
            <a:off x="731520" y="2514600"/>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1371600" y="2359152"/>
            <a:ext cx="4114800" cy="749808"/>
          </a:xfrm>
          <a:prstGeom prst="rect">
            <a:avLst/>
          </a:prstGeom>
          <a:noFill/>
          <a:ln/>
        </p:spPr>
        <p:txBody>
          <a:bodyPr wrap="square" lIns="0" tIns="0" rIns="0" bIns="0" rtlCol="0" anchor="ctr"/>
          <a:lstStyle/>
          <a:p>
            <a:pPr marL="0" indent="0">
              <a:buNone/>
            </a:pPr>
            <a:r>
              <a:rPr lang="en-US" sz="1700" dirty="0">
                <a:solidFill>
                  <a:srgbClr val="1B2640"/>
                </a:solidFill>
                <a:latin typeface="Calibri" pitchFamily="34" charset="0"/>
                <a:ea typeface="Calibri" pitchFamily="34" charset="-122"/>
                <a:cs typeface="Calibri" pitchFamily="34" charset="-120"/>
              </a:rPr>
              <a:t>Stok sistem tidak cocok dengan stok fisik</a:t>
            </a:r>
            <a:endParaRPr lang="en-US" sz="1600" dirty="0"/>
          </a:p>
        </p:txBody>
      </p:sp>
      <p:sp>
        <p:nvSpPr>
          <p:cNvPr id="12" name="m2"/>
          <p:cNvSpPr/>
          <p:nvPr/>
        </p:nvSpPr>
        <p:spPr>
          <a:xfrm>
            <a:off x="548640" y="3255264"/>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3" name="Shape 10"/>
          <p:cNvSpPr/>
          <p:nvPr/>
        </p:nvSpPr>
        <p:spPr>
          <a:xfrm>
            <a:off x="731520" y="3410712"/>
            <a:ext cx="438912" cy="438912"/>
          </a:xfrm>
          <a:prstGeom prst="ellipse">
            <a:avLst/>
          </a:prstGeom>
          <a:solidFill>
            <a:srgbClr val="8B6300"/>
          </a:solidFill>
          <a:ln w="12700">
            <a:solidFill>
              <a:srgbClr val="8B6300"/>
            </a:solidFill>
            <a:prstDash val="solid"/>
          </a:ln>
        </p:spPr>
        <p:txBody>
          <a:bodyPr/>
          <a:lstStyle/>
          <a:p>
            <a:endParaRPr/>
          </a:p>
        </p:txBody>
      </p:sp>
      <p:sp>
        <p:nvSpPr>
          <p:cNvPr id="14" name="Text 11"/>
          <p:cNvSpPr txBox="1"/>
          <p:nvPr/>
        </p:nvSpPr>
        <p:spPr>
          <a:xfrm>
            <a:off x="731520" y="3410712"/>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2"/>
          <p:cNvSpPr txBox="1"/>
          <p:nvPr/>
        </p:nvSpPr>
        <p:spPr>
          <a:xfrm>
            <a:off x="1371600" y="3255264"/>
            <a:ext cx="4114800" cy="749808"/>
          </a:xfrm>
          <a:prstGeom prst="rect">
            <a:avLst/>
          </a:prstGeom>
          <a:noFill/>
          <a:ln/>
        </p:spPr>
        <p:txBody>
          <a:bodyPr wrap="square" lIns="0" tIns="0" rIns="0" bIns="0" rtlCol="0" anchor="ctr"/>
          <a:lstStyle/>
          <a:p>
            <a:pPr marL="0" indent="0">
              <a:buNone/>
            </a:pPr>
            <a:r>
              <a:rPr lang="en-US" sz="1700" b="1" dirty="0">
                <a:solidFill>
                  <a:srgbClr val="1B2640"/>
                </a:solidFill>
                <a:latin typeface="Calibri" pitchFamily="34" charset="0"/>
                <a:ea typeface="Calibri" pitchFamily="34" charset="-122"/>
                <a:cs typeface="Calibri" pitchFamily="34" charset="-120"/>
              </a:rPr>
              <a:t>Integrasi tanpa sinkronisasi yang </a:t>
            </a:r>
            <a:r>
              <a:rPr lang="en-US" sz="1700" b="1" dirty="0" err="1">
                <a:solidFill>
                  <a:srgbClr val="1B2640"/>
                </a:solidFill>
                <a:latin typeface="Calibri" pitchFamily="34" charset="0"/>
                <a:ea typeface="Calibri" pitchFamily="34" charset="-122"/>
                <a:cs typeface="Calibri" pitchFamily="34" charset="-120"/>
              </a:rPr>
              <a:t>baik</a:t>
            </a:r>
            <a:r>
              <a:rPr lang="en-US" sz="1700" b="1" dirty="0">
                <a:solidFill>
                  <a:srgbClr val="1B2640"/>
                </a:solidFill>
                <a:latin typeface="Calibri" pitchFamily="34" charset="0"/>
                <a:ea typeface="Calibri" pitchFamily="34" charset="-122"/>
                <a:cs typeface="Calibri" pitchFamily="34" charset="-120"/>
              </a:rPr>
              <a:t> </a:t>
            </a:r>
            <a:r>
              <a:rPr lang="en-US" sz="1700" b="1" dirty="0" err="1">
                <a:solidFill>
                  <a:srgbClr val="1B2640"/>
                </a:solidFill>
                <a:latin typeface="Calibri" pitchFamily="34" charset="0"/>
                <a:ea typeface="Calibri" pitchFamily="34" charset="-122"/>
                <a:cs typeface="Calibri" pitchFamily="34" charset="-120"/>
              </a:rPr>
              <a:t>berisiko</a:t>
            </a:r>
            <a:r>
              <a:rPr lang="en-US" sz="1700" b="1" dirty="0">
                <a:solidFill>
                  <a:srgbClr val="1B2640"/>
                </a:solidFill>
                <a:latin typeface="Calibri" pitchFamily="34" charset="0"/>
                <a:ea typeface="Calibri" pitchFamily="34" charset="-122"/>
                <a:cs typeface="Calibri" pitchFamily="34" charset="-120"/>
              </a:rPr>
              <a:t> </a:t>
            </a:r>
            <a:r>
              <a:rPr lang="en-US" sz="1700" b="1" dirty="0" err="1">
                <a:solidFill>
                  <a:srgbClr val="1B2640"/>
                </a:solidFill>
                <a:latin typeface="Calibri" pitchFamily="34" charset="0"/>
                <a:ea typeface="Calibri" pitchFamily="34" charset="-122"/>
                <a:cs typeface="Calibri" pitchFamily="34" charset="-120"/>
              </a:rPr>
              <a:t>memicu</a:t>
            </a:r>
            <a:r>
              <a:rPr lang="en-US" sz="1700" b="1" dirty="0">
                <a:solidFill>
                  <a:srgbClr val="1B2640"/>
                </a:solidFill>
                <a:latin typeface="Calibri" pitchFamily="34" charset="0"/>
                <a:ea typeface="Calibri" pitchFamily="34" charset="-122"/>
                <a:cs typeface="Calibri" pitchFamily="34" charset="-120"/>
              </a:rPr>
              <a:t> lost update dan oversell</a:t>
            </a:r>
            <a:endParaRPr lang="en-US" sz="1600" dirty="0"/>
          </a:p>
        </p:txBody>
      </p:sp>
      <p:sp>
        <p:nvSpPr>
          <p:cNvPr id="16" name="m3"/>
          <p:cNvSpPr/>
          <p:nvPr/>
        </p:nvSpPr>
        <p:spPr>
          <a:xfrm>
            <a:off x="548640" y="4151376"/>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7" name="Shape 14"/>
          <p:cNvSpPr/>
          <p:nvPr/>
        </p:nvSpPr>
        <p:spPr>
          <a:xfrm>
            <a:off x="731520" y="4306824"/>
            <a:ext cx="438912" cy="438912"/>
          </a:xfrm>
          <a:prstGeom prst="ellipse">
            <a:avLst/>
          </a:prstGeom>
          <a:solidFill>
            <a:srgbClr val="12284C"/>
          </a:solidFill>
          <a:ln w="12700">
            <a:solidFill>
              <a:srgbClr val="12284C"/>
            </a:solidFill>
            <a:prstDash val="solid"/>
          </a:ln>
        </p:spPr>
        <p:txBody>
          <a:bodyPr/>
          <a:lstStyle/>
          <a:p>
            <a:endParaRPr/>
          </a:p>
        </p:txBody>
      </p:sp>
      <p:sp>
        <p:nvSpPr>
          <p:cNvPr id="18" name="Text 15"/>
          <p:cNvSpPr txBox="1"/>
          <p:nvPr/>
        </p:nvSpPr>
        <p:spPr>
          <a:xfrm>
            <a:off x="731520" y="4306824"/>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6"/>
          <p:cNvSpPr txBox="1"/>
          <p:nvPr/>
        </p:nvSpPr>
        <p:spPr>
          <a:xfrm>
            <a:off x="1371600" y="4151376"/>
            <a:ext cx="4114800" cy="749808"/>
          </a:xfrm>
          <a:prstGeom prst="rect">
            <a:avLst/>
          </a:prstGeom>
          <a:noFill/>
          <a:ln/>
        </p:spPr>
        <p:txBody>
          <a:bodyPr wrap="square" lIns="0" tIns="0" rIns="0" bIns="0" rtlCol="0" anchor="ctr"/>
          <a:lstStyle/>
          <a:p>
            <a:pPr marL="0" indent="0">
              <a:buNone/>
            </a:pPr>
            <a:r>
              <a:rPr lang="en-US" sz="1700" dirty="0">
                <a:solidFill>
                  <a:srgbClr val="1B2640"/>
                </a:solidFill>
                <a:latin typeface="Calibri" pitchFamily="34" charset="0"/>
                <a:ea typeface="Calibri" pitchFamily="34" charset="-122"/>
                <a:cs typeface="Calibri" pitchFamily="34" charset="-120"/>
              </a:rPr>
              <a:t>Belum ada dasbor monitoring terpadu</a:t>
            </a:r>
            <a:endParaRPr lang="en-US" sz="1600" dirty="0"/>
          </a:p>
        </p:txBody>
      </p:sp>
      <p:sp>
        <p:nvSpPr>
          <p:cNvPr id="20" name="m4"/>
          <p:cNvSpPr/>
          <p:nvPr/>
        </p:nvSpPr>
        <p:spPr>
          <a:xfrm>
            <a:off x="548640" y="5047488"/>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21" name="Shape 18"/>
          <p:cNvSpPr/>
          <p:nvPr/>
        </p:nvSpPr>
        <p:spPr>
          <a:xfrm>
            <a:off x="731520" y="5202936"/>
            <a:ext cx="438912" cy="438912"/>
          </a:xfrm>
          <a:prstGeom prst="ellipse">
            <a:avLst/>
          </a:prstGeom>
          <a:solidFill>
            <a:srgbClr val="12284C"/>
          </a:solidFill>
          <a:ln w="12700">
            <a:solidFill>
              <a:srgbClr val="12284C"/>
            </a:solidFill>
            <a:prstDash val="solid"/>
          </a:ln>
        </p:spPr>
        <p:txBody>
          <a:bodyPr/>
          <a:lstStyle/>
          <a:p>
            <a:endParaRPr/>
          </a:p>
        </p:txBody>
      </p:sp>
      <p:sp>
        <p:nvSpPr>
          <p:cNvPr id="22" name="Text 19"/>
          <p:cNvSpPr txBox="1"/>
          <p:nvPr/>
        </p:nvSpPr>
        <p:spPr>
          <a:xfrm>
            <a:off x="731520" y="5202936"/>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5</a:t>
            </a:r>
            <a:endParaRPr lang="en-US" sz="1600" dirty="0"/>
          </a:p>
        </p:txBody>
      </p:sp>
      <p:sp>
        <p:nvSpPr>
          <p:cNvPr id="23" name="Text 20"/>
          <p:cNvSpPr txBox="1"/>
          <p:nvPr/>
        </p:nvSpPr>
        <p:spPr>
          <a:xfrm>
            <a:off x="1371600" y="5047488"/>
            <a:ext cx="4114800" cy="749808"/>
          </a:xfrm>
          <a:prstGeom prst="rect">
            <a:avLst/>
          </a:prstGeom>
          <a:noFill/>
          <a:ln/>
        </p:spPr>
        <p:txBody>
          <a:bodyPr wrap="square" lIns="0" tIns="0" rIns="0" bIns="0" rtlCol="0" anchor="ctr"/>
          <a:lstStyle/>
          <a:p>
            <a:pPr marL="0" indent="0">
              <a:buNone/>
            </a:pPr>
            <a:r>
              <a:rPr lang="en-US" sz="1700" dirty="0">
                <a:solidFill>
                  <a:srgbClr val="1B2640"/>
                </a:solidFill>
                <a:latin typeface="Calibri" pitchFamily="34" charset="0"/>
                <a:ea typeface="Calibri" pitchFamily="34" charset="-122"/>
                <a:cs typeface="Calibri" pitchFamily="34" charset="-120"/>
              </a:rPr>
              <a:t>Konsekuensi tiap arsitektur belum diketahui sebelum dibandingkan</a:t>
            </a:r>
            <a:endParaRPr lang="en-US" sz="1600" dirty="0"/>
          </a:p>
        </p:txBody>
      </p:sp>
      <p:sp>
        <p:nvSpPr>
          <p:cNvPr id="24" name="race"/>
          <p:cNvSpPr/>
          <p:nvPr/>
        </p:nvSpPr>
        <p:spPr>
          <a:xfrm>
            <a:off x="5852160" y="1463040"/>
            <a:ext cx="5760720" cy="438912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25" name="Text 22"/>
          <p:cNvSpPr txBox="1"/>
          <p:nvPr/>
        </p:nvSpPr>
        <p:spPr>
          <a:xfrm>
            <a:off x="6126480" y="1600200"/>
            <a:ext cx="5303520" cy="365760"/>
          </a:xfrm>
          <a:prstGeom prst="rect">
            <a:avLst/>
          </a:prstGeom>
          <a:noFill/>
          <a:ln/>
        </p:spPr>
        <p:txBody>
          <a:bodyPr wrap="square" lIns="0" tIns="0" rIns="0" bIns="0" rtlCol="0" anchor="t"/>
          <a:lstStyle/>
          <a:p>
            <a:pPr marL="0" indent="0">
              <a:buNone/>
            </a:pPr>
            <a:r>
              <a:rPr lang="en-US" sz="1800" b="1" dirty="0" err="1">
                <a:solidFill>
                  <a:srgbClr val="12284C"/>
                </a:solidFill>
                <a:latin typeface="Calibri" pitchFamily="34" charset="0"/>
                <a:ea typeface="Calibri" pitchFamily="34" charset="-122"/>
                <a:cs typeface="Calibri" pitchFamily="34" charset="-120"/>
              </a:rPr>
              <a:t>Skenario</a:t>
            </a:r>
            <a:r>
              <a:rPr lang="en-US" sz="1800" b="1" dirty="0">
                <a:solidFill>
                  <a:srgbClr val="12284C"/>
                </a:solidFill>
                <a:latin typeface="Calibri" pitchFamily="34" charset="0"/>
                <a:ea typeface="Calibri" pitchFamily="34" charset="-122"/>
                <a:cs typeface="Calibri" pitchFamily="34" charset="-120"/>
              </a:rPr>
              <a:t> uji </a:t>
            </a:r>
            <a:r>
              <a:rPr lang="en-US" sz="1800" b="1" dirty="0" err="1">
                <a:solidFill>
                  <a:srgbClr val="12284C"/>
                </a:solidFill>
                <a:latin typeface="Calibri" pitchFamily="34" charset="0"/>
                <a:ea typeface="Calibri" pitchFamily="34" charset="-122"/>
                <a:cs typeface="Calibri" pitchFamily="34" charset="-120"/>
              </a:rPr>
              <a:t>utama</a:t>
            </a:r>
            <a:r>
              <a:rPr lang="en-US" b="1" dirty="0">
                <a:solidFill>
                  <a:srgbClr val="12284C"/>
                </a:solidFill>
                <a:latin typeface="Calibri" pitchFamily="34" charset="0"/>
                <a:ea typeface="Calibri" pitchFamily="34" charset="-122"/>
                <a:cs typeface="Calibri" pitchFamily="34" charset="-120"/>
              </a:rPr>
              <a:t>: </a:t>
            </a:r>
            <a:r>
              <a:rPr lang="en-US" sz="1800" b="1" dirty="0" err="1">
                <a:solidFill>
                  <a:srgbClr val="12284C"/>
                </a:solidFill>
                <a:latin typeface="Calibri" pitchFamily="34" charset="0"/>
                <a:ea typeface="Calibri" pitchFamily="34" charset="-122"/>
                <a:cs typeface="Calibri" pitchFamily="34" charset="-120"/>
              </a:rPr>
              <a:t>Ilustrasi</a:t>
            </a:r>
            <a:r>
              <a:rPr lang="en-US" sz="1800" b="1" dirty="0">
                <a:solidFill>
                  <a:srgbClr val="12284C"/>
                </a:solidFill>
                <a:latin typeface="Calibri" pitchFamily="34" charset="0"/>
                <a:ea typeface="Calibri" pitchFamily="34" charset="-122"/>
                <a:cs typeface="Calibri" pitchFamily="34" charset="-120"/>
              </a:rPr>
              <a:t> sederhana perebutan stok</a:t>
            </a:r>
            <a:endParaRPr lang="en-US" sz="1800" dirty="0"/>
          </a:p>
        </p:txBody>
      </p:sp>
      <p:sp>
        <p:nvSpPr>
          <p:cNvPr id="26" name="Text 23"/>
          <p:cNvSpPr txBox="1"/>
          <p:nvPr/>
        </p:nvSpPr>
        <p:spPr>
          <a:xfrm>
            <a:off x="6126480" y="1965960"/>
            <a:ext cx="5303520" cy="274320"/>
          </a:xfrm>
          <a:prstGeom prst="rect">
            <a:avLst/>
          </a:prstGeom>
          <a:noFill/>
          <a:ln/>
        </p:spPr>
        <p:txBody>
          <a:bodyPr wrap="square" lIns="0" tIns="0" rIns="0" bIns="0" rtlCol="0" anchor="t"/>
          <a:lstStyle/>
          <a:p>
            <a:pPr marL="0" indent="0">
              <a:buNone/>
            </a:pPr>
            <a:r>
              <a:rPr lang="en-US" sz="1600" dirty="0">
                <a:solidFill>
                  <a:srgbClr val="4D5D78"/>
                </a:solidFill>
                <a:latin typeface="Calibri" pitchFamily="34" charset="0"/>
                <a:ea typeface="Calibri" pitchFamily="34" charset="-122"/>
                <a:cs typeface="Calibri" pitchFamily="34" charset="-120"/>
              </a:rPr>
              <a:t>Stok di basis data = 1. A dan B membaca nilai yang sama</a:t>
            </a:r>
            <a:endParaRPr lang="en-US" sz="1600" dirty="0"/>
          </a:p>
        </p:txBody>
      </p:sp>
      <p:sp>
        <p:nvSpPr>
          <p:cNvPr id="27" name="Shape 24"/>
          <p:cNvSpPr/>
          <p:nvPr/>
        </p:nvSpPr>
        <p:spPr>
          <a:xfrm>
            <a:off x="6126480" y="2377440"/>
            <a:ext cx="2468880" cy="45720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28" name="Text 25"/>
          <p:cNvSpPr txBox="1"/>
          <p:nvPr/>
        </p:nvSpPr>
        <p:spPr>
          <a:xfrm>
            <a:off x="6126480" y="2377440"/>
            <a:ext cx="246888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Kasir A</a:t>
            </a:r>
            <a:endParaRPr lang="en-US" sz="1700" dirty="0"/>
          </a:p>
        </p:txBody>
      </p:sp>
      <p:sp>
        <p:nvSpPr>
          <p:cNvPr id="29" name="Shape 26"/>
          <p:cNvSpPr/>
          <p:nvPr/>
        </p:nvSpPr>
        <p:spPr>
          <a:xfrm>
            <a:off x="6126480" y="2971800"/>
            <a:ext cx="2468880" cy="365760"/>
          </a:xfrm>
          <a:prstGeom prst="roundRect">
            <a:avLst>
              <a:gd name="adj" fmla="val 12500"/>
            </a:avLst>
          </a:prstGeom>
          <a:solidFill>
            <a:srgbClr val="FFFFFF"/>
          </a:solidFill>
          <a:ln w="12700">
            <a:solidFill>
              <a:srgbClr val="D5DEEC"/>
            </a:solidFill>
            <a:prstDash val="solid"/>
          </a:ln>
        </p:spPr>
        <p:txBody>
          <a:bodyPr/>
          <a:lstStyle/>
          <a:p>
            <a:endParaRPr/>
          </a:p>
        </p:txBody>
      </p:sp>
      <p:sp>
        <p:nvSpPr>
          <p:cNvPr id="30" name="Text 27"/>
          <p:cNvSpPr txBox="1"/>
          <p:nvPr/>
        </p:nvSpPr>
        <p:spPr>
          <a:xfrm>
            <a:off x="6126480" y="2971800"/>
            <a:ext cx="2468880" cy="365760"/>
          </a:xfrm>
          <a:prstGeom prst="rect">
            <a:avLst/>
          </a:prstGeom>
          <a:noFill/>
          <a:ln/>
        </p:spPr>
        <p:txBody>
          <a:bodyPr wrap="square" lIns="0" tIns="0" rIns="0" bIns="0" rtlCol="0" anchor="ctr"/>
          <a:lstStyle/>
          <a:p>
            <a:pPr marL="0" indent="0" algn="ctr">
              <a:buNone/>
            </a:pPr>
            <a:r>
              <a:rPr lang="en-US" sz="1500" dirty="0">
                <a:solidFill>
                  <a:srgbClr val="1B2640"/>
                </a:solidFill>
                <a:latin typeface="Calibri" pitchFamily="34" charset="0"/>
                <a:ea typeface="Calibri" pitchFamily="34" charset="-122"/>
                <a:cs typeface="Calibri" pitchFamily="34" charset="-120"/>
              </a:rPr>
              <a:t>Baca stok = 1</a:t>
            </a:r>
            <a:endParaRPr lang="en-US" sz="1600" dirty="0"/>
          </a:p>
        </p:txBody>
      </p:sp>
      <p:sp>
        <p:nvSpPr>
          <p:cNvPr id="31" name="Shape 28"/>
          <p:cNvSpPr/>
          <p:nvPr/>
        </p:nvSpPr>
        <p:spPr>
          <a:xfrm>
            <a:off x="6126480" y="3429000"/>
            <a:ext cx="2468880" cy="365760"/>
          </a:xfrm>
          <a:prstGeom prst="roundRect">
            <a:avLst>
              <a:gd name="adj" fmla="val 12500"/>
            </a:avLst>
          </a:prstGeom>
          <a:solidFill>
            <a:srgbClr val="FFFFFF"/>
          </a:solidFill>
          <a:ln w="12700">
            <a:solidFill>
              <a:srgbClr val="D5DEEC"/>
            </a:solidFill>
            <a:prstDash val="solid"/>
          </a:ln>
        </p:spPr>
        <p:txBody>
          <a:bodyPr/>
          <a:lstStyle/>
          <a:p>
            <a:endParaRPr/>
          </a:p>
        </p:txBody>
      </p:sp>
      <p:sp>
        <p:nvSpPr>
          <p:cNvPr id="32" name="Text 29"/>
          <p:cNvSpPr txBox="1"/>
          <p:nvPr/>
        </p:nvSpPr>
        <p:spPr>
          <a:xfrm>
            <a:off x="6126480" y="3429000"/>
            <a:ext cx="2468880" cy="365760"/>
          </a:xfrm>
          <a:prstGeom prst="rect">
            <a:avLst/>
          </a:prstGeom>
          <a:noFill/>
          <a:ln/>
        </p:spPr>
        <p:txBody>
          <a:bodyPr wrap="square" lIns="0" tIns="0" rIns="0" bIns="0" rtlCol="0" anchor="ctr"/>
          <a:lstStyle/>
          <a:p>
            <a:pPr marL="0" indent="0" algn="ctr">
              <a:buNone/>
            </a:pPr>
            <a:r>
              <a:rPr lang="en-US" sz="1500" dirty="0">
                <a:solidFill>
                  <a:srgbClr val="1B2640"/>
                </a:solidFill>
                <a:latin typeface="Calibri" pitchFamily="34" charset="0"/>
                <a:ea typeface="Calibri" pitchFamily="34" charset="-122"/>
                <a:cs typeface="Calibri" pitchFamily="34" charset="-120"/>
              </a:rPr>
              <a:t>Jual 1 → </a:t>
            </a:r>
            <a:r>
              <a:rPr lang="en-US" sz="1500" dirty="0" err="1">
                <a:solidFill>
                  <a:srgbClr val="1B2640"/>
                </a:solidFill>
                <a:latin typeface="Calibri" pitchFamily="34" charset="0"/>
                <a:ea typeface="Calibri" pitchFamily="34" charset="-122"/>
                <a:cs typeface="Calibri" pitchFamily="34" charset="-120"/>
              </a:rPr>
              <a:t>stok</a:t>
            </a:r>
            <a:r>
              <a:rPr lang="en-US" sz="1500" dirty="0">
                <a:solidFill>
                  <a:srgbClr val="1B2640"/>
                </a:solidFill>
                <a:latin typeface="Calibri" pitchFamily="34" charset="0"/>
                <a:ea typeface="Calibri" pitchFamily="34" charset="-122"/>
                <a:cs typeface="Calibri" pitchFamily="34" charset="-120"/>
              </a:rPr>
              <a:t> </a:t>
            </a:r>
            <a:r>
              <a:rPr lang="en-US" sz="1500" dirty="0" err="1">
                <a:solidFill>
                  <a:srgbClr val="1B2640"/>
                </a:solidFill>
                <a:latin typeface="Calibri" pitchFamily="34" charset="0"/>
                <a:ea typeface="Calibri" pitchFamily="34" charset="-122"/>
                <a:cs typeface="Calibri" pitchFamily="34" charset="-120"/>
              </a:rPr>
              <a:t>menjadi</a:t>
            </a:r>
            <a:r>
              <a:rPr lang="en-US" sz="1500" dirty="0">
                <a:solidFill>
                  <a:srgbClr val="1B2640"/>
                </a:solidFill>
                <a:latin typeface="Calibri" pitchFamily="34" charset="0"/>
                <a:ea typeface="Calibri" pitchFamily="34" charset="-122"/>
                <a:cs typeface="Calibri" pitchFamily="34" charset="-120"/>
              </a:rPr>
              <a:t> 0</a:t>
            </a:r>
            <a:endParaRPr lang="en-US" sz="1600" dirty="0"/>
          </a:p>
        </p:txBody>
      </p:sp>
      <p:sp>
        <p:nvSpPr>
          <p:cNvPr id="33" name="Shape 30"/>
          <p:cNvSpPr/>
          <p:nvPr/>
        </p:nvSpPr>
        <p:spPr>
          <a:xfrm>
            <a:off x="6126480" y="3886200"/>
            <a:ext cx="2468880" cy="365760"/>
          </a:xfrm>
          <a:prstGeom prst="roundRect">
            <a:avLst>
              <a:gd name="adj" fmla="val 12500"/>
            </a:avLst>
          </a:prstGeom>
          <a:solidFill>
            <a:srgbClr val="FAF3D7"/>
          </a:solidFill>
          <a:ln w="19050">
            <a:solidFill>
              <a:srgbClr val="8B6300"/>
            </a:solidFill>
            <a:prstDash val="solid"/>
          </a:ln>
        </p:spPr>
        <p:txBody>
          <a:bodyPr/>
          <a:lstStyle/>
          <a:p>
            <a:endParaRPr/>
          </a:p>
        </p:txBody>
      </p:sp>
      <p:sp>
        <p:nvSpPr>
          <p:cNvPr id="34" name="Text 31"/>
          <p:cNvSpPr txBox="1"/>
          <p:nvPr/>
        </p:nvSpPr>
        <p:spPr>
          <a:xfrm>
            <a:off x="6126480" y="3886200"/>
            <a:ext cx="2468880" cy="365760"/>
          </a:xfrm>
          <a:prstGeom prst="rect">
            <a:avLst/>
          </a:prstGeom>
          <a:noFill/>
          <a:ln/>
        </p:spPr>
        <p:txBody>
          <a:bodyPr wrap="square" lIns="0" tIns="0" rIns="0" bIns="0" rtlCol="0" anchor="ctr"/>
          <a:lstStyle/>
          <a:p>
            <a:pPr marL="0" indent="0" algn="ctr">
              <a:buNone/>
            </a:pPr>
            <a:r>
              <a:rPr lang="en-US" sz="1500" b="1" dirty="0">
                <a:solidFill>
                  <a:srgbClr val="8B6300"/>
                </a:solidFill>
                <a:latin typeface="Calibri" pitchFamily="34" charset="0"/>
                <a:ea typeface="Calibri" pitchFamily="34" charset="-122"/>
                <a:cs typeface="Calibri" pitchFamily="34" charset="-120"/>
              </a:rPr>
              <a:t>Simpan 0</a:t>
            </a:r>
            <a:endParaRPr lang="en-US" sz="1600" dirty="0"/>
          </a:p>
        </p:txBody>
      </p:sp>
      <p:sp>
        <p:nvSpPr>
          <p:cNvPr id="35" name="Shape 32"/>
          <p:cNvSpPr/>
          <p:nvPr/>
        </p:nvSpPr>
        <p:spPr>
          <a:xfrm>
            <a:off x="8869680" y="2377440"/>
            <a:ext cx="2468880" cy="45720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36" name="Text 33"/>
          <p:cNvSpPr txBox="1"/>
          <p:nvPr/>
        </p:nvSpPr>
        <p:spPr>
          <a:xfrm>
            <a:off x="8869680" y="2377440"/>
            <a:ext cx="246888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Kasir B</a:t>
            </a:r>
            <a:endParaRPr lang="en-US" sz="1700" dirty="0"/>
          </a:p>
        </p:txBody>
      </p:sp>
      <p:sp>
        <p:nvSpPr>
          <p:cNvPr id="37" name="Shape 34"/>
          <p:cNvSpPr/>
          <p:nvPr/>
        </p:nvSpPr>
        <p:spPr>
          <a:xfrm>
            <a:off x="8869680" y="2971800"/>
            <a:ext cx="2468880" cy="365760"/>
          </a:xfrm>
          <a:prstGeom prst="roundRect">
            <a:avLst>
              <a:gd name="adj" fmla="val 12500"/>
            </a:avLst>
          </a:prstGeom>
          <a:solidFill>
            <a:srgbClr val="FFFFFF"/>
          </a:solidFill>
          <a:ln w="12700">
            <a:solidFill>
              <a:srgbClr val="D5DEEC"/>
            </a:solidFill>
            <a:prstDash val="solid"/>
          </a:ln>
        </p:spPr>
        <p:txBody>
          <a:bodyPr/>
          <a:lstStyle/>
          <a:p>
            <a:endParaRPr/>
          </a:p>
        </p:txBody>
      </p:sp>
      <p:sp>
        <p:nvSpPr>
          <p:cNvPr id="38" name="Text 35"/>
          <p:cNvSpPr txBox="1"/>
          <p:nvPr/>
        </p:nvSpPr>
        <p:spPr>
          <a:xfrm>
            <a:off x="8869680" y="2971800"/>
            <a:ext cx="2468880" cy="365760"/>
          </a:xfrm>
          <a:prstGeom prst="rect">
            <a:avLst/>
          </a:prstGeom>
          <a:noFill/>
          <a:ln/>
        </p:spPr>
        <p:txBody>
          <a:bodyPr wrap="square" lIns="0" tIns="0" rIns="0" bIns="0" rtlCol="0" anchor="ctr"/>
          <a:lstStyle/>
          <a:p>
            <a:pPr marL="0" indent="0" algn="ctr">
              <a:buNone/>
            </a:pPr>
            <a:r>
              <a:rPr lang="en-US" sz="1500" dirty="0">
                <a:solidFill>
                  <a:srgbClr val="1B2640"/>
                </a:solidFill>
                <a:latin typeface="Calibri" pitchFamily="34" charset="0"/>
                <a:ea typeface="Calibri" pitchFamily="34" charset="-122"/>
                <a:cs typeface="Calibri" pitchFamily="34" charset="-120"/>
              </a:rPr>
              <a:t>Baca stok = 1 (sama)</a:t>
            </a:r>
            <a:endParaRPr lang="en-US" sz="1600" dirty="0"/>
          </a:p>
        </p:txBody>
      </p:sp>
      <p:sp>
        <p:nvSpPr>
          <p:cNvPr id="39" name="Shape 36"/>
          <p:cNvSpPr/>
          <p:nvPr/>
        </p:nvSpPr>
        <p:spPr>
          <a:xfrm>
            <a:off x="8869680" y="3429000"/>
            <a:ext cx="2468880" cy="365760"/>
          </a:xfrm>
          <a:prstGeom prst="roundRect">
            <a:avLst>
              <a:gd name="adj" fmla="val 12500"/>
            </a:avLst>
          </a:prstGeom>
          <a:solidFill>
            <a:srgbClr val="FFFFFF"/>
          </a:solidFill>
          <a:ln w="12700">
            <a:solidFill>
              <a:srgbClr val="D5DEEC"/>
            </a:solidFill>
            <a:prstDash val="solid"/>
          </a:ln>
        </p:spPr>
        <p:txBody>
          <a:bodyPr/>
          <a:lstStyle/>
          <a:p>
            <a:endParaRPr/>
          </a:p>
        </p:txBody>
      </p:sp>
      <p:sp>
        <p:nvSpPr>
          <p:cNvPr id="40" name="Text 37"/>
          <p:cNvSpPr txBox="1"/>
          <p:nvPr/>
        </p:nvSpPr>
        <p:spPr>
          <a:xfrm>
            <a:off x="8869680" y="3429000"/>
            <a:ext cx="2468880" cy="365760"/>
          </a:xfrm>
          <a:prstGeom prst="rect">
            <a:avLst/>
          </a:prstGeom>
          <a:noFill/>
          <a:ln/>
        </p:spPr>
        <p:txBody>
          <a:bodyPr wrap="square" lIns="0" tIns="0" rIns="0" bIns="0" rtlCol="0" anchor="ctr"/>
          <a:lstStyle/>
          <a:p>
            <a:pPr marL="0" indent="0" algn="ctr">
              <a:buNone/>
            </a:pPr>
            <a:r>
              <a:rPr lang="en-US" sz="1500" dirty="0">
                <a:solidFill>
                  <a:srgbClr val="1B2640"/>
                </a:solidFill>
                <a:latin typeface="Calibri" pitchFamily="34" charset="0"/>
                <a:ea typeface="Calibri" pitchFamily="34" charset="-122"/>
                <a:cs typeface="Calibri" pitchFamily="34" charset="-120"/>
              </a:rPr>
              <a:t>Jual 1 → </a:t>
            </a:r>
            <a:r>
              <a:rPr lang="en-US" sz="1500" dirty="0" err="1">
                <a:solidFill>
                  <a:srgbClr val="1B2640"/>
                </a:solidFill>
                <a:latin typeface="Calibri" pitchFamily="34" charset="0"/>
                <a:ea typeface="Calibri" pitchFamily="34" charset="-122"/>
                <a:cs typeface="Calibri" pitchFamily="34" charset="-120"/>
              </a:rPr>
              <a:t>stok</a:t>
            </a:r>
            <a:r>
              <a:rPr lang="en-US" sz="1500" dirty="0">
                <a:solidFill>
                  <a:srgbClr val="1B2640"/>
                </a:solidFill>
                <a:latin typeface="Calibri" pitchFamily="34" charset="0"/>
                <a:ea typeface="Calibri" pitchFamily="34" charset="-122"/>
                <a:cs typeface="Calibri" pitchFamily="34" charset="-120"/>
              </a:rPr>
              <a:t> </a:t>
            </a:r>
            <a:r>
              <a:rPr lang="en-US" sz="1500" dirty="0" err="1">
                <a:solidFill>
                  <a:srgbClr val="1B2640"/>
                </a:solidFill>
                <a:latin typeface="Calibri" pitchFamily="34" charset="0"/>
                <a:ea typeface="Calibri" pitchFamily="34" charset="-122"/>
                <a:cs typeface="Calibri" pitchFamily="34" charset="-120"/>
              </a:rPr>
              <a:t>menjadi</a:t>
            </a:r>
            <a:r>
              <a:rPr lang="en-US" sz="1500" dirty="0">
                <a:solidFill>
                  <a:srgbClr val="1B2640"/>
                </a:solidFill>
                <a:latin typeface="Calibri" pitchFamily="34" charset="0"/>
                <a:ea typeface="Calibri" pitchFamily="34" charset="-122"/>
                <a:cs typeface="Calibri" pitchFamily="34" charset="-120"/>
              </a:rPr>
              <a:t> 0</a:t>
            </a:r>
            <a:endParaRPr lang="en-US" sz="1600" dirty="0"/>
          </a:p>
        </p:txBody>
      </p:sp>
      <p:sp>
        <p:nvSpPr>
          <p:cNvPr id="41" name="Shape 38"/>
          <p:cNvSpPr/>
          <p:nvPr/>
        </p:nvSpPr>
        <p:spPr>
          <a:xfrm>
            <a:off x="8869680" y="3886200"/>
            <a:ext cx="2468880" cy="365760"/>
          </a:xfrm>
          <a:prstGeom prst="roundRect">
            <a:avLst>
              <a:gd name="adj" fmla="val 12500"/>
            </a:avLst>
          </a:prstGeom>
          <a:solidFill>
            <a:srgbClr val="FAF3D7"/>
          </a:solidFill>
          <a:ln w="19050">
            <a:solidFill>
              <a:srgbClr val="8B6300"/>
            </a:solidFill>
            <a:prstDash val="solid"/>
          </a:ln>
        </p:spPr>
        <p:txBody>
          <a:bodyPr/>
          <a:lstStyle/>
          <a:p>
            <a:endParaRPr/>
          </a:p>
        </p:txBody>
      </p:sp>
      <p:sp>
        <p:nvSpPr>
          <p:cNvPr id="42" name="Text 39"/>
          <p:cNvSpPr txBox="1"/>
          <p:nvPr/>
        </p:nvSpPr>
        <p:spPr>
          <a:xfrm>
            <a:off x="8869680" y="3886200"/>
            <a:ext cx="2468880" cy="365760"/>
          </a:xfrm>
          <a:prstGeom prst="rect">
            <a:avLst/>
          </a:prstGeom>
          <a:noFill/>
          <a:ln/>
        </p:spPr>
        <p:txBody>
          <a:bodyPr wrap="square" lIns="0" tIns="0" rIns="0" bIns="0" rtlCol="0" anchor="ctr"/>
          <a:lstStyle/>
          <a:p>
            <a:pPr marL="0" indent="0" algn="ctr">
              <a:buNone/>
            </a:pPr>
            <a:r>
              <a:rPr lang="en-US" sz="1500" b="1" dirty="0">
                <a:solidFill>
                  <a:srgbClr val="8B6300"/>
                </a:solidFill>
                <a:latin typeface="Calibri" pitchFamily="34" charset="0"/>
                <a:ea typeface="Calibri" pitchFamily="34" charset="-122"/>
                <a:cs typeface="Calibri" pitchFamily="34" charset="-120"/>
              </a:rPr>
              <a:t>Simpan 0</a:t>
            </a:r>
            <a:endParaRPr lang="en-US" sz="1600" dirty="0"/>
          </a:p>
        </p:txBody>
      </p:sp>
      <p:sp>
        <p:nvSpPr>
          <p:cNvPr id="43" name="hasil"/>
          <p:cNvSpPr/>
          <p:nvPr/>
        </p:nvSpPr>
        <p:spPr>
          <a:xfrm>
            <a:off x="6126480" y="4480560"/>
            <a:ext cx="5212080" cy="1188720"/>
          </a:xfrm>
          <a:prstGeom prst="roundRect">
            <a:avLst>
              <a:gd name="adj" fmla="val 14000"/>
            </a:avLst>
          </a:prstGeom>
          <a:solidFill>
            <a:srgbClr val="FFFFFF"/>
          </a:solidFill>
          <a:ln w="9525">
            <a:solidFill>
              <a:srgbClr val="FFFFFF"/>
            </a:solidFill>
            <a:prstDash val="solid"/>
          </a:ln>
        </p:spPr>
        <p:txBody>
          <a:bodyPr/>
          <a:lstStyle/>
          <a:p>
            <a:endParaRPr/>
          </a:p>
        </p:txBody>
      </p:sp>
      <p:sp>
        <p:nvSpPr>
          <p:cNvPr id="44" name="Text 41"/>
          <p:cNvSpPr txBox="1"/>
          <p:nvPr/>
        </p:nvSpPr>
        <p:spPr>
          <a:xfrm>
            <a:off x="6355080" y="4572000"/>
            <a:ext cx="4846320" cy="1005840"/>
          </a:xfrm>
          <a:prstGeom prst="rect">
            <a:avLst/>
          </a:prstGeom>
          <a:noFill/>
          <a:ln/>
        </p:spPr>
        <p:txBody>
          <a:bodyPr wrap="square" lIns="0" tIns="0" rIns="0" bIns="0" rtlCol="0" anchor="ctr"/>
          <a:lstStyle/>
          <a:p>
            <a:pPr marL="0" indent="0">
              <a:spcAft>
                <a:spcPts val="400"/>
              </a:spcAft>
              <a:buNone/>
            </a:pPr>
            <a:r>
              <a:rPr lang="en-US" sz="1700" b="1" dirty="0">
                <a:solidFill>
                  <a:srgbClr val="8B6300"/>
                </a:solidFill>
                <a:latin typeface="Calibri" pitchFamily="34" charset="0"/>
                <a:ea typeface="Calibri" pitchFamily="34" charset="-122"/>
                <a:cs typeface="Calibri" pitchFamily="34" charset="-120"/>
              </a:rPr>
              <a:t>Oversell: </a:t>
            </a:r>
            <a:r>
              <a:rPr lang="en-US" sz="1700" dirty="0">
                <a:solidFill>
                  <a:srgbClr val="1B2640"/>
                </a:solidFill>
                <a:latin typeface="Calibri" pitchFamily="34" charset="0"/>
                <a:ea typeface="Calibri" pitchFamily="34" charset="-122"/>
                <a:cs typeface="Calibri" pitchFamily="34" charset="-120"/>
              </a:rPr>
              <a:t>2 unit terjual dari stok 1</a:t>
            </a:r>
            <a:endParaRPr lang="en-US" sz="1600" dirty="0"/>
          </a:p>
          <a:p>
            <a:pPr marL="0" indent="0">
              <a:spcAft>
                <a:spcPts val="400"/>
              </a:spcAft>
              <a:buNone/>
            </a:pPr>
            <a:r>
              <a:rPr lang="en-US" sz="1700" b="1" dirty="0">
                <a:solidFill>
                  <a:srgbClr val="8B6300"/>
                </a:solidFill>
                <a:latin typeface="Calibri" pitchFamily="34" charset="0"/>
                <a:ea typeface="Calibri" pitchFamily="34" charset="-122"/>
                <a:cs typeface="Calibri" pitchFamily="34" charset="-120"/>
              </a:rPr>
              <a:t>Lost update: </a:t>
            </a:r>
            <a:r>
              <a:rPr lang="en-US" sz="1700" dirty="0">
                <a:solidFill>
                  <a:srgbClr val="1B2640"/>
                </a:solidFill>
                <a:latin typeface="Calibri" pitchFamily="34" charset="0"/>
                <a:ea typeface="Calibri" pitchFamily="34" charset="-122"/>
                <a:cs typeface="Calibri" pitchFamily="34" charset="-120"/>
              </a:rPr>
              <a:t>pembaruan transaksi tidak seluruhnya tercermin pada stok akhir</a:t>
            </a:r>
            <a:endParaRPr lang="en-US" sz="1600" dirty="0"/>
          </a:p>
        </p:txBody>
      </p:sp>
      <p:sp>
        <p:nvSpPr>
          <p:cNvPr id="3"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3</a:t>
            </a:fld>
            <a:endParaRPr lang="en-US"/>
          </a:p>
        </p:txBody>
      </p:sp>
      <p:cxnSp>
        <p:nvCxnSpPr>
          <p:cNvPr id="45" name="Connector 44"/>
          <p:cNvCxnSpPr/>
          <p:nvPr/>
        </p:nvCxnSpPr>
        <p:spPr>
          <a:xfrm>
            <a:off x="8595360" y="4069080"/>
            <a:ext cx="274320" cy="0"/>
          </a:xfrm>
          <a:prstGeom prst="line">
            <a:avLst/>
          </a:prstGeom>
          <a:ln w="25400">
            <a:solidFill>
              <a:srgbClr val="8B6300"/>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Studi terdahulu membentuk dasar rancangan, tetapi dampak tiga kondisi arsitektur masih perlu diuji bersama</a:t>
            </a:r>
            <a:endParaRPr lang="en-US" sz="2800" dirty="0"/>
          </a:p>
        </p:txBody>
      </p:sp>
      <p:sp>
        <p:nvSpPr>
          <p:cNvPr id="4" name="lit0"/>
          <p:cNvSpPr/>
          <p:nvPr/>
        </p:nvSpPr>
        <p:spPr>
          <a:xfrm>
            <a:off x="548640" y="1463040"/>
            <a:ext cx="2606040" cy="34290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5" name="Text 2"/>
          <p:cNvSpPr txBox="1"/>
          <p:nvPr/>
        </p:nvSpPr>
        <p:spPr>
          <a:xfrm>
            <a:off x="731520" y="1600200"/>
            <a:ext cx="2286000" cy="365760"/>
          </a:xfrm>
          <a:prstGeom prst="rect">
            <a:avLst/>
          </a:prstGeom>
          <a:noFill/>
          <a:ln/>
        </p:spPr>
        <p:txBody>
          <a:bodyPr wrap="square" lIns="0" tIns="0" rIns="0" bIns="0" rtlCol="0" anchor="t"/>
          <a:lstStyle/>
          <a:p>
            <a:pPr marL="0" indent="0">
              <a:buNone/>
            </a:pPr>
            <a:r>
              <a:rPr lang="en-US" sz="1700" b="1" dirty="0">
                <a:solidFill>
                  <a:srgbClr val="12284C"/>
                </a:solidFill>
                <a:latin typeface="Calibri" pitchFamily="34" charset="0"/>
                <a:ea typeface="Calibri" pitchFamily="34" charset="-122"/>
                <a:cs typeface="Calibri" pitchFamily="34" charset="-120"/>
              </a:rPr>
              <a:t>Arsitektur dan migrasi</a:t>
            </a:r>
            <a:endParaRPr lang="en-US" sz="1600" dirty="0"/>
          </a:p>
        </p:txBody>
      </p:sp>
      <p:sp>
        <p:nvSpPr>
          <p:cNvPr id="6" name="Text 3"/>
          <p:cNvSpPr txBox="1"/>
          <p:nvPr/>
        </p:nvSpPr>
        <p:spPr>
          <a:xfrm>
            <a:off x="731520" y="2011680"/>
            <a:ext cx="2286000" cy="77724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Blinowski et al. (2022)</a:t>
            </a:r>
            <a:endParaRPr lang="en-US" sz="1300" dirty="0"/>
          </a:p>
          <a:p>
            <a:pPr marL="0" indent="0">
              <a:buNone/>
            </a:pPr>
            <a:r>
              <a:rPr lang="en-US" sz="1400" dirty="0">
                <a:solidFill>
                  <a:srgbClr val="4D5D78"/>
                </a:solidFill>
                <a:latin typeface="Calibri" pitchFamily="34" charset="0"/>
                <a:ea typeface="Calibri" pitchFamily="34" charset="-122"/>
                <a:cs typeface="Calibri" pitchFamily="34" charset="-120"/>
              </a:rPr>
              <a:t>Söylemez et al. (2022)</a:t>
            </a:r>
            <a:endParaRPr lang="en-US" sz="1300" dirty="0"/>
          </a:p>
          <a:p>
            <a:pPr marL="0" indent="0">
              <a:buNone/>
            </a:pPr>
            <a:r>
              <a:rPr lang="en-US" sz="1400" dirty="0">
                <a:solidFill>
                  <a:srgbClr val="4D5D78"/>
                </a:solidFill>
                <a:latin typeface="Calibri" pitchFamily="34" charset="0"/>
                <a:ea typeface="Calibri" pitchFamily="34" charset="-122"/>
                <a:cs typeface="Calibri" pitchFamily="34" charset="-120"/>
              </a:rPr>
              <a:t>Faustino et al. (2024)</a:t>
            </a:r>
            <a:endParaRPr lang="en-US" sz="1300" dirty="0"/>
          </a:p>
        </p:txBody>
      </p:sp>
      <p:sp>
        <p:nvSpPr>
          <p:cNvPr id="7" name="Text 4"/>
          <p:cNvSpPr txBox="1"/>
          <p:nvPr/>
        </p:nvSpPr>
        <p:spPr>
          <a:xfrm>
            <a:off x="731520" y="2834640"/>
            <a:ext cx="2286000" cy="1280160"/>
          </a:xfrm>
          <a:prstGeom prst="rect">
            <a:avLst/>
          </a:prstGeom>
          <a:noFill/>
          <a:ln/>
        </p:spPr>
        <p:txBody>
          <a:bodyPr wrap="square" lIns="0" tIns="0" rIns="0" bIns="0" rtlCol="0" anchor="t"/>
          <a:lstStyle/>
          <a:p>
            <a:pPr marL="0" indent="0">
              <a:buNone/>
            </a:pPr>
            <a:r>
              <a:rPr lang="en-US" sz="1500" dirty="0">
                <a:solidFill>
                  <a:srgbClr val="1B2640"/>
                </a:solidFill>
                <a:latin typeface="Calibri" pitchFamily="34" charset="0"/>
                <a:ea typeface="Calibri" pitchFamily="34" charset="-122"/>
                <a:cs typeface="Calibri" pitchFamily="34" charset="-120"/>
              </a:rPr>
              <a:t>Monolith dapat unggul pada beban tertentu. Konsistensi data dan operasi menjadi tantangan microservices. Migrasi memerlukan biaya.</a:t>
            </a:r>
            <a:endParaRPr lang="en-US" sz="1400" dirty="0"/>
          </a:p>
        </p:txBody>
      </p:sp>
      <p:sp>
        <p:nvSpPr>
          <p:cNvPr id="8" name="Text 5"/>
          <p:cNvSpPr txBox="1"/>
          <p:nvPr/>
        </p:nvSpPr>
        <p:spPr>
          <a:xfrm>
            <a:off x="731520" y="4251960"/>
            <a:ext cx="2286000" cy="502920"/>
          </a:xfrm>
          <a:prstGeom prst="rect">
            <a:avLst/>
          </a:prstGeom>
          <a:noFill/>
          <a:ln/>
        </p:spPr>
        <p:txBody>
          <a:bodyPr wrap="square" lIns="0" tIns="0" rIns="0" bIns="0" rtlCol="0" anchor="b"/>
          <a:lstStyle/>
          <a:p>
            <a:pPr marL="0" indent="0">
              <a:buNone/>
            </a:pPr>
            <a:r>
              <a:rPr lang="en-US" sz="1400" b="1" dirty="0">
                <a:solidFill>
                  <a:srgbClr val="12284C"/>
                </a:solidFill>
                <a:latin typeface="Calibri" pitchFamily="34" charset="0"/>
                <a:ea typeface="Calibri" pitchFamily="34" charset="-122"/>
                <a:cs typeface="Calibri" pitchFamily="34" charset="-120"/>
              </a:rPr>
              <a:t>Implikasi: monolith digunakan sebagai kondisi acuan</a:t>
            </a:r>
            <a:endParaRPr lang="en-US" sz="1300" dirty="0"/>
          </a:p>
        </p:txBody>
      </p:sp>
      <p:sp>
        <p:nvSpPr>
          <p:cNvPr id="9" name="lit1"/>
          <p:cNvSpPr/>
          <p:nvPr/>
        </p:nvSpPr>
        <p:spPr>
          <a:xfrm>
            <a:off x="3337560" y="1463040"/>
            <a:ext cx="2606040" cy="34290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0" name="Text 7"/>
          <p:cNvSpPr txBox="1"/>
          <p:nvPr/>
        </p:nvSpPr>
        <p:spPr>
          <a:xfrm>
            <a:off x="3520440" y="1600200"/>
            <a:ext cx="2286000" cy="365760"/>
          </a:xfrm>
          <a:prstGeom prst="rect">
            <a:avLst/>
          </a:prstGeom>
          <a:noFill/>
          <a:ln/>
        </p:spPr>
        <p:txBody>
          <a:bodyPr wrap="square" lIns="0" tIns="0" rIns="0" bIns="0" rtlCol="0" anchor="t"/>
          <a:lstStyle/>
          <a:p>
            <a:pPr marL="0" indent="0">
              <a:buNone/>
            </a:pPr>
            <a:r>
              <a:rPr lang="en-US" sz="1700" b="1" dirty="0">
                <a:solidFill>
                  <a:srgbClr val="12284C"/>
                </a:solidFill>
                <a:latin typeface="Calibri" pitchFamily="34" charset="0"/>
                <a:ea typeface="Calibri" pitchFamily="34" charset="-122"/>
                <a:cs typeface="Calibri" pitchFamily="34" charset="-120"/>
              </a:rPr>
              <a:t>Event dan konsistensi</a:t>
            </a:r>
            <a:endParaRPr lang="en-US" sz="1600" dirty="0"/>
          </a:p>
        </p:txBody>
      </p:sp>
      <p:sp>
        <p:nvSpPr>
          <p:cNvPr id="11" name="Text 8"/>
          <p:cNvSpPr txBox="1"/>
          <p:nvPr/>
        </p:nvSpPr>
        <p:spPr>
          <a:xfrm>
            <a:off x="3520440" y="2011680"/>
            <a:ext cx="2286000" cy="77724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Rochman &amp; Suartana (2026)</a:t>
            </a:r>
            <a:endParaRPr lang="en-US" sz="1300" dirty="0"/>
          </a:p>
          <a:p>
            <a:pPr marL="0" indent="0">
              <a:buNone/>
            </a:pPr>
            <a:r>
              <a:rPr lang="en-US" sz="1400" dirty="0">
                <a:solidFill>
                  <a:srgbClr val="4D5D78"/>
                </a:solidFill>
                <a:latin typeface="Calibri" pitchFamily="34" charset="0"/>
                <a:ea typeface="Calibri" pitchFamily="34" charset="-122"/>
                <a:cs typeface="Calibri" pitchFamily="34" charset="-120"/>
              </a:rPr>
              <a:t>Bação &amp; Guerreiro (2026)</a:t>
            </a:r>
            <a:endParaRPr lang="en-US" sz="1300" dirty="0"/>
          </a:p>
        </p:txBody>
      </p:sp>
      <p:sp>
        <p:nvSpPr>
          <p:cNvPr id="12" name="Text 9"/>
          <p:cNvSpPr txBox="1"/>
          <p:nvPr/>
        </p:nvSpPr>
        <p:spPr>
          <a:xfrm>
            <a:off x="3520440" y="2834640"/>
            <a:ext cx="2286000" cy="1280160"/>
          </a:xfrm>
          <a:prstGeom prst="rect">
            <a:avLst/>
          </a:prstGeom>
          <a:noFill/>
          <a:ln/>
        </p:spPr>
        <p:txBody>
          <a:bodyPr wrap="square" lIns="0" tIns="0" rIns="0" bIns="0" rtlCol="0" anchor="t"/>
          <a:lstStyle/>
          <a:p>
            <a:r>
              <a:rPr lang="en-ID" sz="1500" dirty="0"/>
              <a:t>EDA </a:t>
            </a:r>
            <a:r>
              <a:rPr lang="en-ID" sz="1500" dirty="0" err="1"/>
              <a:t>dapat</a:t>
            </a:r>
            <a:r>
              <a:rPr lang="en-ID" sz="1500" dirty="0"/>
              <a:t> </a:t>
            </a:r>
            <a:r>
              <a:rPr lang="en-ID" sz="1500" dirty="0" err="1"/>
              <a:t>mempercepat</a:t>
            </a:r>
            <a:r>
              <a:rPr lang="en-ID" sz="1500" dirty="0"/>
              <a:t> proses, </a:t>
            </a:r>
            <a:r>
              <a:rPr lang="en-ID" sz="1500" dirty="0" err="1"/>
              <a:t>tetapi</a:t>
            </a:r>
            <a:r>
              <a:rPr lang="en-ID" sz="1500" dirty="0"/>
              <a:t> </a:t>
            </a:r>
            <a:r>
              <a:rPr lang="en-ID" sz="1500" dirty="0" err="1"/>
              <a:t>konkurensi</a:t>
            </a:r>
            <a:r>
              <a:rPr lang="en-ID" sz="1500" dirty="0"/>
              <a:t> </a:t>
            </a:r>
            <a:r>
              <a:rPr lang="en-ID" sz="1500" dirty="0" err="1"/>
              <a:t>tetap</a:t>
            </a:r>
            <a:r>
              <a:rPr lang="en-ID" sz="1500" dirty="0"/>
              <a:t> </a:t>
            </a:r>
            <a:r>
              <a:rPr lang="en-ID" sz="1500" dirty="0" err="1"/>
              <a:t>dapat</a:t>
            </a:r>
            <a:r>
              <a:rPr lang="en-ID" sz="1500" dirty="0"/>
              <a:t> </a:t>
            </a:r>
            <a:r>
              <a:rPr lang="en-ID" sz="1500" dirty="0" err="1"/>
              <a:t>memicu</a:t>
            </a:r>
            <a:r>
              <a:rPr lang="en-ID" sz="1500" dirty="0"/>
              <a:t> </a:t>
            </a:r>
            <a:r>
              <a:rPr lang="en-ID" sz="1500" dirty="0" err="1"/>
              <a:t>konflik</a:t>
            </a:r>
            <a:r>
              <a:rPr lang="en-ID" sz="1500" dirty="0"/>
              <a:t> </a:t>
            </a:r>
            <a:r>
              <a:rPr lang="en-ID" sz="1500" dirty="0" err="1"/>
              <a:t>pembaruan</a:t>
            </a:r>
            <a:r>
              <a:rPr lang="en-ID" sz="1500" dirty="0"/>
              <a:t> </a:t>
            </a:r>
            <a:r>
              <a:rPr lang="en-ID" sz="1500" dirty="0" err="1"/>
              <a:t>stok</a:t>
            </a:r>
            <a:r>
              <a:rPr lang="en-ID" sz="1500" dirty="0"/>
              <a:t>. </a:t>
            </a:r>
            <a:r>
              <a:rPr lang="en-ID" sz="1500" dirty="0" err="1"/>
              <a:t>Konsistensi</a:t>
            </a:r>
            <a:r>
              <a:rPr lang="en-ID" sz="1500" dirty="0"/>
              <a:t> data dan </a:t>
            </a:r>
            <a:r>
              <a:rPr lang="en-ID" sz="1500" dirty="0" err="1"/>
              <a:t>alur</a:t>
            </a:r>
            <a:r>
              <a:rPr lang="en-ID" sz="1500" dirty="0"/>
              <a:t> proses </a:t>
            </a:r>
            <a:r>
              <a:rPr lang="en-ID" sz="1500" dirty="0" err="1"/>
              <a:t>perlu</a:t>
            </a:r>
            <a:r>
              <a:rPr lang="en-ID" sz="1500" dirty="0"/>
              <a:t> </a:t>
            </a:r>
            <a:r>
              <a:rPr lang="en-ID" sz="1500" dirty="0" err="1"/>
              <a:t>dikendalikan</a:t>
            </a:r>
            <a:r>
              <a:rPr lang="en-ID" sz="1500" dirty="0"/>
              <a:t>.</a:t>
            </a:r>
            <a:endParaRPr lang="en-US" sz="1500" dirty="0"/>
          </a:p>
        </p:txBody>
      </p:sp>
      <p:sp>
        <p:nvSpPr>
          <p:cNvPr id="13" name="Text 10"/>
          <p:cNvSpPr txBox="1"/>
          <p:nvPr/>
        </p:nvSpPr>
        <p:spPr>
          <a:xfrm>
            <a:off x="3520440" y="4251960"/>
            <a:ext cx="2286000" cy="502920"/>
          </a:xfrm>
          <a:prstGeom prst="rect">
            <a:avLst/>
          </a:prstGeom>
          <a:noFill/>
          <a:ln/>
        </p:spPr>
        <p:txBody>
          <a:bodyPr wrap="square" lIns="0" tIns="0" rIns="0" bIns="0" rtlCol="0" anchor="b"/>
          <a:lstStyle/>
          <a:p>
            <a:pPr marL="0" indent="0">
              <a:buNone/>
            </a:pPr>
            <a:r>
              <a:rPr lang="en-US" sz="1400" b="1" dirty="0">
                <a:solidFill>
                  <a:srgbClr val="12284C"/>
                </a:solidFill>
                <a:latin typeface="Calibri" pitchFamily="34" charset="0"/>
                <a:ea typeface="Calibri" pitchFamily="34" charset="-122"/>
                <a:cs typeface="Calibri" pitchFamily="34" charset="-120"/>
              </a:rPr>
              <a:t>Implikasi: Optimistic Concurrency Control</a:t>
            </a:r>
            <a:endParaRPr lang="en-US" sz="1300" dirty="0"/>
          </a:p>
        </p:txBody>
      </p:sp>
      <p:sp>
        <p:nvSpPr>
          <p:cNvPr id="14" name="lit2"/>
          <p:cNvSpPr/>
          <p:nvPr/>
        </p:nvSpPr>
        <p:spPr>
          <a:xfrm>
            <a:off x="6126480" y="1463040"/>
            <a:ext cx="2606040" cy="34290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5" name="Text 12"/>
          <p:cNvSpPr txBox="1"/>
          <p:nvPr/>
        </p:nvSpPr>
        <p:spPr>
          <a:xfrm>
            <a:off x="6309360" y="1600200"/>
            <a:ext cx="2286000" cy="365760"/>
          </a:xfrm>
          <a:prstGeom prst="rect">
            <a:avLst/>
          </a:prstGeom>
          <a:noFill/>
          <a:ln/>
        </p:spPr>
        <p:txBody>
          <a:bodyPr wrap="square" lIns="0" tIns="0" rIns="0" bIns="0" rtlCol="0" anchor="t"/>
          <a:lstStyle/>
          <a:p>
            <a:pPr marL="0" indent="0">
              <a:buNone/>
            </a:pPr>
            <a:r>
              <a:rPr lang="en-US" sz="1700" b="1" dirty="0">
                <a:solidFill>
                  <a:srgbClr val="12284C"/>
                </a:solidFill>
                <a:latin typeface="Calibri" pitchFamily="34" charset="0"/>
                <a:ea typeface="Calibri" pitchFamily="34" charset="-122"/>
                <a:cs typeface="Calibri" pitchFamily="34" charset="-120"/>
              </a:rPr>
              <a:t>Uji keandalan</a:t>
            </a:r>
            <a:endParaRPr lang="en-US" sz="1600" dirty="0"/>
          </a:p>
        </p:txBody>
      </p:sp>
      <p:sp>
        <p:nvSpPr>
          <p:cNvPr id="16" name="Text 13"/>
          <p:cNvSpPr txBox="1"/>
          <p:nvPr/>
        </p:nvSpPr>
        <p:spPr>
          <a:xfrm>
            <a:off x="6309360" y="2011680"/>
            <a:ext cx="2286000" cy="77724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Al-Said Ahmad &amp; Andras (2022)</a:t>
            </a:r>
            <a:endParaRPr lang="en-US" sz="1300" dirty="0"/>
          </a:p>
          <a:p>
            <a:pPr marL="0" indent="0">
              <a:buNone/>
            </a:pPr>
            <a:r>
              <a:rPr lang="en-US" sz="1400" dirty="0">
                <a:solidFill>
                  <a:srgbClr val="4D5D78"/>
                </a:solidFill>
                <a:latin typeface="Calibri" pitchFamily="34" charset="0"/>
                <a:ea typeface="Calibri" pitchFamily="34" charset="-122"/>
                <a:cs typeface="Calibri" pitchFamily="34" charset="-120"/>
              </a:rPr>
              <a:t>Hui et al. (2025)</a:t>
            </a:r>
            <a:endParaRPr lang="en-US" sz="1300" dirty="0"/>
          </a:p>
        </p:txBody>
      </p:sp>
      <p:sp>
        <p:nvSpPr>
          <p:cNvPr id="17" name="Text 14"/>
          <p:cNvSpPr txBox="1"/>
          <p:nvPr/>
        </p:nvSpPr>
        <p:spPr>
          <a:xfrm>
            <a:off x="6309360" y="2834640"/>
            <a:ext cx="2286000" cy="1280160"/>
          </a:xfrm>
          <a:prstGeom prst="rect">
            <a:avLst/>
          </a:prstGeom>
          <a:noFill/>
          <a:ln/>
        </p:spPr>
        <p:txBody>
          <a:bodyPr wrap="square" lIns="0" tIns="0" rIns="0" bIns="0" rtlCol="0" anchor="t"/>
          <a:lstStyle/>
          <a:p>
            <a:pPr marL="0" indent="0">
              <a:buNone/>
            </a:pPr>
            <a:r>
              <a:rPr lang="en-US" sz="1500" dirty="0">
                <a:solidFill>
                  <a:srgbClr val="1B2640"/>
                </a:solidFill>
                <a:latin typeface="Calibri" pitchFamily="34" charset="0"/>
                <a:ea typeface="Calibri" pitchFamily="34" charset="-122"/>
                <a:cs typeface="Calibri" pitchFamily="34" charset="-120"/>
              </a:rPr>
              <a:t>Gangguan yang sengaja diberikan efektif menguji batas ketahanan. Verifikasi memerlukan aturan acuan kebenaran yang pasti.</a:t>
            </a:r>
            <a:endParaRPr lang="en-US" sz="1400" dirty="0"/>
          </a:p>
        </p:txBody>
      </p:sp>
      <p:sp>
        <p:nvSpPr>
          <p:cNvPr id="18" name="Text 15"/>
          <p:cNvSpPr txBox="1"/>
          <p:nvPr/>
        </p:nvSpPr>
        <p:spPr>
          <a:xfrm>
            <a:off x="6309360" y="4251960"/>
            <a:ext cx="2286000" cy="502920"/>
          </a:xfrm>
          <a:prstGeom prst="rect">
            <a:avLst/>
          </a:prstGeom>
          <a:noFill/>
          <a:ln/>
        </p:spPr>
        <p:txBody>
          <a:bodyPr wrap="square" lIns="0" tIns="0" rIns="0" bIns="0" rtlCol="0" anchor="b"/>
          <a:lstStyle/>
          <a:p>
            <a:pPr marL="0" indent="0">
              <a:buNone/>
            </a:pPr>
            <a:r>
              <a:rPr lang="en-US" sz="1400" b="1" dirty="0">
                <a:solidFill>
                  <a:srgbClr val="12284C"/>
                </a:solidFill>
                <a:latin typeface="Calibri" pitchFamily="34" charset="0"/>
                <a:ea typeface="Calibri" pitchFamily="34" charset="-122"/>
                <a:cs typeface="Calibri" pitchFamily="34" charset="-120"/>
              </a:rPr>
              <a:t>Implikasi: skenario gangguan dan aturan bisnis sebagai acuan validitas data</a:t>
            </a:r>
            <a:endParaRPr lang="en-US" sz="1300" dirty="0"/>
          </a:p>
        </p:txBody>
      </p:sp>
      <p:sp>
        <p:nvSpPr>
          <p:cNvPr id="19" name="lit3"/>
          <p:cNvSpPr/>
          <p:nvPr/>
        </p:nvSpPr>
        <p:spPr>
          <a:xfrm>
            <a:off x="8915400" y="1463040"/>
            <a:ext cx="2606040" cy="34290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20" name="Text 17"/>
          <p:cNvSpPr txBox="1"/>
          <p:nvPr/>
        </p:nvSpPr>
        <p:spPr>
          <a:xfrm>
            <a:off x="9098280" y="1600200"/>
            <a:ext cx="2286000" cy="365760"/>
          </a:xfrm>
          <a:prstGeom prst="rect">
            <a:avLst/>
          </a:prstGeom>
          <a:noFill/>
          <a:ln/>
        </p:spPr>
        <p:txBody>
          <a:bodyPr wrap="square" lIns="0" tIns="0" rIns="0" bIns="0" rtlCol="0" anchor="t"/>
          <a:lstStyle/>
          <a:p>
            <a:pPr marL="0" indent="0">
              <a:buNone/>
            </a:pPr>
            <a:r>
              <a:rPr lang="en-US" sz="1700" b="1" dirty="0">
                <a:solidFill>
                  <a:srgbClr val="12284C"/>
                </a:solidFill>
                <a:latin typeface="Calibri" pitchFamily="34" charset="0"/>
                <a:ea typeface="Calibri" pitchFamily="34" charset="-122"/>
                <a:cs typeface="Calibri" pitchFamily="34" charset="-120"/>
              </a:rPr>
              <a:t>Metodologi ukur</a:t>
            </a:r>
            <a:endParaRPr lang="en-US" sz="1600" dirty="0"/>
          </a:p>
        </p:txBody>
      </p:sp>
      <p:sp>
        <p:nvSpPr>
          <p:cNvPr id="21" name="Text 18"/>
          <p:cNvSpPr txBox="1"/>
          <p:nvPr/>
        </p:nvSpPr>
        <p:spPr>
          <a:xfrm>
            <a:off x="9098280" y="2011680"/>
            <a:ext cx="2286000" cy="77724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Rodrigues et al. (2025)</a:t>
            </a:r>
            <a:endParaRPr lang="en-US" sz="1300" dirty="0"/>
          </a:p>
        </p:txBody>
      </p:sp>
      <p:sp>
        <p:nvSpPr>
          <p:cNvPr id="22" name="Text 19"/>
          <p:cNvSpPr txBox="1"/>
          <p:nvPr/>
        </p:nvSpPr>
        <p:spPr>
          <a:xfrm>
            <a:off x="9098280" y="2834640"/>
            <a:ext cx="2286000" cy="1280160"/>
          </a:xfrm>
          <a:prstGeom prst="rect">
            <a:avLst/>
          </a:prstGeom>
          <a:noFill/>
          <a:ln/>
        </p:spPr>
        <p:txBody>
          <a:bodyPr wrap="square" lIns="0" tIns="0" rIns="0" bIns="0" rtlCol="0" anchor="t"/>
          <a:lstStyle/>
          <a:p>
            <a:pPr marL="0" indent="0">
              <a:buNone/>
            </a:pPr>
            <a:r>
              <a:rPr lang="en-US" sz="1500" dirty="0">
                <a:solidFill>
                  <a:srgbClr val="1B2640"/>
                </a:solidFill>
                <a:latin typeface="Calibri" pitchFamily="34" charset="0"/>
                <a:ea typeface="Calibri" pitchFamily="34" charset="-122"/>
                <a:cs typeface="Calibri" pitchFamily="34" charset="-120"/>
              </a:rPr>
              <a:t>Pengujian memerlukan standarisasi beban transaksi dan kesetaraan perangkat</a:t>
            </a:r>
            <a:endParaRPr lang="en-US" sz="1400" dirty="0"/>
          </a:p>
        </p:txBody>
      </p:sp>
      <p:sp>
        <p:nvSpPr>
          <p:cNvPr id="23" name="Text 20"/>
          <p:cNvSpPr txBox="1"/>
          <p:nvPr/>
        </p:nvSpPr>
        <p:spPr>
          <a:xfrm>
            <a:off x="9098280" y="4251960"/>
            <a:ext cx="2286000" cy="502920"/>
          </a:xfrm>
          <a:prstGeom prst="rect">
            <a:avLst/>
          </a:prstGeom>
          <a:noFill/>
          <a:ln/>
        </p:spPr>
        <p:txBody>
          <a:bodyPr wrap="square" lIns="0" tIns="0" rIns="0" bIns="0" rtlCol="0" anchor="b"/>
          <a:lstStyle/>
          <a:p>
            <a:pPr marL="0" indent="0">
              <a:buNone/>
            </a:pPr>
            <a:r>
              <a:rPr lang="en-US" sz="1400" b="1" dirty="0">
                <a:solidFill>
                  <a:srgbClr val="12284C"/>
                </a:solidFill>
                <a:latin typeface="Calibri" pitchFamily="34" charset="0"/>
                <a:ea typeface="Calibri" pitchFamily="34" charset="-122"/>
                <a:cs typeface="Calibri" pitchFamily="34" charset="-120"/>
              </a:rPr>
              <a:t>Implikasi: lingkungan uji setara</a:t>
            </a:r>
            <a:endParaRPr lang="en-US" sz="1300" dirty="0"/>
          </a:p>
        </p:txBody>
      </p:sp>
      <p:sp>
        <p:nvSpPr>
          <p:cNvPr id="24" name="gap"/>
          <p:cNvSpPr/>
          <p:nvPr/>
        </p:nvSpPr>
        <p:spPr>
          <a:xfrm>
            <a:off x="548640" y="5120640"/>
            <a:ext cx="11064240" cy="1234440"/>
          </a:xfrm>
          <a:prstGeom prst="roundRect">
            <a:avLst>
              <a:gd name="adj" fmla="val 14000"/>
            </a:avLst>
          </a:prstGeom>
          <a:solidFill>
            <a:srgbClr val="12284C"/>
          </a:solidFill>
          <a:ln w="9525">
            <a:solidFill>
              <a:srgbClr val="12284C"/>
            </a:solidFill>
            <a:prstDash val="solid"/>
          </a:ln>
        </p:spPr>
        <p:txBody>
          <a:bodyPr/>
          <a:lstStyle/>
          <a:p>
            <a:endParaRPr/>
          </a:p>
        </p:txBody>
      </p:sp>
      <p:sp>
        <p:nvSpPr>
          <p:cNvPr id="25" name="Text 22"/>
          <p:cNvSpPr txBox="1"/>
          <p:nvPr/>
        </p:nvSpPr>
        <p:spPr>
          <a:xfrm>
            <a:off x="822960" y="5257800"/>
            <a:ext cx="3657600" cy="274320"/>
          </a:xfrm>
          <a:prstGeom prst="rect">
            <a:avLst/>
          </a:prstGeom>
          <a:noFill/>
          <a:ln/>
        </p:spPr>
        <p:txBody>
          <a:bodyPr wrap="square" lIns="0" tIns="0" rIns="0" bIns="0" rtlCol="0" anchor="t"/>
          <a:lstStyle/>
          <a:p>
            <a:pPr marL="0" indent="0">
              <a:buNone/>
            </a:pPr>
            <a:r>
              <a:rPr lang="en-US" sz="1400" b="1" kern="0" spc="300" dirty="0">
                <a:solidFill>
                  <a:srgbClr val="E9BC3A"/>
                </a:solidFill>
                <a:latin typeface="Calibri" pitchFamily="34" charset="0"/>
                <a:ea typeface="Calibri" pitchFamily="34" charset="-122"/>
                <a:cs typeface="Calibri" pitchFamily="34" charset="-120"/>
              </a:rPr>
              <a:t>RUANG PENELITIAN</a:t>
            </a:r>
            <a:endParaRPr lang="en-US" sz="1300" dirty="0"/>
          </a:p>
        </p:txBody>
      </p:sp>
      <p:sp>
        <p:nvSpPr>
          <p:cNvPr id="26" name="Text 23"/>
          <p:cNvSpPr txBox="1"/>
          <p:nvPr/>
        </p:nvSpPr>
        <p:spPr>
          <a:xfrm>
            <a:off x="822960" y="5577840"/>
            <a:ext cx="10515600" cy="548640"/>
          </a:xfrm>
          <a:prstGeom prst="rect">
            <a:avLst/>
          </a:prstGeom>
          <a:noFill/>
          <a:ln/>
        </p:spPr>
        <p:txBody>
          <a:bodyPr wrap="square" lIns="0" tIns="0" rIns="0" bIns="0" rtlCol="0" anchor="ctr"/>
          <a:lstStyle/>
          <a:p>
            <a:r>
              <a:rPr lang="en-ID" dirty="0" err="1">
                <a:solidFill>
                  <a:schemeClr val="bg1"/>
                </a:solidFill>
              </a:rPr>
              <a:t>Menguji</a:t>
            </a:r>
            <a:r>
              <a:rPr lang="en-ID" dirty="0">
                <a:solidFill>
                  <a:schemeClr val="bg1"/>
                </a:solidFill>
              </a:rPr>
              <a:t> </a:t>
            </a:r>
            <a:r>
              <a:rPr lang="en-ID" dirty="0" err="1">
                <a:solidFill>
                  <a:schemeClr val="bg1"/>
                </a:solidFill>
              </a:rPr>
              <a:t>dampak</a:t>
            </a:r>
            <a:r>
              <a:rPr lang="en-ID" dirty="0">
                <a:solidFill>
                  <a:schemeClr val="bg1"/>
                </a:solidFill>
              </a:rPr>
              <a:t> </a:t>
            </a:r>
            <a:r>
              <a:rPr lang="en-ID" dirty="0" err="1">
                <a:solidFill>
                  <a:schemeClr val="bg1"/>
                </a:solidFill>
              </a:rPr>
              <a:t>pemisahan</a:t>
            </a:r>
            <a:r>
              <a:rPr lang="en-ID" dirty="0">
                <a:solidFill>
                  <a:schemeClr val="bg1"/>
                </a:solidFill>
              </a:rPr>
              <a:t> </a:t>
            </a:r>
            <a:r>
              <a:rPr lang="en-ID" dirty="0" err="1">
                <a:solidFill>
                  <a:schemeClr val="bg1"/>
                </a:solidFill>
              </a:rPr>
              <a:t>layanan</a:t>
            </a:r>
            <a:r>
              <a:rPr lang="en-ID" dirty="0">
                <a:solidFill>
                  <a:schemeClr val="bg1"/>
                </a:solidFill>
              </a:rPr>
              <a:t> dan </a:t>
            </a:r>
            <a:r>
              <a:rPr lang="en-ID" dirty="0" err="1">
                <a:solidFill>
                  <a:schemeClr val="bg1"/>
                </a:solidFill>
              </a:rPr>
              <a:t>proteksi</a:t>
            </a:r>
            <a:r>
              <a:rPr lang="en-ID" dirty="0">
                <a:solidFill>
                  <a:schemeClr val="bg1"/>
                </a:solidFill>
              </a:rPr>
              <a:t> </a:t>
            </a:r>
            <a:r>
              <a:rPr lang="en-ID" dirty="0" err="1">
                <a:solidFill>
                  <a:schemeClr val="bg1"/>
                </a:solidFill>
              </a:rPr>
              <a:t>konsistensi</a:t>
            </a:r>
            <a:r>
              <a:rPr lang="en-ID" dirty="0">
                <a:solidFill>
                  <a:schemeClr val="bg1"/>
                </a:solidFill>
              </a:rPr>
              <a:t> data </a:t>
            </a:r>
            <a:r>
              <a:rPr lang="en-ID" dirty="0" err="1">
                <a:solidFill>
                  <a:schemeClr val="bg1"/>
                </a:solidFill>
              </a:rPr>
              <a:t>terhadap</a:t>
            </a:r>
            <a:r>
              <a:rPr lang="en-ID" dirty="0">
                <a:solidFill>
                  <a:schemeClr val="bg1"/>
                </a:solidFill>
              </a:rPr>
              <a:t> </a:t>
            </a:r>
            <a:r>
              <a:rPr lang="en-ID" dirty="0" err="1">
                <a:solidFill>
                  <a:schemeClr val="bg1"/>
                </a:solidFill>
              </a:rPr>
              <a:t>konsistensi</a:t>
            </a:r>
            <a:r>
              <a:rPr lang="en-ID" dirty="0">
                <a:solidFill>
                  <a:schemeClr val="bg1"/>
                </a:solidFill>
              </a:rPr>
              <a:t> dan </a:t>
            </a:r>
            <a:r>
              <a:rPr lang="en-ID" dirty="0" err="1">
                <a:solidFill>
                  <a:schemeClr val="bg1"/>
                </a:solidFill>
              </a:rPr>
              <a:t>keandalan</a:t>
            </a:r>
            <a:r>
              <a:rPr lang="en-ID" dirty="0">
                <a:solidFill>
                  <a:schemeClr val="bg1"/>
                </a:solidFill>
              </a:rPr>
              <a:t> </a:t>
            </a:r>
            <a:r>
              <a:rPr lang="en-ID" dirty="0" err="1">
                <a:solidFill>
                  <a:schemeClr val="bg1"/>
                </a:solidFill>
              </a:rPr>
              <a:t>transaksi</a:t>
            </a:r>
            <a:r>
              <a:rPr lang="en-ID" dirty="0">
                <a:solidFill>
                  <a:schemeClr val="bg1"/>
                </a:solidFill>
              </a:rPr>
              <a:t> </a:t>
            </a:r>
            <a:r>
              <a:rPr lang="en-ID" dirty="0" err="1">
                <a:solidFill>
                  <a:schemeClr val="bg1"/>
                </a:solidFill>
              </a:rPr>
              <a:t>melalui</a:t>
            </a:r>
            <a:r>
              <a:rPr lang="en-ID" dirty="0">
                <a:solidFill>
                  <a:schemeClr val="bg1"/>
                </a:solidFill>
              </a:rPr>
              <a:t> </a:t>
            </a:r>
            <a:r>
              <a:rPr lang="en-ID" dirty="0" err="1">
                <a:solidFill>
                  <a:schemeClr val="bg1"/>
                </a:solidFill>
              </a:rPr>
              <a:t>perbandingan</a:t>
            </a:r>
            <a:r>
              <a:rPr lang="en-ID" dirty="0">
                <a:solidFill>
                  <a:schemeClr val="bg1"/>
                </a:solidFill>
              </a:rPr>
              <a:t> </a:t>
            </a:r>
            <a:r>
              <a:rPr lang="en-ID" dirty="0" err="1">
                <a:solidFill>
                  <a:schemeClr val="bg1"/>
                </a:solidFill>
              </a:rPr>
              <a:t>tiga</a:t>
            </a:r>
            <a:r>
              <a:rPr lang="en-ID" dirty="0">
                <a:solidFill>
                  <a:schemeClr val="bg1"/>
                </a:solidFill>
              </a:rPr>
              <a:t> </a:t>
            </a:r>
            <a:r>
              <a:rPr lang="en-ID" dirty="0" err="1">
                <a:solidFill>
                  <a:schemeClr val="bg1"/>
                </a:solidFill>
              </a:rPr>
              <a:t>kondisi</a:t>
            </a:r>
            <a:r>
              <a:rPr lang="en-ID" dirty="0">
                <a:solidFill>
                  <a:schemeClr val="bg1"/>
                </a:solidFill>
              </a:rPr>
              <a:t> </a:t>
            </a:r>
            <a:r>
              <a:rPr lang="en-ID" dirty="0" err="1">
                <a:solidFill>
                  <a:schemeClr val="bg1"/>
                </a:solidFill>
              </a:rPr>
              <a:t>arsitektur</a:t>
            </a:r>
            <a:r>
              <a:rPr lang="en-ID" dirty="0">
                <a:solidFill>
                  <a:schemeClr val="bg1"/>
                </a:solidFill>
              </a:rPr>
              <a:t> pada </a:t>
            </a:r>
            <a:r>
              <a:rPr lang="en-ID" dirty="0" err="1">
                <a:solidFill>
                  <a:schemeClr val="bg1"/>
                </a:solidFill>
              </a:rPr>
              <a:t>apotek</a:t>
            </a:r>
            <a:r>
              <a:rPr lang="en-ID" dirty="0">
                <a:solidFill>
                  <a:schemeClr val="bg1"/>
                </a:solidFill>
              </a:rPr>
              <a:t> </a:t>
            </a:r>
            <a:r>
              <a:rPr lang="en-ID" dirty="0" err="1">
                <a:solidFill>
                  <a:schemeClr val="bg1"/>
                </a:solidFill>
              </a:rPr>
              <a:t>multicabang</a:t>
            </a:r>
            <a:r>
              <a:rPr lang="en-ID" dirty="0">
                <a:solidFill>
                  <a:schemeClr val="bg1"/>
                </a:solidFill>
              </a:rPr>
              <a:t>.</a:t>
            </a:r>
            <a:endParaRPr lang="en-US" sz="1800" dirty="0">
              <a:solidFill>
                <a:schemeClr val="bg1"/>
              </a:solidFill>
            </a:endParaRPr>
          </a:p>
        </p:txBody>
      </p:sp>
      <p:sp>
        <p:nvSpPr>
          <p:cNvPr id="3"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Empat rumusan masalah dijawab melalui empat tujuan yang sejajar</a:t>
            </a:r>
            <a:endParaRPr lang="en-US" sz="2800" dirty="0"/>
          </a:p>
        </p:txBody>
      </p:sp>
      <p:sp>
        <p:nvSpPr>
          <p:cNvPr id="4" name="rm0"/>
          <p:cNvSpPr/>
          <p:nvPr/>
        </p:nvSpPr>
        <p:spPr>
          <a:xfrm>
            <a:off x="548640" y="1371600"/>
            <a:ext cx="11064240" cy="109728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5" name="Shape 2"/>
          <p:cNvSpPr/>
          <p:nvPr/>
        </p:nvSpPr>
        <p:spPr>
          <a:xfrm>
            <a:off x="548640" y="1371600"/>
            <a:ext cx="960120" cy="109728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6" name="Text 3"/>
          <p:cNvSpPr txBox="1"/>
          <p:nvPr/>
        </p:nvSpPr>
        <p:spPr>
          <a:xfrm>
            <a:off x="548640" y="1371600"/>
            <a:ext cx="960120" cy="10972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RM1</a:t>
            </a:r>
            <a:endParaRPr lang="en-US" sz="2200" dirty="0"/>
          </a:p>
        </p:txBody>
      </p:sp>
      <p:sp>
        <p:nvSpPr>
          <p:cNvPr id="7" name="Text 4"/>
          <p:cNvSpPr txBox="1"/>
          <p:nvPr/>
        </p:nvSpPr>
        <p:spPr>
          <a:xfrm>
            <a:off x="1691640" y="1371600"/>
            <a:ext cx="6355080" cy="1097280"/>
          </a:xfrm>
          <a:prstGeom prst="rect">
            <a:avLst/>
          </a:prstGeom>
          <a:noFill/>
          <a:ln/>
        </p:spPr>
        <p:txBody>
          <a:bodyPr wrap="square" lIns="0" tIns="0" rIns="0" bIns="0" rtlCol="0" anchor="ctr"/>
          <a:lstStyle/>
          <a:p>
            <a:pPr marL="0" indent="0">
              <a:buNone/>
            </a:pPr>
            <a:r>
              <a:rPr lang="en-US" sz="1450" dirty="0">
                <a:solidFill>
                  <a:srgbClr val="1B2640"/>
                </a:solidFill>
                <a:latin typeface="Calibri" pitchFamily="34" charset="0"/>
                <a:ea typeface="Calibri" pitchFamily="34" charset="-122"/>
                <a:cs typeface="Calibri" pitchFamily="34" charset="-120"/>
              </a:rPr>
              <a:t>Bagaimana merancang dan mengimplementasikan arsitektur event-driven microservices pada operasional apotek multi-cabang dengan pembagian tanggung jawab fungsional dan penetapan sumber kebenaran data pada masing-masing layanan?</a:t>
            </a:r>
            <a:endParaRPr lang="en-US" sz="1600" dirty="0"/>
          </a:p>
        </p:txBody>
      </p:sp>
      <p:sp>
        <p:nvSpPr>
          <p:cNvPr id="8" name="Text 5"/>
          <p:cNvSpPr txBox="1"/>
          <p:nvPr/>
        </p:nvSpPr>
        <p:spPr>
          <a:xfrm>
            <a:off x="8412480" y="1371600"/>
            <a:ext cx="3108960" cy="1097280"/>
          </a:xfrm>
          <a:prstGeom prst="rect">
            <a:avLst/>
          </a:prstGeom>
          <a:noFill/>
          <a:ln/>
        </p:spPr>
        <p:txBody>
          <a:bodyPr wrap="square" lIns="0" tIns="0" rIns="0" bIns="0" rtlCol="0" anchor="ctr"/>
          <a:lstStyle/>
          <a:p>
            <a:pPr marL="0" indent="0">
              <a:spcAft>
                <a:spcPts val="200"/>
              </a:spcAft>
              <a:buNone/>
            </a:pPr>
            <a:r>
              <a:rPr lang="id-ID" sz="1300" b="1" spc="100" dirty="0">
                <a:solidFill>
                  <a:srgbClr val="8B6300"/>
                </a:solidFill>
                <a:latin typeface="Calibri" pitchFamily="34" charset="0"/>
                <a:ea typeface="Calibri" pitchFamily="34" charset="-122"/>
                <a:cs typeface="Calibri" pitchFamily="34" charset="-120"/>
              </a:rPr>
              <a:t>TUJUAN 1</a:t>
            </a:r>
          </a:p>
          <a:p>
            <a:pPr marL="0" indent="0">
              <a:spcAft>
                <a:spcPts val="200"/>
              </a:spcAft>
              <a:buNone/>
            </a:pPr>
            <a:r>
              <a:rPr lang="id-ID" sz="1500" b="1" dirty="0">
                <a:solidFill>
                  <a:srgbClr val="12284C"/>
                </a:solidFill>
                <a:latin typeface="Calibri" pitchFamily="34" charset="0"/>
                <a:ea typeface="Calibri" pitchFamily="34" charset="-122"/>
                <a:cs typeface="Calibri" pitchFamily="34" charset="-120"/>
              </a:rPr>
              <a:t>Merancang dan mengimplementasikan</a:t>
            </a:r>
          </a:p>
          <a:p>
            <a:pPr marL="0" indent="0">
              <a:spcAft>
                <a:spcPts val="0"/>
              </a:spcAft>
              <a:buNone/>
            </a:pPr>
            <a:r>
              <a:rPr lang="id-ID" sz="1300" dirty="0">
                <a:solidFill>
                  <a:srgbClr val="4D5D78"/>
                </a:solidFill>
                <a:latin typeface="Calibri" pitchFamily="34" charset="0"/>
                <a:ea typeface="Calibri" pitchFamily="34" charset="-122"/>
                <a:cs typeface="Calibri" pitchFamily="34" charset="-120"/>
              </a:rPr>
              <a:t>Empat domain, otoritas data yang jelas</a:t>
            </a:r>
          </a:p>
        </p:txBody>
      </p:sp>
      <p:sp>
        <p:nvSpPr>
          <p:cNvPr id="9" name="rm1"/>
          <p:cNvSpPr/>
          <p:nvPr/>
        </p:nvSpPr>
        <p:spPr>
          <a:xfrm>
            <a:off x="548640" y="2542032"/>
            <a:ext cx="11064240" cy="109728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0" name="Shape 7"/>
          <p:cNvSpPr/>
          <p:nvPr/>
        </p:nvSpPr>
        <p:spPr>
          <a:xfrm>
            <a:off x="548640" y="2542032"/>
            <a:ext cx="960120" cy="109728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11" name="Text 8"/>
          <p:cNvSpPr txBox="1"/>
          <p:nvPr/>
        </p:nvSpPr>
        <p:spPr>
          <a:xfrm>
            <a:off x="548640" y="2542032"/>
            <a:ext cx="960120" cy="10972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RM2</a:t>
            </a:r>
            <a:endParaRPr lang="en-US" sz="2200" dirty="0"/>
          </a:p>
        </p:txBody>
      </p:sp>
      <p:sp>
        <p:nvSpPr>
          <p:cNvPr id="12" name="Text 9"/>
          <p:cNvSpPr txBox="1"/>
          <p:nvPr/>
        </p:nvSpPr>
        <p:spPr>
          <a:xfrm>
            <a:off x="1691640" y="2542032"/>
            <a:ext cx="6355080" cy="1097280"/>
          </a:xfrm>
          <a:prstGeom prst="rect">
            <a:avLst/>
          </a:prstGeom>
          <a:noFill/>
          <a:ln/>
        </p:spPr>
        <p:txBody>
          <a:bodyPr wrap="square" lIns="0" tIns="0" rIns="0" bIns="0" rtlCol="0" anchor="ctr"/>
          <a:lstStyle/>
          <a:p>
            <a:pPr marL="0" indent="0">
              <a:buNone/>
            </a:pPr>
            <a:r>
              <a:rPr lang="en-US" sz="1450" dirty="0">
                <a:solidFill>
                  <a:srgbClr val="1B2640"/>
                </a:solidFill>
                <a:latin typeface="Calibri" pitchFamily="34" charset="0"/>
                <a:ea typeface="Calibri" pitchFamily="34" charset="-122"/>
                <a:cs typeface="Calibri" pitchFamily="34" charset="-120"/>
              </a:rPr>
              <a:t>Bagaimana kondisi konsistensi data pada masing-masing arsitektur ketika terjadi konkurensi transaksi?</a:t>
            </a:r>
            <a:endParaRPr lang="en-US" sz="1600" dirty="0"/>
          </a:p>
        </p:txBody>
      </p:sp>
      <p:sp>
        <p:nvSpPr>
          <p:cNvPr id="13" name="Text 10"/>
          <p:cNvSpPr txBox="1"/>
          <p:nvPr/>
        </p:nvSpPr>
        <p:spPr>
          <a:xfrm>
            <a:off x="8412480" y="2542032"/>
            <a:ext cx="3108960" cy="1097280"/>
          </a:xfrm>
          <a:prstGeom prst="rect">
            <a:avLst/>
          </a:prstGeom>
          <a:noFill/>
          <a:ln/>
        </p:spPr>
        <p:txBody>
          <a:bodyPr wrap="square" lIns="0" tIns="0" rIns="0" bIns="0" rtlCol="0" anchor="ctr"/>
          <a:lstStyle/>
          <a:p>
            <a:pPr marL="0" indent="0">
              <a:spcAft>
                <a:spcPts val="200"/>
              </a:spcAft>
              <a:buNone/>
            </a:pPr>
            <a:r>
              <a:rPr lang="id-ID" sz="1300" b="1" spc="100" dirty="0">
                <a:solidFill>
                  <a:srgbClr val="8B6300"/>
                </a:solidFill>
                <a:latin typeface="Calibri" pitchFamily="34" charset="0"/>
                <a:ea typeface="Calibri" pitchFamily="34" charset="-122"/>
                <a:cs typeface="Calibri" pitchFamily="34" charset="-120"/>
              </a:rPr>
              <a:t>TUJUAN 2</a:t>
            </a:r>
          </a:p>
          <a:p>
            <a:pPr marL="0" indent="0">
              <a:spcAft>
                <a:spcPts val="200"/>
              </a:spcAft>
              <a:buNone/>
            </a:pPr>
            <a:r>
              <a:rPr lang="id-ID" sz="1500" b="1" dirty="0">
                <a:solidFill>
                  <a:srgbClr val="12284C"/>
                </a:solidFill>
                <a:latin typeface="Calibri" pitchFamily="34" charset="0"/>
                <a:ea typeface="Calibri" pitchFamily="34" charset="-122"/>
                <a:cs typeface="Calibri" pitchFamily="34" charset="-120"/>
              </a:rPr>
              <a:t>Menganalisis konsistensi data</a:t>
            </a:r>
          </a:p>
          <a:p>
            <a:pPr marL="0" indent="0">
              <a:spcAft>
                <a:spcPts val="0"/>
              </a:spcAft>
              <a:buNone/>
            </a:pPr>
            <a:r>
              <a:rPr lang="id-ID" sz="1300" dirty="0">
                <a:solidFill>
                  <a:srgbClr val="4D5D78"/>
                </a:solidFill>
                <a:latin typeface="Calibri" pitchFamily="34" charset="0"/>
                <a:ea typeface="Calibri" pitchFamily="34" charset="-122"/>
                <a:cs typeface="Calibri" pitchFamily="34" charset="-120"/>
              </a:rPr>
              <a:t>Invariant bisnis pada konkurensi transaksi</a:t>
            </a:r>
          </a:p>
        </p:txBody>
      </p:sp>
      <p:sp>
        <p:nvSpPr>
          <p:cNvPr id="14" name="rm2"/>
          <p:cNvSpPr/>
          <p:nvPr/>
        </p:nvSpPr>
        <p:spPr>
          <a:xfrm>
            <a:off x="548640" y="3712464"/>
            <a:ext cx="11064240" cy="109728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5" name="Shape 12"/>
          <p:cNvSpPr/>
          <p:nvPr/>
        </p:nvSpPr>
        <p:spPr>
          <a:xfrm>
            <a:off x="548640" y="3712464"/>
            <a:ext cx="960120" cy="109728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16" name="Text 13"/>
          <p:cNvSpPr txBox="1"/>
          <p:nvPr/>
        </p:nvSpPr>
        <p:spPr>
          <a:xfrm>
            <a:off x="548640" y="3712464"/>
            <a:ext cx="960120" cy="10972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RM3</a:t>
            </a:r>
            <a:endParaRPr lang="en-US" sz="2200" dirty="0"/>
          </a:p>
        </p:txBody>
      </p:sp>
      <p:sp>
        <p:nvSpPr>
          <p:cNvPr id="17" name="Text 14"/>
          <p:cNvSpPr txBox="1"/>
          <p:nvPr/>
        </p:nvSpPr>
        <p:spPr>
          <a:xfrm>
            <a:off x="1691640" y="3712464"/>
            <a:ext cx="6355080" cy="1097280"/>
          </a:xfrm>
          <a:prstGeom prst="rect">
            <a:avLst/>
          </a:prstGeom>
          <a:noFill/>
          <a:ln/>
        </p:spPr>
        <p:txBody>
          <a:bodyPr wrap="square" lIns="0" tIns="0" rIns="0" bIns="0" rtlCol="0" anchor="ctr"/>
          <a:lstStyle/>
          <a:p>
            <a:pPr marL="0" indent="0">
              <a:buNone/>
            </a:pPr>
            <a:r>
              <a:rPr lang="en-US" sz="1450" dirty="0">
                <a:solidFill>
                  <a:srgbClr val="1B2640"/>
                </a:solidFill>
                <a:latin typeface="Calibri" pitchFamily="34" charset="0"/>
                <a:ea typeface="Calibri" pitchFamily="34" charset="-122"/>
                <a:cs typeface="Calibri" pitchFamily="34" charset="-120"/>
              </a:rPr>
              <a:t>Bagaimana kondisi keandalan transaksi pada masing-masing arsitektur ketika terjadi gangguan atau kegagalan proses transaksi?</a:t>
            </a:r>
            <a:endParaRPr lang="en-US" sz="1600" dirty="0"/>
          </a:p>
        </p:txBody>
      </p:sp>
      <p:sp>
        <p:nvSpPr>
          <p:cNvPr id="18" name="Text 15"/>
          <p:cNvSpPr txBox="1"/>
          <p:nvPr/>
        </p:nvSpPr>
        <p:spPr>
          <a:xfrm>
            <a:off x="8412480" y="3712464"/>
            <a:ext cx="3108960" cy="1097280"/>
          </a:xfrm>
          <a:prstGeom prst="rect">
            <a:avLst/>
          </a:prstGeom>
          <a:noFill/>
          <a:ln/>
        </p:spPr>
        <p:txBody>
          <a:bodyPr wrap="square" lIns="0" tIns="0" rIns="0" bIns="0" rtlCol="0" anchor="ctr"/>
          <a:lstStyle/>
          <a:p>
            <a:pPr marL="0" indent="0">
              <a:spcAft>
                <a:spcPts val="200"/>
              </a:spcAft>
              <a:buNone/>
            </a:pPr>
            <a:r>
              <a:rPr lang="id-ID" sz="1300" b="1" spc="100" dirty="0">
                <a:solidFill>
                  <a:srgbClr val="8B6300"/>
                </a:solidFill>
                <a:latin typeface="Calibri" pitchFamily="34" charset="0"/>
                <a:ea typeface="Calibri" pitchFamily="34" charset="-122"/>
                <a:cs typeface="Calibri" pitchFamily="34" charset="-120"/>
              </a:rPr>
              <a:t>TUJUAN 3</a:t>
            </a:r>
          </a:p>
          <a:p>
            <a:pPr marL="0" indent="0">
              <a:spcAft>
                <a:spcPts val="200"/>
              </a:spcAft>
              <a:buNone/>
            </a:pPr>
            <a:r>
              <a:rPr lang="id-ID" sz="1500" b="1" dirty="0">
                <a:solidFill>
                  <a:srgbClr val="12284C"/>
                </a:solidFill>
                <a:latin typeface="Calibri" pitchFamily="34" charset="0"/>
                <a:ea typeface="Calibri" pitchFamily="34" charset="-122"/>
                <a:cs typeface="Calibri" pitchFamily="34" charset="-120"/>
              </a:rPr>
              <a:t>Mengevaluasi keandalan transaksi</a:t>
            </a:r>
          </a:p>
          <a:p>
            <a:pPr marL="0" indent="0">
              <a:spcAft>
                <a:spcPts val="0"/>
              </a:spcAft>
              <a:buNone/>
            </a:pPr>
            <a:r>
              <a:rPr lang="id-ID" sz="1300" dirty="0">
                <a:solidFill>
                  <a:srgbClr val="4D5D78"/>
                </a:solidFill>
                <a:latin typeface="Calibri" pitchFamily="34" charset="0"/>
                <a:ea typeface="Calibri" pitchFamily="34" charset="-122"/>
                <a:cs typeface="Calibri" pitchFamily="34" charset="-120"/>
              </a:rPr>
              <a:t>Fault injection dan pemulihan</a:t>
            </a:r>
          </a:p>
        </p:txBody>
      </p:sp>
      <p:sp>
        <p:nvSpPr>
          <p:cNvPr id="19" name="rm3"/>
          <p:cNvSpPr/>
          <p:nvPr/>
        </p:nvSpPr>
        <p:spPr>
          <a:xfrm>
            <a:off x="548640" y="4882896"/>
            <a:ext cx="11064240" cy="109728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20" name="Shape 17"/>
          <p:cNvSpPr/>
          <p:nvPr/>
        </p:nvSpPr>
        <p:spPr>
          <a:xfrm>
            <a:off x="548640" y="4882896"/>
            <a:ext cx="960120" cy="109728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21" name="Text 18"/>
          <p:cNvSpPr txBox="1"/>
          <p:nvPr/>
        </p:nvSpPr>
        <p:spPr>
          <a:xfrm>
            <a:off x="548640" y="4882896"/>
            <a:ext cx="960120" cy="10972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RM4</a:t>
            </a:r>
            <a:endParaRPr lang="en-US" sz="2200" dirty="0"/>
          </a:p>
        </p:txBody>
      </p:sp>
      <p:sp>
        <p:nvSpPr>
          <p:cNvPr id="22" name="Text 19"/>
          <p:cNvSpPr txBox="1"/>
          <p:nvPr/>
        </p:nvSpPr>
        <p:spPr>
          <a:xfrm>
            <a:off x="1691640" y="4882896"/>
            <a:ext cx="6355080" cy="1097280"/>
          </a:xfrm>
          <a:prstGeom prst="rect">
            <a:avLst/>
          </a:prstGeom>
          <a:noFill/>
          <a:ln/>
        </p:spPr>
        <p:txBody>
          <a:bodyPr wrap="square" lIns="0" tIns="0" rIns="0" bIns="0" rtlCol="0" anchor="ctr"/>
          <a:lstStyle/>
          <a:p>
            <a:pPr marL="0" indent="0">
              <a:buNone/>
            </a:pPr>
            <a:r>
              <a:rPr lang="en-US" sz="1450" dirty="0">
                <a:solidFill>
                  <a:srgbClr val="1B2640"/>
                </a:solidFill>
                <a:latin typeface="Calibri" pitchFamily="34" charset="0"/>
                <a:ea typeface="Calibri" pitchFamily="34" charset="-122"/>
                <a:cs typeface="Calibri" pitchFamily="34" charset="-120"/>
              </a:rPr>
              <a:t>Bagaimana perbandingan konsistensi data dan keandalan transaksi antara arsitektur monolith terpusat, event-driven microservices tanpa proteksi konsistensi data, dan event-driven microservices dengan proteksi konsistensi data pada beban kerja dan kondisi pengujian yang setara?</a:t>
            </a:r>
            <a:endParaRPr lang="en-US" sz="1600" dirty="0"/>
          </a:p>
        </p:txBody>
      </p:sp>
      <p:sp>
        <p:nvSpPr>
          <p:cNvPr id="23" name="Text 20"/>
          <p:cNvSpPr txBox="1"/>
          <p:nvPr/>
        </p:nvSpPr>
        <p:spPr>
          <a:xfrm>
            <a:off x="8412480" y="4882896"/>
            <a:ext cx="3108960" cy="1097280"/>
          </a:xfrm>
          <a:prstGeom prst="rect">
            <a:avLst/>
          </a:prstGeom>
          <a:noFill/>
          <a:ln/>
        </p:spPr>
        <p:txBody>
          <a:bodyPr wrap="square" lIns="0" tIns="0" rIns="0" bIns="0" rtlCol="0" anchor="ctr"/>
          <a:lstStyle/>
          <a:p>
            <a:pPr marL="0" indent="0">
              <a:spcAft>
                <a:spcPts val="200"/>
              </a:spcAft>
              <a:buNone/>
            </a:pPr>
            <a:r>
              <a:rPr lang="id-ID" sz="1300" b="1" spc="100" dirty="0">
                <a:solidFill>
                  <a:srgbClr val="8B6300"/>
                </a:solidFill>
                <a:latin typeface="Calibri" pitchFamily="34" charset="0"/>
                <a:ea typeface="Calibri" pitchFamily="34" charset="-122"/>
                <a:cs typeface="Calibri" pitchFamily="34" charset="-120"/>
              </a:rPr>
              <a:t>TUJUAN 4</a:t>
            </a:r>
          </a:p>
          <a:p>
            <a:pPr marL="0" indent="0">
              <a:spcAft>
                <a:spcPts val="200"/>
              </a:spcAft>
              <a:buNone/>
            </a:pPr>
            <a:r>
              <a:rPr lang="id-ID" sz="1500" b="1" dirty="0">
                <a:solidFill>
                  <a:srgbClr val="12284C"/>
                </a:solidFill>
                <a:latin typeface="Calibri" pitchFamily="34" charset="0"/>
                <a:ea typeface="Calibri" pitchFamily="34" charset="-122"/>
                <a:cs typeface="Calibri" pitchFamily="34" charset="-120"/>
              </a:rPr>
              <a:t>Membandingkan tiga kondisi arsitektur</a:t>
            </a:r>
          </a:p>
          <a:p>
            <a:pPr marL="0" indent="0">
              <a:spcAft>
                <a:spcPts val="0"/>
              </a:spcAft>
              <a:buNone/>
            </a:pPr>
            <a:r>
              <a:rPr lang="id-ID" sz="1300" dirty="0">
                <a:solidFill>
                  <a:srgbClr val="4D5D78"/>
                </a:solidFill>
                <a:latin typeface="Calibri" pitchFamily="34" charset="0"/>
                <a:ea typeface="Calibri" pitchFamily="34" charset="-122"/>
                <a:cs typeface="Calibri" pitchFamily="34" charset="-120"/>
              </a:rPr>
              <a:t>Konsistensi dan keandalan pada pengujian setara</a:t>
            </a:r>
          </a:p>
        </p:txBody>
      </p:sp>
      <p:sp>
        <p:nvSpPr>
          <p:cNvPr id="60" name="div0"/>
          <p:cNvSpPr/>
          <p:nvPr/>
        </p:nvSpPr>
        <p:spPr>
          <a:xfrm>
            <a:off x="8229600" y="1536192"/>
            <a:ext cx="12700" cy="768096"/>
          </a:xfrm>
          <a:prstGeom prst="rect">
            <a:avLst/>
          </a:prstGeom>
          <a:solidFill>
            <a:srgbClr val="C3CEE2"/>
          </a:solidFill>
          <a:ln>
            <a:noFill/>
          </a:ln>
        </p:spPr>
        <p:txBody>
          <a:bodyPr/>
          <a:lstStyle/>
          <a:p>
            <a:endParaRPr/>
          </a:p>
        </p:txBody>
      </p:sp>
      <p:sp>
        <p:nvSpPr>
          <p:cNvPr id="61" name="div1"/>
          <p:cNvSpPr/>
          <p:nvPr/>
        </p:nvSpPr>
        <p:spPr>
          <a:xfrm>
            <a:off x="8229600" y="2706624"/>
            <a:ext cx="12700" cy="768096"/>
          </a:xfrm>
          <a:prstGeom prst="rect">
            <a:avLst/>
          </a:prstGeom>
          <a:solidFill>
            <a:srgbClr val="C3CEE2"/>
          </a:solidFill>
          <a:ln>
            <a:noFill/>
          </a:ln>
        </p:spPr>
        <p:txBody>
          <a:bodyPr/>
          <a:lstStyle/>
          <a:p>
            <a:endParaRPr/>
          </a:p>
        </p:txBody>
      </p:sp>
      <p:sp>
        <p:nvSpPr>
          <p:cNvPr id="62" name="div2"/>
          <p:cNvSpPr/>
          <p:nvPr/>
        </p:nvSpPr>
        <p:spPr>
          <a:xfrm>
            <a:off x="8229600" y="3877056"/>
            <a:ext cx="12700" cy="768096"/>
          </a:xfrm>
          <a:prstGeom prst="rect">
            <a:avLst/>
          </a:prstGeom>
          <a:solidFill>
            <a:srgbClr val="C3CEE2"/>
          </a:solidFill>
          <a:ln>
            <a:noFill/>
          </a:ln>
        </p:spPr>
        <p:txBody>
          <a:bodyPr/>
          <a:lstStyle/>
          <a:p>
            <a:endParaRPr/>
          </a:p>
        </p:txBody>
      </p:sp>
      <p:sp>
        <p:nvSpPr>
          <p:cNvPr id="63" name="div3"/>
          <p:cNvSpPr/>
          <p:nvPr/>
        </p:nvSpPr>
        <p:spPr>
          <a:xfrm>
            <a:off x="8229600" y="5047488"/>
            <a:ext cx="12700" cy="768096"/>
          </a:xfrm>
          <a:prstGeom prst="rect">
            <a:avLst/>
          </a:prstGeom>
          <a:solidFill>
            <a:srgbClr val="C3CEE2"/>
          </a:solidFill>
          <a:ln>
            <a:noFill/>
          </a:ln>
        </p:spPr>
        <p:txBody>
          <a:bodyPr/>
          <a:lstStyle/>
          <a:p>
            <a:endParaRPr/>
          </a:p>
        </p:txBody>
      </p:sp>
      <p:sp>
        <p:nvSpPr>
          <p:cNvPr id="24" name="Text 21"/>
          <p:cNvSpPr txBox="1"/>
          <p:nvPr/>
        </p:nvSpPr>
        <p:spPr>
          <a:xfrm>
            <a:off x="548640" y="6126480"/>
            <a:ext cx="11064240" cy="274320"/>
          </a:xfrm>
          <a:prstGeom prst="rect">
            <a:avLst/>
          </a:prstGeom>
          <a:noFill/>
          <a:ln/>
        </p:spPr>
        <p:txBody>
          <a:bodyPr wrap="square" lIns="0" tIns="0" rIns="0" bIns="0" rtlCol="0" anchor="t"/>
          <a:lstStyle/>
          <a:p>
            <a:pPr marL="0" indent="0">
              <a:buNone/>
            </a:pPr>
            <a:r>
              <a:rPr lang="en-US" sz="1600" dirty="0">
                <a:solidFill>
                  <a:srgbClr val="4D5D78"/>
                </a:solidFill>
                <a:latin typeface="Calibri" pitchFamily="34" charset="0"/>
                <a:ea typeface="Calibri" pitchFamily="34" charset="-122"/>
                <a:cs typeface="Calibri" pitchFamily="34" charset="-120"/>
              </a:rPr>
              <a:t>Tujuan 1–4 sejajar dengan RM 1–4. Performa dan kompleksitas operasional menjadi dimensi pendukung evaluasi.</a:t>
            </a:r>
            <a:endParaRPr lang="en-US" sz="1500" dirty="0"/>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Tiga kondisi arsitektur dibandingkan</a:t>
            </a:r>
            <a:br>
              <a:rPr lang="en-US" sz="3000" b="1" dirty="0">
                <a:solidFill>
                  <a:srgbClr val="12284C"/>
                </a:solidFill>
                <a:latin typeface="Cambria" pitchFamily="34" charset="0"/>
                <a:ea typeface="Calibri" pitchFamily="34" charset="-122"/>
                <a:cs typeface="Calibri" pitchFamily="34" charset="-120"/>
              </a:rPr>
            </a:br>
            <a:r>
              <a:rPr lang="en-US" sz="3000" b="1" dirty="0">
                <a:solidFill>
                  <a:srgbClr val="12284C"/>
                </a:solidFill>
                <a:latin typeface="Cambria" pitchFamily="34" charset="0"/>
                <a:ea typeface="Calibri" pitchFamily="34" charset="-122"/>
                <a:cs typeface="Calibri" pitchFamily="34" charset="-120"/>
              </a:rPr>
              <a:t>dengan fungsi bisnis yang setara</a:t>
            </a:r>
            <a:endParaRPr lang="en-US" sz="2800" dirty="0"/>
          </a:p>
        </p:txBody>
      </p:sp>
      <p:sp>
        <p:nvSpPr>
          <p:cNvPr id="101" name="Kartu 1"/>
          <p:cNvSpPr/>
          <p:nvPr/>
        </p:nvSpPr>
        <p:spPr>
          <a:xfrm>
            <a:off x="548640" y="1371600"/>
            <a:ext cx="3566160" cy="3630168"/>
          </a:xfrm>
          <a:prstGeom prst="roundRect">
            <a:avLst>
              <a:gd name="adj" fmla="val 9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102" name="Judul kartu"/>
          <p:cNvSpPr txBox="1"/>
          <p:nvPr/>
        </p:nvSpPr>
        <p:spPr>
          <a:xfrm>
            <a:off x="731520" y="1481328"/>
            <a:ext cx="3200400" cy="365760"/>
          </a:xfrm>
          <a:prstGeom prst="roundRect">
            <a:avLst>
              <a:gd name="adj" fmla="val 14000"/>
            </a:avLst>
          </a:prstGeom>
          <a:noFill/>
          <a:ln>
            <a:noFill/>
          </a:ln>
        </p:spPr>
        <p:txBody>
          <a:bodyPr wrap="square" lIns="0" tIns="0" rIns="0" bIns="0" rtlCol="0" anchor="t"/>
          <a:lstStyle/>
          <a:p>
            <a:pPr marL="0" indent="0" algn="l">
              <a:buNone/>
            </a:pPr>
            <a:r>
              <a:rPr lang="id-ID" sz="2200" b="1" dirty="0">
                <a:solidFill>
                  <a:srgbClr val="12284C"/>
                </a:solidFill>
                <a:latin typeface="Calibri"/>
                <a:ea typeface="Calibri"/>
                <a:cs typeface="Calibri"/>
              </a:rPr>
              <a:t>Monolith Terpusat</a:t>
            </a:r>
          </a:p>
        </p:txBody>
      </p:sp>
      <p:sp>
        <p:nvSpPr>
          <p:cNvPr id="103" name="Deskripsi kartu"/>
          <p:cNvSpPr txBox="1"/>
          <p:nvPr/>
        </p:nvSpPr>
        <p:spPr>
          <a:xfrm>
            <a:off x="731520" y="1892808"/>
            <a:ext cx="3200400" cy="502920"/>
          </a:xfrm>
          <a:prstGeom prst="roundRect">
            <a:avLst>
              <a:gd name="adj" fmla="val 14000"/>
            </a:avLst>
          </a:prstGeom>
          <a:noFill/>
          <a:ln>
            <a:noFill/>
          </a:ln>
        </p:spPr>
        <p:txBody>
          <a:bodyPr wrap="square" lIns="0" tIns="0" rIns="0" bIns="0" rtlCol="0" anchor="t"/>
          <a:lstStyle/>
          <a:p>
            <a:pPr marL="0" indent="0" algn="l">
              <a:buNone/>
            </a:pPr>
            <a:r>
              <a:rPr lang="id-ID" sz="1550" b="1" dirty="0">
                <a:solidFill>
                  <a:srgbClr val="12284C"/>
                </a:solidFill>
                <a:latin typeface="Calibri"/>
                <a:ea typeface="Calibri"/>
                <a:cs typeface="Calibri"/>
              </a:rPr>
              <a:t>Acuan terpusat: </a:t>
            </a:r>
            <a:r>
              <a:rPr lang="id-ID" sz="1550" dirty="0">
                <a:solidFill>
                  <a:srgbClr val="4D5D78"/>
                </a:solidFill>
                <a:latin typeface="Calibri"/>
                <a:ea typeface="Calibri"/>
                <a:cs typeface="Calibri"/>
              </a:rPr>
              <a:t>1 aplikasi, 1 basis data</a:t>
            </a:r>
          </a:p>
        </p:txBody>
      </p:sp>
      <p:sp>
        <p:nvSpPr>
          <p:cNvPr id="104" name="Kotak aplikasi"/>
          <p:cNvSpPr/>
          <p:nvPr/>
        </p:nvSpPr>
        <p:spPr>
          <a:xfrm>
            <a:off x="621792" y="2487168"/>
            <a:ext cx="3419856" cy="868680"/>
          </a:xfrm>
          <a:prstGeom prst="roundRect">
            <a:avLst>
              <a:gd name="adj" fmla="val 8000"/>
            </a:avLst>
          </a:prstGeom>
          <a:solidFill>
            <a:srgbClr val="FFFFFF"/>
          </a:solidFill>
          <a:ln w="12700">
            <a:solidFill>
              <a:srgbClr val="D5DEEC"/>
            </a:solidFill>
            <a:prstDash val="solid"/>
          </a:ln>
        </p:spPr>
        <p:txBody>
          <a:bodyPr wrap="square" lIns="0" tIns="0" rIns="0" bIns="0" rtlCol="0" anchor="ctr"/>
          <a:lstStyle/>
          <a:p>
            <a:endParaRPr lang="id-ID"/>
          </a:p>
        </p:txBody>
      </p:sp>
      <p:sp>
        <p:nvSpPr>
          <p:cNvPr id="105" name="Label aplikasi"/>
          <p:cNvSpPr txBox="1"/>
          <p:nvPr/>
        </p:nvSpPr>
        <p:spPr>
          <a:xfrm>
            <a:off x="731520" y="2532888"/>
            <a:ext cx="3200400" cy="228600"/>
          </a:xfrm>
          <a:prstGeom prst="roundRect">
            <a:avLst>
              <a:gd name="adj" fmla="val 14000"/>
            </a:avLst>
          </a:prstGeom>
          <a:noFill/>
          <a:ln>
            <a:noFill/>
          </a:ln>
        </p:spPr>
        <p:txBody>
          <a:bodyPr wrap="none" lIns="0" tIns="0" rIns="0" bIns="0" rtlCol="0" anchor="ctr"/>
          <a:lstStyle/>
          <a:p>
            <a:pPr marL="0" indent="0" algn="ctr">
              <a:buNone/>
            </a:pPr>
            <a:r>
              <a:rPr lang="id-ID" sz="1400" b="1" dirty="0">
                <a:solidFill>
                  <a:srgbClr val="4D5D78"/>
                </a:solidFill>
                <a:latin typeface="Calibri"/>
                <a:ea typeface="Calibri"/>
                <a:cs typeface="Calibri"/>
              </a:rPr>
              <a:t>Laravel, 4 modul, panggilan fungsi</a:t>
            </a:r>
          </a:p>
        </p:txBody>
      </p:sp>
      <p:sp>
        <p:nvSpPr>
          <p:cNvPr id="106" name="Modul Penjualan"/>
          <p:cNvSpPr/>
          <p:nvPr/>
        </p:nvSpPr>
        <p:spPr>
          <a:xfrm>
            <a:off x="685800" y="2788920"/>
            <a:ext cx="795528" cy="438912"/>
          </a:xfrm>
          <a:prstGeom prst="roundRect">
            <a:avLst>
              <a:gd name="adj" fmla="val 14000"/>
            </a:avLst>
          </a:prstGeom>
          <a:solidFill>
            <a:srgbClr val="EEF2F8"/>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Penjualan</a:t>
            </a:r>
          </a:p>
        </p:txBody>
      </p:sp>
      <p:sp>
        <p:nvSpPr>
          <p:cNvPr id="107" name="Modul Persediaan"/>
          <p:cNvSpPr/>
          <p:nvPr/>
        </p:nvSpPr>
        <p:spPr>
          <a:xfrm>
            <a:off x="1517904" y="2788920"/>
            <a:ext cx="795528" cy="438912"/>
          </a:xfrm>
          <a:prstGeom prst="roundRect">
            <a:avLst>
              <a:gd name="adj" fmla="val 14000"/>
            </a:avLst>
          </a:prstGeom>
          <a:solidFill>
            <a:srgbClr val="EEF2F8"/>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Persediaan</a:t>
            </a:r>
          </a:p>
        </p:txBody>
      </p:sp>
      <p:sp>
        <p:nvSpPr>
          <p:cNvPr id="108" name="Modul Pembayaran"/>
          <p:cNvSpPr/>
          <p:nvPr/>
        </p:nvSpPr>
        <p:spPr>
          <a:xfrm>
            <a:off x="2350008" y="2788920"/>
            <a:ext cx="795528" cy="438912"/>
          </a:xfrm>
          <a:prstGeom prst="roundRect">
            <a:avLst>
              <a:gd name="adj" fmla="val 14000"/>
            </a:avLst>
          </a:prstGeom>
          <a:solidFill>
            <a:srgbClr val="EEF2F8"/>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Pembayaran</a:t>
            </a:r>
          </a:p>
        </p:txBody>
      </p:sp>
      <p:sp>
        <p:nvSpPr>
          <p:cNvPr id="109" name="Modul Pelaporan"/>
          <p:cNvSpPr/>
          <p:nvPr/>
        </p:nvSpPr>
        <p:spPr>
          <a:xfrm>
            <a:off x="3182112" y="2788920"/>
            <a:ext cx="795528" cy="438912"/>
          </a:xfrm>
          <a:prstGeom prst="roundRect">
            <a:avLst>
              <a:gd name="adj" fmla="val 14000"/>
            </a:avLst>
          </a:prstGeom>
          <a:solidFill>
            <a:srgbClr val="EEF2F8"/>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Pelaporan</a:t>
            </a:r>
          </a:p>
        </p:txBody>
      </p:sp>
      <p:cxnSp>
        <p:nvCxnSpPr>
          <p:cNvPr id="110" name="Panah ke basis data"/>
          <p:cNvCxnSpPr/>
          <p:nvPr/>
        </p:nvCxnSpPr>
        <p:spPr>
          <a:xfrm>
            <a:off x="2331720" y="3355848"/>
            <a:ext cx="0" cy="411480"/>
          </a:xfrm>
          <a:prstGeom prst="line">
            <a:avLst/>
          </a:prstGeom>
          <a:ln w="22225">
            <a:solidFill>
              <a:srgbClr val="12284C"/>
            </a:solidFill>
            <a:tailEnd type="triangle"/>
          </a:ln>
        </p:spPr>
      </p:cxnSp>
      <p:sp>
        <p:nvSpPr>
          <p:cNvPr id="111" name="Label panah"/>
          <p:cNvSpPr txBox="1"/>
          <p:nvPr/>
        </p:nvSpPr>
        <p:spPr>
          <a:xfrm>
            <a:off x="2468880" y="3474720"/>
            <a:ext cx="1463040" cy="228600"/>
          </a:xfrm>
          <a:prstGeom prst="roundRect">
            <a:avLst>
              <a:gd name="adj" fmla="val 14000"/>
            </a:avLst>
          </a:prstGeom>
          <a:noFill/>
          <a:ln>
            <a:noFill/>
          </a:ln>
        </p:spPr>
        <p:txBody>
          <a:bodyPr wrap="square" lIns="0" tIns="0" rIns="0" bIns="0" rtlCol="0" anchor="ctr"/>
          <a:lstStyle/>
          <a:p>
            <a:pPr marL="0" indent="0" algn="l">
              <a:buNone/>
            </a:pPr>
            <a:r>
              <a:rPr lang="id-ID" sz="1400" dirty="0">
                <a:solidFill>
                  <a:srgbClr val="4D5D78"/>
                </a:solidFill>
                <a:latin typeface="Calibri"/>
                <a:ea typeface="Calibri"/>
                <a:cs typeface="Calibri"/>
              </a:rPr>
              <a:t>akses basis data</a:t>
            </a:r>
          </a:p>
        </p:txBody>
      </p:sp>
      <p:sp>
        <p:nvSpPr>
          <p:cNvPr id="112" name="MySQL bersama"/>
          <p:cNvSpPr/>
          <p:nvPr/>
        </p:nvSpPr>
        <p:spPr>
          <a:xfrm>
            <a:off x="731520" y="3767328"/>
            <a:ext cx="3200400" cy="420624"/>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1 MySQL bersama</a:t>
            </a:r>
          </a:p>
        </p:txBody>
      </p:sp>
      <p:sp>
        <p:nvSpPr>
          <p:cNvPr id="113" name="Teknologi"/>
          <p:cNvSpPr txBox="1"/>
          <p:nvPr/>
        </p:nvSpPr>
        <p:spPr>
          <a:xfrm>
            <a:off x="731520" y="4663440"/>
            <a:ext cx="3200400" cy="292608"/>
          </a:xfrm>
          <a:prstGeom prst="roundRect">
            <a:avLst>
              <a:gd name="adj" fmla="val 14000"/>
            </a:avLst>
          </a:prstGeom>
          <a:noFill/>
          <a:ln>
            <a:noFill/>
          </a:ln>
        </p:spPr>
        <p:txBody>
          <a:bodyPr wrap="square" lIns="0" tIns="0" rIns="0" bIns="0" rtlCol="0" anchor="ctr"/>
          <a:lstStyle/>
          <a:p>
            <a:pPr marL="0" indent="0" algn="l">
              <a:buNone/>
            </a:pPr>
            <a:r>
              <a:rPr lang="id-ID" sz="1500" dirty="0">
                <a:solidFill>
                  <a:srgbClr val="4D5D78"/>
                </a:solidFill>
                <a:latin typeface="Calibri"/>
                <a:ea typeface="Calibri"/>
                <a:cs typeface="Calibri"/>
              </a:rPr>
              <a:t>Laravel · MySQL</a:t>
            </a:r>
          </a:p>
        </p:txBody>
      </p:sp>
      <p:sp>
        <p:nvSpPr>
          <p:cNvPr id="114" name="Kartu 2"/>
          <p:cNvSpPr/>
          <p:nvPr/>
        </p:nvSpPr>
        <p:spPr>
          <a:xfrm>
            <a:off x="4297680" y="1371600"/>
            <a:ext cx="3566160" cy="3630168"/>
          </a:xfrm>
          <a:prstGeom prst="roundRect">
            <a:avLst>
              <a:gd name="adj" fmla="val 9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115" name="Judul kartu"/>
          <p:cNvSpPr txBox="1"/>
          <p:nvPr/>
        </p:nvSpPr>
        <p:spPr>
          <a:xfrm>
            <a:off x="4480560" y="1481328"/>
            <a:ext cx="3200400" cy="365760"/>
          </a:xfrm>
          <a:prstGeom prst="roundRect">
            <a:avLst>
              <a:gd name="adj" fmla="val 14000"/>
            </a:avLst>
          </a:prstGeom>
          <a:noFill/>
          <a:ln>
            <a:noFill/>
          </a:ln>
        </p:spPr>
        <p:txBody>
          <a:bodyPr wrap="square" lIns="0" tIns="0" rIns="0" bIns="0" rtlCol="0" anchor="t"/>
          <a:lstStyle/>
          <a:p>
            <a:pPr marL="0" indent="0" algn="l">
              <a:buNone/>
            </a:pPr>
            <a:r>
              <a:rPr lang="id-ID" sz="2200" b="1" dirty="0">
                <a:solidFill>
                  <a:srgbClr val="12284C"/>
                </a:solidFill>
                <a:latin typeface="Calibri"/>
                <a:ea typeface="Calibri"/>
                <a:cs typeface="Calibri"/>
              </a:rPr>
              <a:t>EDA tanpa Proteksi</a:t>
            </a:r>
          </a:p>
        </p:txBody>
      </p:sp>
      <p:sp>
        <p:nvSpPr>
          <p:cNvPr id="116" name="Deskripsi kartu"/>
          <p:cNvSpPr txBox="1"/>
          <p:nvPr/>
        </p:nvSpPr>
        <p:spPr>
          <a:xfrm>
            <a:off x="4480560" y="1892808"/>
            <a:ext cx="3200400" cy="502920"/>
          </a:xfrm>
          <a:prstGeom prst="roundRect">
            <a:avLst>
              <a:gd name="adj" fmla="val 14000"/>
            </a:avLst>
          </a:prstGeom>
          <a:noFill/>
          <a:ln>
            <a:noFill/>
          </a:ln>
        </p:spPr>
        <p:txBody>
          <a:bodyPr wrap="square" lIns="0" tIns="0" rIns="0" bIns="0" rtlCol="0" anchor="t"/>
          <a:lstStyle/>
          <a:p>
            <a:pPr marL="0" indent="0" algn="l">
              <a:buNone/>
            </a:pPr>
            <a:r>
              <a:rPr lang="id-ID" sz="1550" dirty="0">
                <a:solidFill>
                  <a:srgbClr val="4D5D78"/>
                </a:solidFill>
                <a:latin typeface="Calibri"/>
                <a:ea typeface="Calibri"/>
                <a:cs typeface="Calibri"/>
              </a:rPr>
              <a:t>Event-driven microservices, </a:t>
            </a:r>
            <a:r>
              <a:rPr lang="id-ID" sz="1550" b="1" dirty="0">
                <a:solidFill>
                  <a:srgbClr val="12284C"/>
                </a:solidFill>
                <a:latin typeface="Calibri"/>
                <a:ea typeface="Calibri"/>
                <a:cs typeface="Calibri"/>
              </a:rPr>
              <a:t>baseline EDA</a:t>
            </a:r>
            <a:r>
              <a:rPr lang="id-ID" sz="1550" dirty="0">
                <a:solidFill>
                  <a:srgbClr val="4D5D78"/>
                </a:solidFill>
                <a:latin typeface="Calibri"/>
                <a:ea typeface="Calibri"/>
                <a:cs typeface="Calibri"/>
              </a:rPr>
              <a:t> tanpa lima paket proteksi</a:t>
            </a:r>
          </a:p>
        </p:txBody>
      </p:sp>
      <p:sp>
        <p:nvSpPr>
          <p:cNvPr id="117" name="Layanan Penjualan"/>
          <p:cNvSpPr/>
          <p:nvPr/>
        </p:nvSpPr>
        <p:spPr>
          <a:xfrm>
            <a:off x="4434840"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Penjualan</a:t>
            </a:r>
          </a:p>
        </p:txBody>
      </p:sp>
      <p:cxnSp>
        <p:nvCxnSpPr>
          <p:cNvPr id="118" name="Penghubung Penjualan"/>
          <p:cNvCxnSpPr/>
          <p:nvPr/>
        </p:nvCxnSpPr>
        <p:spPr>
          <a:xfrm>
            <a:off x="4832604" y="3227832"/>
            <a:ext cx="0" cy="109728"/>
          </a:xfrm>
          <a:prstGeom prst="line">
            <a:avLst/>
          </a:prstGeom>
          <a:ln w="12700">
            <a:solidFill>
              <a:srgbClr val="4D5D78"/>
            </a:solidFill>
          </a:ln>
        </p:spPr>
      </p:cxnSp>
      <p:sp>
        <p:nvSpPr>
          <p:cNvPr id="119" name="DB Penjualan"/>
          <p:cNvSpPr/>
          <p:nvPr/>
        </p:nvSpPr>
        <p:spPr>
          <a:xfrm>
            <a:off x="4530852" y="3337560"/>
            <a:ext cx="603504" cy="292608"/>
          </a:xfrm>
          <a:prstGeom prst="roundRect">
            <a:avLst>
              <a:gd name="adj" fmla="val 14286"/>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400" b="1" dirty="0">
                <a:solidFill>
                  <a:srgbClr val="12284C"/>
                </a:solidFill>
                <a:latin typeface="Calibri"/>
                <a:ea typeface="Calibri"/>
                <a:cs typeface="Calibri"/>
              </a:rPr>
              <a:t>DB</a:t>
            </a:r>
          </a:p>
        </p:txBody>
      </p:sp>
      <p:sp>
        <p:nvSpPr>
          <p:cNvPr id="120" name="Layanan Persediaan"/>
          <p:cNvSpPr/>
          <p:nvPr/>
        </p:nvSpPr>
        <p:spPr>
          <a:xfrm>
            <a:off x="5266944"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Persediaan</a:t>
            </a:r>
          </a:p>
        </p:txBody>
      </p:sp>
      <p:cxnSp>
        <p:nvCxnSpPr>
          <p:cNvPr id="121" name="Penghubung Persediaan"/>
          <p:cNvCxnSpPr/>
          <p:nvPr/>
        </p:nvCxnSpPr>
        <p:spPr>
          <a:xfrm>
            <a:off x="5664708" y="3227832"/>
            <a:ext cx="0" cy="109728"/>
          </a:xfrm>
          <a:prstGeom prst="line">
            <a:avLst/>
          </a:prstGeom>
          <a:ln w="12700">
            <a:solidFill>
              <a:srgbClr val="4D5D78"/>
            </a:solidFill>
          </a:ln>
        </p:spPr>
      </p:cxnSp>
      <p:sp>
        <p:nvSpPr>
          <p:cNvPr id="122" name="DB Persediaan"/>
          <p:cNvSpPr/>
          <p:nvPr/>
        </p:nvSpPr>
        <p:spPr>
          <a:xfrm>
            <a:off x="5362956" y="3337560"/>
            <a:ext cx="603504" cy="292608"/>
          </a:xfrm>
          <a:prstGeom prst="roundRect">
            <a:avLst>
              <a:gd name="adj" fmla="val 14286"/>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400" b="1" dirty="0">
                <a:solidFill>
                  <a:srgbClr val="12284C"/>
                </a:solidFill>
                <a:latin typeface="Calibri"/>
                <a:ea typeface="Calibri"/>
                <a:cs typeface="Calibri"/>
              </a:rPr>
              <a:t>DB</a:t>
            </a:r>
          </a:p>
        </p:txBody>
      </p:sp>
      <p:sp>
        <p:nvSpPr>
          <p:cNvPr id="123" name="Layanan Pembayaran"/>
          <p:cNvSpPr/>
          <p:nvPr/>
        </p:nvSpPr>
        <p:spPr>
          <a:xfrm>
            <a:off x="6099048"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Pembayaran</a:t>
            </a:r>
          </a:p>
        </p:txBody>
      </p:sp>
      <p:cxnSp>
        <p:nvCxnSpPr>
          <p:cNvPr id="124" name="Penghubung Pembayaran"/>
          <p:cNvCxnSpPr/>
          <p:nvPr/>
        </p:nvCxnSpPr>
        <p:spPr>
          <a:xfrm>
            <a:off x="6496812" y="3227832"/>
            <a:ext cx="0" cy="109728"/>
          </a:xfrm>
          <a:prstGeom prst="line">
            <a:avLst/>
          </a:prstGeom>
          <a:ln w="12700">
            <a:solidFill>
              <a:srgbClr val="4D5D78"/>
            </a:solidFill>
          </a:ln>
        </p:spPr>
      </p:cxnSp>
      <p:sp>
        <p:nvSpPr>
          <p:cNvPr id="125" name="DB Pembayaran"/>
          <p:cNvSpPr/>
          <p:nvPr/>
        </p:nvSpPr>
        <p:spPr>
          <a:xfrm>
            <a:off x="6195060" y="3337560"/>
            <a:ext cx="603504" cy="292608"/>
          </a:xfrm>
          <a:prstGeom prst="roundRect">
            <a:avLst>
              <a:gd name="adj" fmla="val 14286"/>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400" b="1" dirty="0">
                <a:solidFill>
                  <a:srgbClr val="12284C"/>
                </a:solidFill>
                <a:latin typeface="Calibri"/>
                <a:ea typeface="Calibri"/>
                <a:cs typeface="Calibri"/>
              </a:rPr>
              <a:t>DB</a:t>
            </a:r>
          </a:p>
        </p:txBody>
      </p:sp>
      <p:sp>
        <p:nvSpPr>
          <p:cNvPr id="126" name="Layanan Pelaporan"/>
          <p:cNvSpPr/>
          <p:nvPr/>
        </p:nvSpPr>
        <p:spPr>
          <a:xfrm>
            <a:off x="6931152"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Pelaporan</a:t>
            </a:r>
          </a:p>
        </p:txBody>
      </p:sp>
      <p:cxnSp>
        <p:nvCxnSpPr>
          <p:cNvPr id="127" name="Penghubung Pelaporan"/>
          <p:cNvCxnSpPr/>
          <p:nvPr/>
        </p:nvCxnSpPr>
        <p:spPr>
          <a:xfrm>
            <a:off x="7328916" y="3227832"/>
            <a:ext cx="0" cy="109728"/>
          </a:xfrm>
          <a:prstGeom prst="line">
            <a:avLst/>
          </a:prstGeom>
          <a:ln w="12700">
            <a:solidFill>
              <a:srgbClr val="4D5D78"/>
            </a:solidFill>
          </a:ln>
        </p:spPr>
      </p:cxnSp>
      <p:sp>
        <p:nvSpPr>
          <p:cNvPr id="128" name="DB Pelaporan"/>
          <p:cNvSpPr/>
          <p:nvPr/>
        </p:nvSpPr>
        <p:spPr>
          <a:xfrm>
            <a:off x="7027164" y="3337560"/>
            <a:ext cx="603504" cy="292608"/>
          </a:xfrm>
          <a:prstGeom prst="roundRect">
            <a:avLst>
              <a:gd name="adj" fmla="val 14286"/>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400" b="1" dirty="0">
                <a:solidFill>
                  <a:srgbClr val="12284C"/>
                </a:solidFill>
                <a:latin typeface="Calibri"/>
                <a:ea typeface="Calibri"/>
                <a:cs typeface="Calibri"/>
              </a:rPr>
              <a:t>DB</a:t>
            </a:r>
          </a:p>
        </p:txBody>
      </p:sp>
      <p:sp>
        <p:nvSpPr>
          <p:cNvPr id="129" name="RabbitMQ"/>
          <p:cNvSpPr/>
          <p:nvPr/>
        </p:nvSpPr>
        <p:spPr>
          <a:xfrm>
            <a:off x="4480560" y="3767328"/>
            <a:ext cx="3200400" cy="420624"/>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RabbitMQ (asinkron)</a:t>
            </a:r>
          </a:p>
        </p:txBody>
      </p:sp>
      <p:sp>
        <p:nvSpPr>
          <p:cNvPr id="130" name="Tanpa paket proteksi"/>
          <p:cNvSpPr/>
          <p:nvPr/>
        </p:nvSpPr>
        <p:spPr>
          <a:xfrm>
            <a:off x="4480560" y="4279392"/>
            <a:ext cx="3200400" cy="365760"/>
          </a:xfrm>
          <a:prstGeom prst="roundRect">
            <a:avLst>
              <a:gd name="adj" fmla="val 14000"/>
            </a:avLst>
          </a:prstGeom>
          <a:noFill/>
          <a:ln w="12700">
            <a:solidFill>
              <a:srgbClr val="4D5D78"/>
            </a:solidFill>
            <a:prstDash val="dash"/>
          </a:ln>
        </p:spPr>
        <p:txBody>
          <a:bodyPr wrap="square" lIns="0" tIns="0" rIns="0" bIns="0" rtlCol="0" anchor="ctr"/>
          <a:lstStyle/>
          <a:p>
            <a:pPr marL="0" indent="0" algn="ctr">
              <a:buNone/>
            </a:pPr>
            <a:r>
              <a:rPr lang="id-ID" sz="1550" dirty="0">
                <a:solidFill>
                  <a:srgbClr val="4D5D78"/>
                </a:solidFill>
                <a:latin typeface="Calibri"/>
                <a:ea typeface="Calibri"/>
                <a:cs typeface="Calibri"/>
              </a:rPr>
              <a:t>tanpa lima paket mekanisme proteksi</a:t>
            </a:r>
          </a:p>
        </p:txBody>
      </p:sp>
      <p:sp>
        <p:nvSpPr>
          <p:cNvPr id="131" name="Teknologi"/>
          <p:cNvSpPr txBox="1"/>
          <p:nvPr/>
        </p:nvSpPr>
        <p:spPr>
          <a:xfrm>
            <a:off x="4480560" y="4663440"/>
            <a:ext cx="3200400" cy="292608"/>
          </a:xfrm>
          <a:prstGeom prst="roundRect">
            <a:avLst>
              <a:gd name="adj" fmla="val 14000"/>
            </a:avLst>
          </a:prstGeom>
          <a:noFill/>
          <a:ln>
            <a:noFill/>
          </a:ln>
        </p:spPr>
        <p:txBody>
          <a:bodyPr wrap="square" lIns="0" tIns="0" rIns="0" bIns="0" rtlCol="0" anchor="ctr"/>
          <a:lstStyle/>
          <a:p>
            <a:pPr marL="0" indent="0" algn="l">
              <a:buNone/>
            </a:pPr>
            <a:r>
              <a:rPr lang="id-ID" sz="1500" dirty="0">
                <a:solidFill>
                  <a:srgbClr val="4D5D78"/>
                </a:solidFill>
                <a:latin typeface="Calibri"/>
                <a:ea typeface="Calibri"/>
                <a:cs typeface="Calibri"/>
              </a:rPr>
              <a:t>NestJS · MySQL per layanan · RabbitMQ</a:t>
            </a:r>
          </a:p>
        </p:txBody>
      </p:sp>
      <p:sp>
        <p:nvSpPr>
          <p:cNvPr id="132" name="Kartu 3"/>
          <p:cNvSpPr/>
          <p:nvPr/>
        </p:nvSpPr>
        <p:spPr>
          <a:xfrm>
            <a:off x="8046720" y="1371600"/>
            <a:ext cx="3566160" cy="3630168"/>
          </a:xfrm>
          <a:prstGeom prst="roundRect">
            <a:avLst>
              <a:gd name="adj" fmla="val 9000"/>
            </a:avLst>
          </a:prstGeom>
          <a:solidFill>
            <a:srgbClr val="12284C"/>
          </a:solidFill>
          <a:ln w="9525">
            <a:solidFill>
              <a:srgbClr val="12284C"/>
            </a:solidFill>
            <a:prstDash val="solid"/>
          </a:ln>
        </p:spPr>
        <p:txBody>
          <a:bodyPr wrap="square" lIns="0" tIns="0" rIns="0" bIns="0" rtlCol="0" anchor="ctr"/>
          <a:lstStyle/>
          <a:p>
            <a:endParaRPr lang="id-ID"/>
          </a:p>
        </p:txBody>
      </p:sp>
      <p:sp>
        <p:nvSpPr>
          <p:cNvPr id="133" name="Judul kartu"/>
          <p:cNvSpPr txBox="1"/>
          <p:nvPr/>
        </p:nvSpPr>
        <p:spPr>
          <a:xfrm>
            <a:off x="8229600" y="1481328"/>
            <a:ext cx="3200400" cy="365760"/>
          </a:xfrm>
          <a:prstGeom prst="roundRect">
            <a:avLst>
              <a:gd name="adj" fmla="val 14000"/>
            </a:avLst>
          </a:prstGeom>
          <a:noFill/>
          <a:ln>
            <a:noFill/>
          </a:ln>
        </p:spPr>
        <p:txBody>
          <a:bodyPr wrap="square" lIns="0" tIns="0" rIns="0" bIns="0" rtlCol="0" anchor="t"/>
          <a:lstStyle/>
          <a:p>
            <a:pPr marL="0" indent="0" algn="l">
              <a:buNone/>
            </a:pPr>
            <a:r>
              <a:rPr lang="id-ID" sz="2200" b="1" dirty="0">
                <a:solidFill>
                  <a:srgbClr val="FFFFFF"/>
                </a:solidFill>
                <a:latin typeface="Calibri"/>
                <a:ea typeface="Calibri"/>
                <a:cs typeface="Calibri"/>
              </a:rPr>
              <a:t>EDA dengan Proteksi</a:t>
            </a:r>
          </a:p>
        </p:txBody>
      </p:sp>
      <p:sp>
        <p:nvSpPr>
          <p:cNvPr id="134" name="Deskripsi kartu"/>
          <p:cNvSpPr txBox="1"/>
          <p:nvPr/>
        </p:nvSpPr>
        <p:spPr>
          <a:xfrm>
            <a:off x="8229600" y="1892808"/>
            <a:ext cx="3200400" cy="502920"/>
          </a:xfrm>
          <a:prstGeom prst="roundRect">
            <a:avLst>
              <a:gd name="adj" fmla="val 14000"/>
            </a:avLst>
          </a:prstGeom>
          <a:noFill/>
          <a:ln>
            <a:noFill/>
          </a:ln>
        </p:spPr>
        <p:txBody>
          <a:bodyPr wrap="square" lIns="0" tIns="0" rIns="0" bIns="0" rtlCol="0" anchor="t"/>
          <a:lstStyle/>
          <a:p>
            <a:pPr marL="0" indent="0" algn="l">
              <a:buNone/>
            </a:pPr>
            <a:r>
              <a:rPr lang="id-ID" sz="1550" dirty="0">
                <a:solidFill>
                  <a:srgbClr val="CADCFC"/>
                </a:solidFill>
                <a:latin typeface="Calibri"/>
                <a:ea typeface="Calibri"/>
                <a:cs typeface="Calibri"/>
              </a:rPr>
              <a:t>Event-driven microservices, </a:t>
            </a:r>
            <a:r>
              <a:rPr lang="id-ID" sz="1550" b="1" dirty="0">
                <a:solidFill>
                  <a:srgbClr val="FFFFFF"/>
                </a:solidFill>
                <a:latin typeface="Calibri"/>
                <a:ea typeface="Calibri"/>
                <a:cs typeface="Calibri"/>
              </a:rPr>
              <a:t>baseline EDA + lima paket proteksi</a:t>
            </a:r>
          </a:p>
        </p:txBody>
      </p:sp>
      <p:sp>
        <p:nvSpPr>
          <p:cNvPr id="135" name="Layanan Penjualan"/>
          <p:cNvSpPr/>
          <p:nvPr/>
        </p:nvSpPr>
        <p:spPr>
          <a:xfrm>
            <a:off x="8183879"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Penjualan</a:t>
            </a:r>
          </a:p>
        </p:txBody>
      </p:sp>
      <p:cxnSp>
        <p:nvCxnSpPr>
          <p:cNvPr id="136" name="Penghubung Penjualan"/>
          <p:cNvCxnSpPr/>
          <p:nvPr/>
        </p:nvCxnSpPr>
        <p:spPr>
          <a:xfrm>
            <a:off x="8581644" y="3227832"/>
            <a:ext cx="0" cy="109728"/>
          </a:xfrm>
          <a:prstGeom prst="line">
            <a:avLst/>
          </a:prstGeom>
          <a:ln w="12700">
            <a:solidFill>
              <a:srgbClr val="CADCFC"/>
            </a:solidFill>
          </a:ln>
        </p:spPr>
      </p:cxnSp>
      <p:sp>
        <p:nvSpPr>
          <p:cNvPr id="137" name="DB Penjualan"/>
          <p:cNvSpPr/>
          <p:nvPr/>
        </p:nvSpPr>
        <p:spPr>
          <a:xfrm>
            <a:off x="8279892" y="3337560"/>
            <a:ext cx="603504" cy="292608"/>
          </a:xfrm>
          <a:prstGeom prst="roundRect">
            <a:avLst>
              <a:gd name="adj" fmla="val 14286"/>
            </a:avLst>
          </a:prstGeom>
          <a:solidFill>
            <a:srgbClr val="2A4373"/>
          </a:solidFill>
          <a:ln w="12700">
            <a:solidFill>
              <a:srgbClr val="2A4373"/>
            </a:solidFill>
            <a:prstDash val="solid"/>
          </a:ln>
        </p:spPr>
        <p:txBody>
          <a:bodyPr wrap="square" lIns="0" tIns="0" rIns="0" bIns="0" rtlCol="0" anchor="ctr"/>
          <a:lstStyle/>
          <a:p>
            <a:pPr marL="0" indent="0" algn="ctr">
              <a:buNone/>
            </a:pPr>
            <a:r>
              <a:rPr lang="id-ID" sz="1400" b="1" dirty="0">
                <a:solidFill>
                  <a:srgbClr val="FFFFFF"/>
                </a:solidFill>
                <a:latin typeface="Calibri"/>
                <a:ea typeface="Calibri"/>
                <a:cs typeface="Calibri"/>
              </a:rPr>
              <a:t>DB</a:t>
            </a:r>
          </a:p>
        </p:txBody>
      </p:sp>
      <p:sp>
        <p:nvSpPr>
          <p:cNvPr id="138" name="Layanan Persediaan"/>
          <p:cNvSpPr/>
          <p:nvPr/>
        </p:nvSpPr>
        <p:spPr>
          <a:xfrm>
            <a:off x="9015984"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Persediaan</a:t>
            </a:r>
          </a:p>
        </p:txBody>
      </p:sp>
      <p:cxnSp>
        <p:nvCxnSpPr>
          <p:cNvPr id="139" name="Penghubung Persediaan"/>
          <p:cNvCxnSpPr/>
          <p:nvPr/>
        </p:nvCxnSpPr>
        <p:spPr>
          <a:xfrm>
            <a:off x="9413748" y="3227832"/>
            <a:ext cx="0" cy="109728"/>
          </a:xfrm>
          <a:prstGeom prst="line">
            <a:avLst/>
          </a:prstGeom>
          <a:ln w="12700">
            <a:solidFill>
              <a:srgbClr val="CADCFC"/>
            </a:solidFill>
          </a:ln>
        </p:spPr>
      </p:cxnSp>
      <p:sp>
        <p:nvSpPr>
          <p:cNvPr id="140" name="DB Persediaan"/>
          <p:cNvSpPr/>
          <p:nvPr/>
        </p:nvSpPr>
        <p:spPr>
          <a:xfrm>
            <a:off x="9111996" y="3337560"/>
            <a:ext cx="603504" cy="292608"/>
          </a:xfrm>
          <a:prstGeom prst="roundRect">
            <a:avLst>
              <a:gd name="adj" fmla="val 14286"/>
            </a:avLst>
          </a:prstGeom>
          <a:solidFill>
            <a:srgbClr val="2A4373"/>
          </a:solidFill>
          <a:ln w="12700">
            <a:solidFill>
              <a:srgbClr val="2A4373"/>
            </a:solidFill>
            <a:prstDash val="solid"/>
          </a:ln>
        </p:spPr>
        <p:txBody>
          <a:bodyPr wrap="square" lIns="0" tIns="0" rIns="0" bIns="0" rtlCol="0" anchor="ctr"/>
          <a:lstStyle/>
          <a:p>
            <a:pPr marL="0" indent="0" algn="ctr">
              <a:buNone/>
            </a:pPr>
            <a:r>
              <a:rPr lang="id-ID" sz="1400" b="1" dirty="0">
                <a:solidFill>
                  <a:srgbClr val="FFFFFF"/>
                </a:solidFill>
                <a:latin typeface="Calibri"/>
                <a:ea typeface="Calibri"/>
                <a:cs typeface="Calibri"/>
              </a:rPr>
              <a:t>DB</a:t>
            </a:r>
          </a:p>
        </p:txBody>
      </p:sp>
      <p:sp>
        <p:nvSpPr>
          <p:cNvPr id="141" name="Layanan Pembayaran"/>
          <p:cNvSpPr/>
          <p:nvPr/>
        </p:nvSpPr>
        <p:spPr>
          <a:xfrm>
            <a:off x="9848088"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Pembayaran</a:t>
            </a:r>
          </a:p>
        </p:txBody>
      </p:sp>
      <p:cxnSp>
        <p:nvCxnSpPr>
          <p:cNvPr id="142" name="Penghubung Pembayaran"/>
          <p:cNvCxnSpPr/>
          <p:nvPr/>
        </p:nvCxnSpPr>
        <p:spPr>
          <a:xfrm>
            <a:off x="10245852" y="3227832"/>
            <a:ext cx="0" cy="109728"/>
          </a:xfrm>
          <a:prstGeom prst="line">
            <a:avLst/>
          </a:prstGeom>
          <a:ln w="12700">
            <a:solidFill>
              <a:srgbClr val="CADCFC"/>
            </a:solidFill>
          </a:ln>
        </p:spPr>
      </p:cxnSp>
      <p:sp>
        <p:nvSpPr>
          <p:cNvPr id="143" name="DB Pembayaran"/>
          <p:cNvSpPr/>
          <p:nvPr/>
        </p:nvSpPr>
        <p:spPr>
          <a:xfrm>
            <a:off x="9944100" y="3337560"/>
            <a:ext cx="603504" cy="292608"/>
          </a:xfrm>
          <a:prstGeom prst="roundRect">
            <a:avLst>
              <a:gd name="adj" fmla="val 14286"/>
            </a:avLst>
          </a:prstGeom>
          <a:solidFill>
            <a:srgbClr val="2A4373"/>
          </a:solidFill>
          <a:ln w="12700">
            <a:solidFill>
              <a:srgbClr val="2A4373"/>
            </a:solidFill>
            <a:prstDash val="solid"/>
          </a:ln>
        </p:spPr>
        <p:txBody>
          <a:bodyPr wrap="square" lIns="0" tIns="0" rIns="0" bIns="0" rtlCol="0" anchor="ctr"/>
          <a:lstStyle/>
          <a:p>
            <a:pPr marL="0" indent="0" algn="ctr">
              <a:buNone/>
            </a:pPr>
            <a:r>
              <a:rPr lang="id-ID" sz="1400" b="1" dirty="0">
                <a:solidFill>
                  <a:srgbClr val="FFFFFF"/>
                </a:solidFill>
                <a:latin typeface="Calibri"/>
                <a:ea typeface="Calibri"/>
                <a:cs typeface="Calibri"/>
              </a:rPr>
              <a:t>DB</a:t>
            </a:r>
          </a:p>
        </p:txBody>
      </p:sp>
      <p:sp>
        <p:nvSpPr>
          <p:cNvPr id="144" name="Layanan Pelaporan"/>
          <p:cNvSpPr/>
          <p:nvPr/>
        </p:nvSpPr>
        <p:spPr>
          <a:xfrm>
            <a:off x="10680192"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Pelaporan</a:t>
            </a:r>
          </a:p>
        </p:txBody>
      </p:sp>
      <p:cxnSp>
        <p:nvCxnSpPr>
          <p:cNvPr id="145" name="Penghubung Pelaporan"/>
          <p:cNvCxnSpPr/>
          <p:nvPr/>
        </p:nvCxnSpPr>
        <p:spPr>
          <a:xfrm>
            <a:off x="11077956" y="3227832"/>
            <a:ext cx="0" cy="109728"/>
          </a:xfrm>
          <a:prstGeom prst="line">
            <a:avLst/>
          </a:prstGeom>
          <a:ln w="12700">
            <a:solidFill>
              <a:srgbClr val="CADCFC"/>
            </a:solidFill>
          </a:ln>
        </p:spPr>
      </p:cxnSp>
      <p:sp>
        <p:nvSpPr>
          <p:cNvPr id="146" name="DB Pelaporan"/>
          <p:cNvSpPr/>
          <p:nvPr/>
        </p:nvSpPr>
        <p:spPr>
          <a:xfrm>
            <a:off x="10776204" y="3337560"/>
            <a:ext cx="603504" cy="292608"/>
          </a:xfrm>
          <a:prstGeom prst="roundRect">
            <a:avLst>
              <a:gd name="adj" fmla="val 14286"/>
            </a:avLst>
          </a:prstGeom>
          <a:solidFill>
            <a:srgbClr val="2A4373"/>
          </a:solidFill>
          <a:ln w="12700">
            <a:solidFill>
              <a:srgbClr val="2A4373"/>
            </a:solidFill>
            <a:prstDash val="solid"/>
          </a:ln>
        </p:spPr>
        <p:txBody>
          <a:bodyPr wrap="square" lIns="0" tIns="0" rIns="0" bIns="0" rtlCol="0" anchor="ctr"/>
          <a:lstStyle/>
          <a:p>
            <a:pPr marL="0" indent="0" algn="ctr">
              <a:buNone/>
            </a:pPr>
            <a:r>
              <a:rPr lang="id-ID" sz="1400" b="1" dirty="0">
                <a:solidFill>
                  <a:srgbClr val="FFFFFF"/>
                </a:solidFill>
                <a:latin typeface="Calibri"/>
                <a:ea typeface="Calibri"/>
                <a:cs typeface="Calibri"/>
              </a:rPr>
              <a:t>DB</a:t>
            </a:r>
          </a:p>
        </p:txBody>
      </p:sp>
      <p:sp>
        <p:nvSpPr>
          <p:cNvPr id="147" name="RabbitMQ"/>
          <p:cNvSpPr/>
          <p:nvPr/>
        </p:nvSpPr>
        <p:spPr>
          <a:xfrm>
            <a:off x="8229600" y="3767328"/>
            <a:ext cx="3200400" cy="420624"/>
          </a:xfrm>
          <a:prstGeom prst="roundRect">
            <a:avLst>
              <a:gd name="adj" fmla="val 14000"/>
            </a:avLst>
          </a:prstGeom>
          <a:solidFill>
            <a:srgbClr val="FFFFFF"/>
          </a:solidFill>
          <a:ln w="12700">
            <a:solidFill>
              <a:srgbClr val="FFFFFF"/>
            </a:solidFill>
            <a:prstDash val="solid"/>
          </a:ln>
        </p:spPr>
        <p:txBody>
          <a:bodyPr wrap="square" lIns="0" tIns="0" rIns="0" bIns="0" rtlCol="0" anchor="ctr"/>
          <a:lstStyle/>
          <a:p>
            <a:pPr marL="0" indent="0" algn="ctr">
              <a:buNone/>
            </a:pPr>
            <a:r>
              <a:rPr lang="id-ID" sz="1700" b="1" dirty="0">
                <a:solidFill>
                  <a:srgbClr val="12284C"/>
                </a:solidFill>
                <a:latin typeface="Calibri"/>
                <a:ea typeface="Calibri"/>
                <a:cs typeface="Calibri"/>
              </a:rPr>
              <a:t>RabbitMQ (asinkron)</a:t>
            </a:r>
          </a:p>
        </p:txBody>
      </p:sp>
      <p:sp>
        <p:nvSpPr>
          <p:cNvPr id="148" name="Paket proteksi"/>
          <p:cNvSpPr/>
          <p:nvPr/>
        </p:nvSpPr>
        <p:spPr>
          <a:xfrm>
            <a:off x="8229600" y="4279392"/>
            <a:ext cx="3200400" cy="36576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700" b="1" dirty="0">
                <a:solidFill>
                  <a:srgbClr val="12284C"/>
                </a:solidFill>
                <a:latin typeface="Calibri"/>
                <a:ea typeface="Calibri"/>
                <a:cs typeface="Calibri"/>
              </a:rPr>
              <a:t>+ lima paket mekanisme proteksi</a:t>
            </a:r>
          </a:p>
        </p:txBody>
      </p:sp>
      <p:sp>
        <p:nvSpPr>
          <p:cNvPr id="149" name="Teknologi"/>
          <p:cNvSpPr txBox="1"/>
          <p:nvPr/>
        </p:nvSpPr>
        <p:spPr>
          <a:xfrm>
            <a:off x="8229600" y="4663440"/>
            <a:ext cx="3200400" cy="292608"/>
          </a:xfrm>
          <a:prstGeom prst="roundRect">
            <a:avLst>
              <a:gd name="adj" fmla="val 14000"/>
            </a:avLst>
          </a:prstGeom>
          <a:noFill/>
          <a:ln>
            <a:noFill/>
          </a:ln>
        </p:spPr>
        <p:txBody>
          <a:bodyPr wrap="square" lIns="0" tIns="0" rIns="0" bIns="0" rtlCol="0" anchor="ctr"/>
          <a:lstStyle/>
          <a:p>
            <a:pPr marL="0" indent="0" algn="l">
              <a:buNone/>
            </a:pPr>
            <a:r>
              <a:rPr lang="id-ID" sz="1500" dirty="0">
                <a:solidFill>
                  <a:srgbClr val="CADCFC"/>
                </a:solidFill>
                <a:latin typeface="Calibri"/>
                <a:ea typeface="Calibri"/>
                <a:cs typeface="Calibri"/>
              </a:rPr>
              <a:t>NestJS · MySQL per layanan · RabbitMQ</a:t>
            </a:r>
          </a:p>
        </p:txBody>
      </p:sp>
      <p:sp>
        <p:nvSpPr>
          <p:cNvPr id="150" name="Kotak Monolith vs EDA"/>
          <p:cNvSpPr/>
          <p:nvPr/>
        </p:nvSpPr>
        <p:spPr>
          <a:xfrm>
            <a:off x="548640" y="5102352"/>
            <a:ext cx="3566160" cy="1325880"/>
          </a:xfrm>
          <a:prstGeom prst="roundRect">
            <a:avLst>
              <a:gd name="adj" fmla="val 9000"/>
            </a:avLst>
          </a:prstGeom>
          <a:solidFill>
            <a:srgbClr val="FFFFFF"/>
          </a:solidFill>
          <a:ln w="15875">
            <a:solidFill>
              <a:srgbClr val="D5DEEC"/>
            </a:solidFill>
            <a:prstDash val="solid"/>
          </a:ln>
        </p:spPr>
        <p:txBody>
          <a:bodyPr wrap="square" lIns="0" tIns="0" rIns="0" bIns="0" rtlCol="0" anchor="ctr"/>
          <a:lstStyle/>
          <a:p>
            <a:endParaRPr lang="id-ID"/>
          </a:p>
        </p:txBody>
      </p:sp>
      <p:sp>
        <p:nvSpPr>
          <p:cNvPr id="151" name="Teks Monolith vs EDA"/>
          <p:cNvSpPr txBox="1"/>
          <p:nvPr/>
        </p:nvSpPr>
        <p:spPr>
          <a:xfrm>
            <a:off x="685800" y="5148072"/>
            <a:ext cx="3337560" cy="1188720"/>
          </a:xfrm>
          <a:prstGeom prst="roundRect">
            <a:avLst>
              <a:gd name="adj" fmla="val 14000"/>
            </a:avLst>
          </a:prstGeom>
          <a:noFill/>
          <a:ln>
            <a:noFill/>
          </a:ln>
        </p:spPr>
        <p:txBody>
          <a:bodyPr wrap="square" lIns="0" tIns="0" rIns="0" bIns="0" rtlCol="0" anchor="ctr"/>
          <a:lstStyle/>
          <a:p>
            <a:pPr marL="0" indent="0" algn="l">
              <a:buNone/>
            </a:pPr>
            <a:r>
              <a:rPr lang="id-ID" sz="1350" b="1" dirty="0">
                <a:solidFill>
                  <a:srgbClr val="12284C"/>
                </a:solidFill>
                <a:latin typeface="Calibri"/>
                <a:ea typeface="Calibri"/>
                <a:cs typeface="Calibri"/>
              </a:rPr>
              <a:t>MONOLITH vs EDA: PERBANDINGAN ARSITEKTUR UTUH</a:t>
            </a:r>
          </a:p>
          <a:p>
            <a:pPr marL="0" indent="0" algn="l">
              <a:spcBef>
                <a:spcPts val="200"/>
              </a:spcBef>
              <a:buNone/>
            </a:pPr>
            <a:r>
              <a:rPr lang="id-ID" sz="1250" dirty="0">
                <a:solidFill>
                  <a:srgbClr val="2A4373"/>
                </a:solidFill>
                <a:latin typeface="Calibri"/>
                <a:ea typeface="Calibri"/>
                <a:cs typeface="Calibri"/>
              </a:rPr>
              <a:t>Framework, basis data, dan pola komunikasi berbeda sekaligus.</a:t>
            </a:r>
          </a:p>
          <a:p>
            <a:pPr marL="0" indent="0" algn="l">
              <a:spcBef>
                <a:spcPts val="200"/>
              </a:spcBef>
              <a:buNone/>
            </a:pPr>
            <a:r>
              <a:rPr lang="id-ID" sz="1250" b="1" dirty="0">
                <a:solidFill>
                  <a:srgbClr val="2A4373"/>
                </a:solidFill>
                <a:latin typeface="Calibri"/>
                <a:ea typeface="Calibri"/>
                <a:cs typeface="Calibri"/>
              </a:rPr>
              <a:t>→ Selisih hasil dibaca sebagai perbedaan arsitektur secara utuh.</a:t>
            </a:r>
          </a:p>
        </p:txBody>
      </p:sp>
      <p:sp>
        <p:nvSpPr>
          <p:cNvPr id="152" name="Kotak EDA vs EDA"/>
          <p:cNvSpPr/>
          <p:nvPr/>
        </p:nvSpPr>
        <p:spPr>
          <a:xfrm>
            <a:off x="4297680" y="5102352"/>
            <a:ext cx="7315200" cy="1325880"/>
          </a:xfrm>
          <a:prstGeom prst="roundRect">
            <a:avLst>
              <a:gd name="adj" fmla="val 9000"/>
            </a:avLst>
          </a:prstGeom>
          <a:solidFill>
            <a:srgbClr val="FAF3D7"/>
          </a:solidFill>
          <a:ln w="25400">
            <a:solidFill>
              <a:srgbClr val="8B6300"/>
            </a:solidFill>
            <a:prstDash val="solid"/>
          </a:ln>
        </p:spPr>
        <p:txBody>
          <a:bodyPr wrap="square" lIns="0" tIns="0" rIns="0" bIns="0" rtlCol="0" anchor="ctr"/>
          <a:lstStyle/>
          <a:p>
            <a:endParaRPr lang="id-ID"/>
          </a:p>
        </p:txBody>
      </p:sp>
      <p:sp>
        <p:nvSpPr>
          <p:cNvPr id="153" name="Teks EDA vs EDA"/>
          <p:cNvSpPr txBox="1"/>
          <p:nvPr/>
        </p:nvSpPr>
        <p:spPr>
          <a:xfrm>
            <a:off x="4480560" y="5138928"/>
            <a:ext cx="6949440" cy="274320"/>
          </a:xfrm>
          <a:prstGeom prst="roundRect">
            <a:avLst>
              <a:gd name="adj" fmla="val 14000"/>
            </a:avLst>
          </a:prstGeom>
          <a:noFill/>
          <a:ln>
            <a:noFill/>
          </a:ln>
        </p:spPr>
        <p:txBody>
          <a:bodyPr wrap="square" lIns="0" tIns="0" rIns="0" bIns="0" rtlCol="0" anchor="ctr"/>
          <a:lstStyle/>
          <a:p>
            <a:pPr marL="0" indent="0" algn="l">
              <a:buNone/>
            </a:pPr>
            <a:r>
              <a:rPr lang="id-ID" sz="1400" b="1" i="0" dirty="0">
                <a:solidFill>
                  <a:srgbClr val="12284C"/>
                </a:solidFill>
                <a:latin typeface="Calibri"/>
                <a:ea typeface="Calibri"/>
                <a:cs typeface="Calibri"/>
              </a:rPr>
              <a:t>EDA: BASELINE DIBUAT SAMA, PROTEKSI MENJADI PEMBEDA</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6</a:t>
            </a:fld>
            <a:endParaRPr lang="en-US"/>
          </a:p>
        </p:txBody>
      </p:sp>
      <p:sp>
        <p:nvSpPr>
          <p:cNvPr id="401" name="Teks baru 401"/>
          <p:cNvSpPr txBox="1"/>
          <p:nvPr/>
        </p:nvSpPr>
        <p:spPr>
          <a:xfrm>
            <a:off x="4480560" y="5477256"/>
            <a:ext cx="3383280" cy="502920"/>
          </a:xfrm>
          <a:prstGeom prst="roundRect">
            <a:avLst>
              <a:gd name="adj" fmla="val 14000"/>
            </a:avLst>
          </a:prstGeom>
          <a:noFill/>
          <a:ln>
            <a:noFill/>
          </a:ln>
        </p:spPr>
        <p:txBody>
          <a:bodyPr wrap="square" lIns="0" tIns="0" rIns="0" bIns="0" rtlCol="0" anchor="ctr"/>
          <a:lstStyle/>
          <a:p>
            <a:pPr marL="0" indent="0" algn="l">
              <a:buNone/>
            </a:pPr>
            <a:r>
              <a:rPr lang="id-ID" sz="1200" b="1" i="0" dirty="0">
                <a:solidFill>
                  <a:srgbClr val="8B6300"/>
                </a:solidFill>
                <a:latin typeface="Calibri"/>
                <a:ea typeface="Calibri"/>
                <a:cs typeface="Calibri"/>
              </a:rPr>
              <a:t>DIBUAT SAMA</a:t>
            </a:r>
          </a:p>
          <a:p>
            <a:pPr marL="0" indent="0" algn="l">
              <a:buNone/>
            </a:pPr>
            <a:r>
              <a:rPr lang="id-ID" sz="1250" b="0" i="0" dirty="0">
                <a:solidFill>
                  <a:srgbClr val="12284C"/>
                </a:solidFill>
                <a:latin typeface="Calibri"/>
                <a:ea typeface="Calibri"/>
                <a:cs typeface="Calibri"/>
              </a:rPr>
              <a:t>4 layanan EDA · DB per layanan · RabbitMQ · konfigurasi dasar broker · total sumber daya</a:t>
            </a:r>
          </a:p>
        </p:txBody>
      </p:sp>
      <p:sp>
        <p:nvSpPr>
          <p:cNvPr id="402" name="Teks baru 402"/>
          <p:cNvSpPr txBox="1"/>
          <p:nvPr/>
        </p:nvSpPr>
        <p:spPr>
          <a:xfrm>
            <a:off x="8092440" y="5477256"/>
            <a:ext cx="3383280" cy="502920"/>
          </a:xfrm>
          <a:prstGeom prst="roundRect">
            <a:avLst>
              <a:gd name="adj" fmla="val 14000"/>
            </a:avLst>
          </a:prstGeom>
          <a:noFill/>
          <a:ln>
            <a:noFill/>
          </a:ln>
        </p:spPr>
        <p:txBody>
          <a:bodyPr wrap="square" lIns="0" tIns="0" rIns="0" bIns="0" rtlCol="0" anchor="ctr"/>
          <a:lstStyle/>
          <a:p>
            <a:pPr marL="0" indent="0" algn="l">
              <a:buNone/>
            </a:pPr>
            <a:r>
              <a:rPr lang="id-ID" sz="1200" b="1" i="0" dirty="0">
                <a:solidFill>
                  <a:srgbClr val="8B6300"/>
                </a:solidFill>
                <a:latin typeface="Calibri"/>
                <a:ea typeface="Calibri"/>
                <a:cs typeface="Calibri"/>
              </a:rPr>
              <a:t>PEMBEDA</a:t>
            </a:r>
          </a:p>
          <a:p>
            <a:pPr marL="0" indent="0" algn="l">
              <a:buNone/>
            </a:pPr>
            <a:r>
              <a:rPr lang="id-ID" sz="1250" b="1" i="0" dirty="0">
                <a:solidFill>
                  <a:srgbClr val="12284C"/>
                </a:solidFill>
                <a:latin typeface="Calibri"/>
                <a:ea typeface="Calibri"/>
                <a:cs typeface="Calibri"/>
              </a:rPr>
              <a:t>+ Outbox · Inbox/Idempotency · OCC · Saga/Compensation · Retry/DLQ</a:t>
            </a:r>
          </a:p>
        </p:txBody>
      </p:sp>
      <p:sp>
        <p:nvSpPr>
          <p:cNvPr id="403" name="Teks baru 403"/>
          <p:cNvSpPr txBox="1"/>
          <p:nvPr/>
        </p:nvSpPr>
        <p:spPr>
          <a:xfrm>
            <a:off x="4480560" y="5998464"/>
            <a:ext cx="6949440" cy="246888"/>
          </a:xfrm>
          <a:prstGeom prst="roundRect">
            <a:avLst>
              <a:gd name="adj" fmla="val 14000"/>
            </a:avLst>
          </a:prstGeom>
          <a:noFill/>
          <a:ln>
            <a:noFill/>
          </a:ln>
        </p:spPr>
        <p:txBody>
          <a:bodyPr wrap="square" lIns="0" tIns="0" rIns="0" bIns="0" rtlCol="0" anchor="ctr"/>
          <a:lstStyle/>
          <a:p>
            <a:pPr marL="0" indent="0" algn="l">
              <a:buNone/>
            </a:pPr>
            <a:r>
              <a:rPr lang="id-ID" sz="1350" b="1" i="0" dirty="0">
                <a:solidFill>
                  <a:srgbClr val="12284C"/>
                </a:solidFill>
                <a:latin typeface="Calibri"/>
                <a:ea typeface="Calibri"/>
                <a:cs typeface="Calibri"/>
              </a:rPr>
              <a:t>Tanpa Proteksi = baseline   |   Dengan Proteksi = baseline + 5 mekanisme</a:t>
            </a:r>
          </a:p>
        </p:txBody>
      </p:sp>
      <p:sp>
        <p:nvSpPr>
          <p:cNvPr id="404" name="Teks baru 404"/>
          <p:cNvSpPr txBox="1"/>
          <p:nvPr/>
        </p:nvSpPr>
        <p:spPr>
          <a:xfrm>
            <a:off x="4480560" y="6208776"/>
            <a:ext cx="6949440" cy="201168"/>
          </a:xfrm>
          <a:prstGeom prst="roundRect">
            <a:avLst>
              <a:gd name="adj" fmla="val 14000"/>
            </a:avLst>
          </a:prstGeom>
          <a:noFill/>
          <a:ln>
            <a:noFill/>
          </a:ln>
        </p:spPr>
        <p:txBody>
          <a:bodyPr wrap="square" lIns="0" tIns="0" rIns="0" bIns="0" rtlCol="0" anchor="ctr"/>
          <a:lstStyle/>
          <a:p>
            <a:pPr marL="0" indent="0" algn="l">
              <a:buNone/>
            </a:pPr>
            <a:r>
              <a:rPr lang="id-ID" sz="1200" b="0" i="1" dirty="0">
                <a:solidFill>
                  <a:srgbClr val="12284C"/>
                </a:solidFill>
                <a:latin typeface="Calibri"/>
                <a:ea typeface="Calibri"/>
                <a:cs typeface="Calibri"/>
              </a:rPr>
              <a:t>Hasil EDA dibandingkan sebagai efek paket proteksi secara keseluruhan.</a:t>
            </a:r>
          </a:p>
        </p:txBody>
      </p:sp>
      <p:sp>
        <p:nvSpPr>
          <p:cNvPr id="405" name="Rectangle 404"/>
          <p:cNvSpPr/>
          <p:nvPr/>
        </p:nvSpPr>
        <p:spPr>
          <a:xfrm>
            <a:off x="7973568" y="5513832"/>
            <a:ext cx="13716" cy="420624"/>
          </a:xfrm>
          <a:prstGeom prst="rect">
            <a:avLst/>
          </a:prstGeom>
          <a:solidFill>
            <a:srgbClr val="8B6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Konsistensi dinilai dari kondisi akhir data</a:t>
            </a:r>
            <a:br>
              <a:rPr lang="en-US" sz="3000" b="1" dirty="0">
                <a:solidFill>
                  <a:srgbClr val="12284C"/>
                </a:solidFill>
                <a:latin typeface="Cambria" pitchFamily="34" charset="0"/>
                <a:ea typeface="Calibri" pitchFamily="34" charset="-122"/>
                <a:cs typeface="Calibri" pitchFamily="34" charset="-120"/>
              </a:rPr>
            </a:br>
            <a:r>
              <a:rPr lang="en-US" sz="3000" b="1" dirty="0">
                <a:solidFill>
                  <a:srgbClr val="12284C"/>
                </a:solidFill>
                <a:latin typeface="Cambria" pitchFamily="34" charset="0"/>
                <a:ea typeface="Calibri" pitchFamily="34" charset="-122"/>
                <a:cs typeface="Calibri" pitchFamily="34" charset="-120"/>
              </a:rPr>
              <a:t>setelah proses dan pemulihan selesai</a:t>
            </a:r>
            <a:endParaRPr lang="en-US" sz="2800" dirty="0"/>
          </a:p>
        </p:txBody>
      </p:sp>
      <p:sp>
        <p:nvSpPr>
          <p:cNvPr id="101" name="Definisi 1"/>
          <p:cNvSpPr/>
          <p:nvPr/>
        </p:nvSpPr>
        <p:spPr>
          <a:xfrm>
            <a:off x="548640" y="1325880"/>
            <a:ext cx="5440680" cy="942565"/>
          </a:xfrm>
          <a:prstGeom prst="roundRect">
            <a:avLst>
              <a:gd name="adj" fmla="val 12000"/>
            </a:avLst>
          </a:prstGeom>
          <a:solidFill>
            <a:srgbClr val="12284C"/>
          </a:solidFill>
          <a:ln w="12700">
            <a:solidFill>
              <a:srgbClr val="12284C"/>
            </a:solidFill>
            <a:prstDash val="solid"/>
          </a:ln>
        </p:spPr>
        <p:txBody>
          <a:bodyPr wrap="square" lIns="228600" tIns="45720" rIns="182880" bIns="45720" rtlCol="0" anchor="ctr"/>
          <a:lstStyle/>
          <a:p>
            <a:pPr marL="0" indent="0" algn="l">
              <a:buNone/>
            </a:pPr>
            <a:r>
              <a:rPr lang="id-ID" sz="1900" b="1" dirty="0">
                <a:solidFill>
                  <a:srgbClr val="FFFFFF"/>
                </a:solidFill>
                <a:latin typeface="Calibri"/>
                <a:ea typeface="Calibri"/>
                <a:cs typeface="Calibri"/>
              </a:rPr>
              <a:t>Konsistensi data</a:t>
            </a:r>
          </a:p>
          <a:p>
            <a:pPr marL="0" indent="0" algn="l">
              <a:spcBef>
                <a:spcPts val="200"/>
              </a:spcBef>
              <a:buNone/>
            </a:pPr>
            <a:r>
              <a:rPr lang="id-ID" sz="1400" b="1" dirty="0">
                <a:solidFill>
                  <a:srgbClr val="CADCFC"/>
                </a:solidFill>
                <a:latin typeface="Calibri"/>
                <a:ea typeface="Calibri"/>
                <a:cs typeface="Calibri"/>
              </a:rPr>
              <a:t>Apakah kondisi akhir data memenuhi invariant bisnis?</a:t>
            </a:r>
          </a:p>
          <a:p>
            <a:pPr marL="0" indent="0" algn="l">
              <a:spcBef>
                <a:spcPts val="200"/>
              </a:spcBef>
              <a:buNone/>
            </a:pPr>
            <a:r>
              <a:rPr lang="id-ID" sz="1250" b="0" dirty="0">
                <a:solidFill>
                  <a:srgbClr val="CADCFC"/>
                </a:solidFill>
                <a:latin typeface="Calibri"/>
                <a:ea typeface="Calibri"/>
                <a:cs typeface="Calibri"/>
              </a:rPr>
              <a:t>Dicek setelah transaksi selesai atau gangguan dipulihkan</a:t>
            </a:r>
          </a:p>
        </p:txBody>
      </p:sp>
      <p:sp>
        <p:nvSpPr>
          <p:cNvPr id="102" name="Definisi 2"/>
          <p:cNvSpPr/>
          <p:nvPr/>
        </p:nvSpPr>
        <p:spPr>
          <a:xfrm>
            <a:off x="6172200" y="1325880"/>
            <a:ext cx="5440680" cy="942565"/>
          </a:xfrm>
          <a:prstGeom prst="roundRect">
            <a:avLst>
              <a:gd name="adj" fmla="val 12000"/>
            </a:avLst>
          </a:prstGeom>
          <a:solidFill>
            <a:srgbClr val="12284C"/>
          </a:solidFill>
          <a:ln w="12700">
            <a:solidFill>
              <a:srgbClr val="12284C"/>
            </a:solidFill>
            <a:prstDash val="solid"/>
          </a:ln>
        </p:spPr>
        <p:txBody>
          <a:bodyPr wrap="square" lIns="228600" tIns="45720" rIns="45720" bIns="45720" rtlCol="0" anchor="ctr"/>
          <a:lstStyle/>
          <a:p>
            <a:pPr marL="0" indent="0" algn="l">
              <a:buNone/>
            </a:pPr>
            <a:r>
              <a:rPr lang="id-ID" sz="1900" b="1" dirty="0">
                <a:solidFill>
                  <a:srgbClr val="FFFFFF"/>
                </a:solidFill>
                <a:latin typeface="Calibri"/>
                <a:ea typeface="Calibri"/>
                <a:cs typeface="Calibri"/>
              </a:rPr>
              <a:t>Keandalan transaksi</a:t>
            </a:r>
          </a:p>
          <a:p>
            <a:pPr marL="0" indent="0" algn="l">
              <a:spcBef>
                <a:spcPts val="200"/>
              </a:spcBef>
              <a:buNone/>
            </a:pPr>
            <a:r>
              <a:rPr lang="id-ID" sz="1200" b="1" dirty="0">
                <a:solidFill>
                  <a:srgbClr val="CADCFC"/>
                </a:solidFill>
                <a:latin typeface="Calibri"/>
                <a:ea typeface="Calibri"/>
                <a:cs typeface="Calibri"/>
              </a:rPr>
              <a:t>Apakah transaksi berhasil atau dampaknya dapat dipulihkan setelah gangguan?</a:t>
            </a:r>
          </a:p>
          <a:p>
            <a:pPr marL="0" indent="0" algn="l">
              <a:spcBef>
                <a:spcPts val="200"/>
              </a:spcBef>
              <a:buNone/>
            </a:pPr>
            <a:r>
              <a:rPr lang="id-ID" sz="1250" b="0" dirty="0">
                <a:solidFill>
                  <a:srgbClr val="CADCFC"/>
                </a:solidFill>
                <a:latin typeface="Calibri"/>
                <a:ea typeface="Calibri"/>
                <a:cs typeface="Calibri"/>
              </a:rPr>
              <a:t>Gangguan pembayaran → kompensasi → Compensated</a:t>
            </a:r>
          </a:p>
        </p:txBody>
      </p:sp>
      <p:sp>
        <p:nvSpPr>
          <p:cNvPr id="103" name="Judul invariant"/>
          <p:cNvSpPr txBox="1"/>
          <p:nvPr/>
        </p:nvSpPr>
        <p:spPr>
          <a:xfrm>
            <a:off x="548640" y="2418399"/>
            <a:ext cx="5440680" cy="342751"/>
          </a:xfrm>
          <a:prstGeom prst="roundRect">
            <a:avLst>
              <a:gd name="adj" fmla="val 14000"/>
            </a:avLst>
          </a:prstGeom>
          <a:noFill/>
          <a:ln>
            <a:noFill/>
          </a:ln>
        </p:spPr>
        <p:txBody>
          <a:bodyPr wrap="square" lIns="0" tIns="0" rIns="0" bIns="0" rtlCol="0" anchor="ctr"/>
          <a:lstStyle/>
          <a:p>
            <a:pPr marL="0" indent="0" algn="l">
              <a:buNone/>
            </a:pPr>
            <a:r>
              <a:rPr lang="id-ID" sz="1700" b="1" dirty="0">
                <a:solidFill>
                  <a:srgbClr val="12284C"/>
                </a:solidFill>
                <a:latin typeface="Calibri"/>
                <a:ea typeface="Calibri"/>
                <a:cs typeface="Calibri"/>
              </a:rPr>
              <a:t>Indikator konsistensi: empat invariant bisnis</a:t>
            </a:r>
          </a:p>
        </p:txBody>
      </p:sp>
      <p:sp>
        <p:nvSpPr>
          <p:cNvPr id="104" name="Invarian 1"/>
          <p:cNvSpPr/>
          <p:nvPr/>
        </p:nvSpPr>
        <p:spPr>
          <a:xfrm>
            <a:off x="548640" y="2857549"/>
            <a:ext cx="5440680" cy="771190"/>
          </a:xfrm>
          <a:prstGeom prst="roundRect">
            <a:avLst>
              <a:gd name="adj" fmla="val 14000"/>
            </a:avLst>
          </a:prstGeom>
          <a:solidFill>
            <a:srgbClr val="EEF2F8"/>
          </a:solidFill>
          <a:ln w="12700">
            <a:solidFill>
              <a:srgbClr val="D5DEEC"/>
            </a:solidFill>
            <a:prstDash val="solid"/>
          </a:ln>
        </p:spPr>
        <p:txBody>
          <a:bodyPr wrap="square" lIns="731520" tIns="36576" rIns="137160" bIns="36576" rtlCol="0" anchor="ctr"/>
          <a:lstStyle/>
          <a:p>
            <a:pPr marL="0" indent="0" algn="l">
              <a:buNone/>
            </a:pPr>
            <a:r>
              <a:rPr lang="id-ID" sz="1700" b="1" dirty="0">
                <a:solidFill>
                  <a:srgbClr val="12284C"/>
                </a:solidFill>
                <a:latin typeface="Calibri"/>
                <a:ea typeface="Calibri"/>
                <a:cs typeface="Calibri"/>
              </a:rPr>
              <a:t>Available = On-Hand − Reserved</a:t>
            </a:r>
          </a:p>
          <a:p>
            <a:pPr marL="0" indent="0" algn="l">
              <a:buNone/>
            </a:pPr>
            <a:r>
              <a:rPr lang="id-ID" sz="1400" dirty="0">
                <a:solidFill>
                  <a:srgbClr val="4D5D78"/>
                </a:solidFill>
                <a:latin typeface="Calibri"/>
                <a:ea typeface="Calibri"/>
                <a:cs typeface="Calibri"/>
              </a:rPr>
              <a:t>stok siap jual = stok tercatat − stok direservasi</a:t>
            </a:r>
          </a:p>
        </p:txBody>
      </p:sp>
      <p:sp>
        <p:nvSpPr>
          <p:cNvPr id="105" name="Nomor 1"/>
          <p:cNvSpPr/>
          <p:nvPr/>
        </p:nvSpPr>
        <p:spPr>
          <a:xfrm>
            <a:off x="713232" y="3051120"/>
            <a:ext cx="384048" cy="384048"/>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1</a:t>
            </a:r>
          </a:p>
        </p:txBody>
      </p:sp>
      <p:sp>
        <p:nvSpPr>
          <p:cNvPr id="106" name="Invarian 2"/>
          <p:cNvSpPr/>
          <p:nvPr/>
        </p:nvSpPr>
        <p:spPr>
          <a:xfrm>
            <a:off x="548640" y="3735849"/>
            <a:ext cx="5440680" cy="771190"/>
          </a:xfrm>
          <a:prstGeom prst="roundRect">
            <a:avLst>
              <a:gd name="adj" fmla="val 14000"/>
            </a:avLst>
          </a:prstGeom>
          <a:solidFill>
            <a:srgbClr val="EEF2F8"/>
          </a:solidFill>
          <a:ln w="12700">
            <a:solidFill>
              <a:srgbClr val="D5DEEC"/>
            </a:solidFill>
            <a:prstDash val="solid"/>
          </a:ln>
        </p:spPr>
        <p:txBody>
          <a:bodyPr wrap="square" lIns="731520" tIns="36576" rIns="137160" bIns="36576" rtlCol="0" anchor="ctr"/>
          <a:lstStyle/>
          <a:p>
            <a:pPr marL="0" indent="0" algn="l">
              <a:buNone/>
            </a:pPr>
            <a:r>
              <a:rPr lang="id-ID" sz="1700" b="1" dirty="0">
                <a:solidFill>
                  <a:srgbClr val="12284C"/>
                </a:solidFill>
                <a:latin typeface="Calibri"/>
                <a:ea typeface="Calibri"/>
                <a:cs typeface="Calibri"/>
              </a:rPr>
              <a:t>Available ≥ 0</a:t>
            </a:r>
          </a:p>
          <a:p>
            <a:pPr marL="0" indent="0" algn="l">
              <a:buNone/>
            </a:pPr>
            <a:r>
              <a:rPr lang="id-ID" sz="1400" dirty="0">
                <a:solidFill>
                  <a:srgbClr val="4D5D78"/>
                </a:solidFill>
                <a:latin typeface="Calibri"/>
                <a:ea typeface="Calibri"/>
                <a:cs typeface="Calibri"/>
              </a:rPr>
              <a:t>stok siap jual tidak boleh di bawah nol</a:t>
            </a:r>
          </a:p>
        </p:txBody>
      </p:sp>
      <p:sp>
        <p:nvSpPr>
          <p:cNvPr id="107" name="Nomor 2"/>
          <p:cNvSpPr/>
          <p:nvPr/>
        </p:nvSpPr>
        <p:spPr>
          <a:xfrm>
            <a:off x="713232" y="3929419"/>
            <a:ext cx="384048" cy="384048"/>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2</a:t>
            </a:r>
          </a:p>
        </p:txBody>
      </p:sp>
      <p:sp>
        <p:nvSpPr>
          <p:cNvPr id="108" name="Invarian 3"/>
          <p:cNvSpPr/>
          <p:nvPr/>
        </p:nvSpPr>
        <p:spPr>
          <a:xfrm>
            <a:off x="548640" y="4614149"/>
            <a:ext cx="5440680" cy="771190"/>
          </a:xfrm>
          <a:prstGeom prst="roundRect">
            <a:avLst>
              <a:gd name="adj" fmla="val 14000"/>
            </a:avLst>
          </a:prstGeom>
          <a:solidFill>
            <a:srgbClr val="EEF2F8"/>
          </a:solidFill>
          <a:ln w="12700">
            <a:solidFill>
              <a:srgbClr val="D5DEEC"/>
            </a:solidFill>
            <a:prstDash val="solid"/>
          </a:ln>
        </p:spPr>
        <p:txBody>
          <a:bodyPr wrap="square" lIns="731520" tIns="36576" rIns="137160" bIns="36576" rtlCol="0" anchor="ctr"/>
          <a:lstStyle/>
          <a:p>
            <a:pPr marL="0" indent="0" algn="l">
              <a:buNone/>
            </a:pPr>
            <a:r>
              <a:rPr lang="id-ID" sz="1700" b="1" dirty="0">
                <a:solidFill>
                  <a:srgbClr val="12284C"/>
                </a:solidFill>
                <a:latin typeface="Calibri"/>
                <a:ea typeface="Calibri"/>
                <a:cs typeface="Calibri"/>
              </a:rPr>
              <a:t>Stok akhir = stok awal + penerimaan − terjual</a:t>
            </a:r>
          </a:p>
          <a:p>
            <a:pPr marL="0" indent="0" algn="l">
              <a:buNone/>
            </a:pPr>
            <a:r>
              <a:rPr lang="id-ID" sz="1400" dirty="0">
                <a:solidFill>
                  <a:srgbClr val="4D5D78"/>
                </a:solidFill>
                <a:latin typeface="Calibri"/>
                <a:ea typeface="Calibri"/>
                <a:cs typeface="Calibri"/>
              </a:rPr>
              <a:t>kesesuaian stok dengan riwayat mutasi</a:t>
            </a:r>
          </a:p>
        </p:txBody>
      </p:sp>
      <p:sp>
        <p:nvSpPr>
          <p:cNvPr id="109" name="Nomor 3"/>
          <p:cNvSpPr/>
          <p:nvPr/>
        </p:nvSpPr>
        <p:spPr>
          <a:xfrm>
            <a:off x="713232" y="4807720"/>
            <a:ext cx="384048" cy="384048"/>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3</a:t>
            </a:r>
          </a:p>
        </p:txBody>
      </p:sp>
      <p:sp>
        <p:nvSpPr>
          <p:cNvPr id="110" name="Invarian 4"/>
          <p:cNvSpPr/>
          <p:nvPr/>
        </p:nvSpPr>
        <p:spPr>
          <a:xfrm>
            <a:off x="548640" y="5492449"/>
            <a:ext cx="5440680" cy="771190"/>
          </a:xfrm>
          <a:prstGeom prst="roundRect">
            <a:avLst>
              <a:gd name="adj" fmla="val 14000"/>
            </a:avLst>
          </a:prstGeom>
          <a:solidFill>
            <a:srgbClr val="FAF3D7"/>
          </a:solidFill>
          <a:ln w="22225">
            <a:solidFill>
              <a:srgbClr val="8B6300"/>
            </a:solidFill>
            <a:prstDash val="solid"/>
          </a:ln>
        </p:spPr>
        <p:txBody>
          <a:bodyPr wrap="square" lIns="731520" tIns="36576" rIns="45720" bIns="36576" rtlCol="0" anchor="ctr"/>
          <a:lstStyle/>
          <a:p>
            <a:pPr marL="0" indent="0" algn="l">
              <a:buNone/>
            </a:pPr>
            <a:r>
              <a:rPr lang="id-ID" sz="1700" b="1" dirty="0">
                <a:solidFill>
                  <a:srgbClr val="12284C"/>
                </a:solidFill>
                <a:latin typeface="Calibri"/>
                <a:ea typeface="Calibri"/>
                <a:cs typeface="Calibri"/>
              </a:rPr>
              <a:t>Status final tidak kembali aktif</a:t>
            </a:r>
          </a:p>
          <a:p>
            <a:pPr marL="0" indent="0" algn="l">
              <a:buNone/>
            </a:pPr>
            <a:r>
              <a:rPr lang="id-ID" sz="1250" dirty="0">
                <a:solidFill>
                  <a:srgbClr val="4D5D78"/>
                </a:solidFill>
                <a:latin typeface="Calibri"/>
                <a:ea typeface="Calibri"/>
                <a:cs typeface="Calibri"/>
              </a:rPr>
              <a:t>Event terlambat tidak mengaktifkan kembali transaksi yang sudah final</a:t>
            </a:r>
          </a:p>
        </p:txBody>
      </p:sp>
      <p:sp>
        <p:nvSpPr>
          <p:cNvPr id="111" name="Nomor 4"/>
          <p:cNvSpPr/>
          <p:nvPr/>
        </p:nvSpPr>
        <p:spPr>
          <a:xfrm>
            <a:off x="713232" y="5686020"/>
            <a:ext cx="384048" cy="384048"/>
          </a:xfrm>
          <a:prstGeom prst="ellipse">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700" b="1" dirty="0">
                <a:solidFill>
                  <a:srgbClr val="12284C"/>
                </a:solidFill>
                <a:latin typeface="Calibri"/>
                <a:ea typeface="Calibri"/>
                <a:cs typeface="Calibri"/>
              </a:rPr>
              <a:t>4</a:t>
            </a:r>
          </a:p>
        </p:txBody>
      </p:sp>
      <p:sp>
        <p:nvSpPr>
          <p:cNvPr id="112" name="Panel siklus"/>
          <p:cNvSpPr/>
          <p:nvPr/>
        </p:nvSpPr>
        <p:spPr>
          <a:xfrm>
            <a:off x="6172200" y="2418399"/>
            <a:ext cx="5440680" cy="3759552"/>
          </a:xfrm>
          <a:prstGeom prst="roundRect">
            <a:avLst>
              <a:gd name="adj" fmla="val 6000"/>
            </a:avLst>
          </a:prstGeom>
          <a:solidFill>
            <a:srgbClr val="EEF2F8"/>
          </a:solidFill>
          <a:ln w="12700">
            <a:solidFill>
              <a:srgbClr val="D5DEEC"/>
            </a:solidFill>
            <a:prstDash val="solid"/>
          </a:ln>
        </p:spPr>
        <p:txBody>
          <a:bodyPr wrap="square" lIns="0" tIns="0" rIns="0" bIns="0" rtlCol="0" anchor="ctr"/>
          <a:lstStyle/>
          <a:p>
            <a:endParaRPr lang="id-ID"/>
          </a:p>
        </p:txBody>
      </p:sp>
      <p:sp>
        <p:nvSpPr>
          <p:cNvPr id="113" name="Judul siklus"/>
          <p:cNvSpPr txBox="1"/>
          <p:nvPr/>
        </p:nvSpPr>
        <p:spPr>
          <a:xfrm>
            <a:off x="6355080" y="2525509"/>
            <a:ext cx="5200000" cy="342751"/>
          </a:xfrm>
          <a:prstGeom prst="roundRect">
            <a:avLst>
              <a:gd name="adj" fmla="val 14000"/>
            </a:avLst>
          </a:prstGeom>
          <a:noFill/>
          <a:ln>
            <a:noFill/>
          </a:ln>
        </p:spPr>
        <p:txBody>
          <a:bodyPr wrap="square" lIns="0" tIns="0" rIns="0" bIns="0" rtlCol="0" anchor="ctr"/>
          <a:lstStyle/>
          <a:p>
            <a:pPr marL="0" indent="0" algn="l">
              <a:buNone/>
            </a:pPr>
            <a:r>
              <a:rPr lang="id-ID" sz="1400" b="1" dirty="0">
                <a:solidFill>
                  <a:srgbClr val="12284C"/>
                </a:solidFill>
                <a:latin typeface="Calibri"/>
                <a:ea typeface="Calibri"/>
                <a:cs typeface="Calibri"/>
              </a:rPr>
              <a:t>Alur transaksi dan kompensasi setelah pembayaran gagal/timeout</a:t>
            </a:r>
          </a:p>
        </p:txBody>
      </p:sp>
      <p:sp>
        <p:nvSpPr>
          <p:cNvPr id="114" name="Status Pending"/>
          <p:cNvSpPr/>
          <p:nvPr/>
        </p:nvSpPr>
        <p:spPr>
          <a:xfrm>
            <a:off x="6469380" y="2986081"/>
            <a:ext cx="1005840" cy="514126"/>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Pending</a:t>
            </a:r>
          </a:p>
        </p:txBody>
      </p:sp>
      <p:cxnSp>
        <p:nvCxnSpPr>
          <p:cNvPr id="115" name="Panah 0"/>
          <p:cNvCxnSpPr/>
          <p:nvPr/>
        </p:nvCxnSpPr>
        <p:spPr>
          <a:xfrm>
            <a:off x="7502652" y="3243144"/>
            <a:ext cx="219456" cy="0"/>
          </a:xfrm>
          <a:prstGeom prst="line">
            <a:avLst/>
          </a:prstGeom>
          <a:ln w="22225">
            <a:solidFill>
              <a:srgbClr val="12284C"/>
            </a:solidFill>
            <a:tailEnd type="triangle"/>
          </a:ln>
        </p:spPr>
      </p:cxnSp>
      <p:sp>
        <p:nvSpPr>
          <p:cNvPr id="116" name="Status Reserved"/>
          <p:cNvSpPr/>
          <p:nvPr/>
        </p:nvSpPr>
        <p:spPr>
          <a:xfrm>
            <a:off x="7749540" y="2986081"/>
            <a:ext cx="1005840" cy="514126"/>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Reserved</a:t>
            </a:r>
          </a:p>
        </p:txBody>
      </p:sp>
      <p:cxnSp>
        <p:nvCxnSpPr>
          <p:cNvPr id="117" name="Panah 1"/>
          <p:cNvCxnSpPr/>
          <p:nvPr/>
        </p:nvCxnSpPr>
        <p:spPr>
          <a:xfrm>
            <a:off x="8782812" y="3243144"/>
            <a:ext cx="219456" cy="0"/>
          </a:xfrm>
          <a:prstGeom prst="line">
            <a:avLst/>
          </a:prstGeom>
          <a:ln w="22225">
            <a:solidFill>
              <a:srgbClr val="12284C"/>
            </a:solidFill>
            <a:tailEnd type="triangle"/>
          </a:ln>
        </p:spPr>
      </p:cxnSp>
      <p:sp>
        <p:nvSpPr>
          <p:cNvPr id="118" name="Status Paid"/>
          <p:cNvSpPr/>
          <p:nvPr/>
        </p:nvSpPr>
        <p:spPr>
          <a:xfrm>
            <a:off x="9029700" y="2986081"/>
            <a:ext cx="1005840" cy="514126"/>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Paid</a:t>
            </a:r>
          </a:p>
        </p:txBody>
      </p:sp>
      <p:cxnSp>
        <p:nvCxnSpPr>
          <p:cNvPr id="119" name="Panah 2"/>
          <p:cNvCxnSpPr/>
          <p:nvPr/>
        </p:nvCxnSpPr>
        <p:spPr>
          <a:xfrm>
            <a:off x="10062972" y="3243144"/>
            <a:ext cx="219456" cy="0"/>
          </a:xfrm>
          <a:prstGeom prst="line">
            <a:avLst/>
          </a:prstGeom>
          <a:ln w="22225">
            <a:solidFill>
              <a:srgbClr val="12284C"/>
            </a:solidFill>
            <a:tailEnd type="triangle"/>
          </a:ln>
        </p:spPr>
      </p:cxnSp>
      <p:sp>
        <p:nvSpPr>
          <p:cNvPr id="120" name="Status Completed"/>
          <p:cNvSpPr/>
          <p:nvPr/>
        </p:nvSpPr>
        <p:spPr>
          <a:xfrm>
            <a:off x="10309860" y="2986081"/>
            <a:ext cx="1005840" cy="514126"/>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500" b="1" dirty="0">
                <a:solidFill>
                  <a:srgbClr val="FFFFFF"/>
                </a:solidFill>
                <a:latin typeface="Calibri"/>
                <a:ea typeface="Calibri"/>
                <a:cs typeface="Calibri"/>
              </a:rPr>
              <a:t>Completed</a:t>
            </a:r>
          </a:p>
        </p:txBody>
      </p:sp>
      <p:sp>
        <p:nvSpPr>
          <p:cNvPr id="121" name="Label final"/>
          <p:cNvSpPr txBox="1"/>
          <p:nvPr/>
        </p:nvSpPr>
        <p:spPr>
          <a:xfrm>
            <a:off x="10309860" y="3532341"/>
            <a:ext cx="1005840" cy="235641"/>
          </a:xfrm>
          <a:prstGeom prst="roundRect">
            <a:avLst>
              <a:gd name="adj" fmla="val 14000"/>
            </a:avLst>
          </a:prstGeom>
          <a:noFill/>
          <a:ln>
            <a:noFill/>
          </a:ln>
        </p:spPr>
        <p:txBody>
          <a:bodyPr wrap="square" lIns="0" tIns="0" rIns="0" bIns="0" rtlCol="0" anchor="ctr"/>
          <a:lstStyle/>
          <a:p>
            <a:pPr marL="0" indent="0" algn="ctr">
              <a:buNone/>
            </a:pPr>
            <a:r>
              <a:rPr lang="id-ID" sz="1200" b="1" dirty="0">
                <a:solidFill>
                  <a:srgbClr val="4D5D78"/>
                </a:solidFill>
                <a:latin typeface="Calibri"/>
                <a:ea typeface="Calibri"/>
                <a:cs typeface="Calibri"/>
              </a:rPr>
              <a:t>final</a:t>
            </a:r>
          </a:p>
        </p:txBody>
      </p:sp>
      <p:cxnSp>
        <p:nvCxnSpPr>
          <p:cNvPr id="122" name="Panah gagal"/>
          <p:cNvCxnSpPr/>
          <p:nvPr/>
        </p:nvCxnSpPr>
        <p:spPr>
          <a:xfrm>
            <a:off x="8252460" y="3500208"/>
            <a:ext cx="0" cy="503415"/>
          </a:xfrm>
          <a:prstGeom prst="line">
            <a:avLst/>
          </a:prstGeom>
          <a:ln w="22225">
            <a:solidFill>
              <a:srgbClr val="8B6300"/>
            </a:solidFill>
            <a:tailEnd type="triangle"/>
          </a:ln>
        </p:spPr>
      </p:cxnSp>
      <p:sp>
        <p:nvSpPr>
          <p:cNvPr id="123" name="Label gagal"/>
          <p:cNvSpPr txBox="1"/>
          <p:nvPr/>
        </p:nvSpPr>
        <p:spPr>
          <a:xfrm>
            <a:off x="8362188" y="3553763"/>
            <a:ext cx="2011680" cy="278485"/>
          </a:xfrm>
          <a:prstGeom prst="roundRect">
            <a:avLst>
              <a:gd name="adj" fmla="val 14000"/>
            </a:avLst>
          </a:prstGeom>
          <a:noFill/>
          <a:ln>
            <a:noFill/>
          </a:ln>
        </p:spPr>
        <p:txBody>
          <a:bodyPr wrap="square" lIns="0" tIns="0" rIns="0" bIns="0" rtlCol="0" anchor="ctr"/>
          <a:lstStyle/>
          <a:p>
            <a:pPr marL="0" indent="0" algn="l">
              <a:buNone/>
            </a:pPr>
            <a:r>
              <a:rPr lang="id-ID" sz="1200" b="1" dirty="0">
                <a:solidFill>
                  <a:srgbClr val="8B6300"/>
                </a:solidFill>
                <a:latin typeface="Calibri"/>
                <a:ea typeface="Calibri"/>
                <a:cs typeface="Calibri"/>
              </a:rPr>
              <a:t>bayar gagal / timeout</a:t>
            </a:r>
          </a:p>
        </p:txBody>
      </p:sp>
      <p:sp>
        <p:nvSpPr>
          <p:cNvPr id="124" name="Status Failed/Expired"/>
          <p:cNvSpPr/>
          <p:nvPr/>
        </p:nvSpPr>
        <p:spPr>
          <a:xfrm>
            <a:off x="7429500" y="4003624"/>
            <a:ext cx="1645920" cy="514126"/>
          </a:xfrm>
          <a:prstGeom prst="roundRect">
            <a:avLst>
              <a:gd name="adj" fmla="val 14000"/>
            </a:avLst>
          </a:prstGeom>
          <a:solidFill>
            <a:srgbClr val="FFFFFF"/>
          </a:solidFill>
          <a:ln w="19050">
            <a:solidFill>
              <a:srgbClr val="8B6300"/>
            </a:solidFill>
            <a:prstDash val="solid"/>
          </a:ln>
        </p:spPr>
        <p:txBody>
          <a:bodyPr wrap="square" lIns="0" tIns="0" rIns="0" bIns="0" rtlCol="0" anchor="ctr"/>
          <a:lstStyle/>
          <a:p>
            <a:pPr marL="0" indent="0" algn="ctr">
              <a:buNone/>
            </a:pPr>
            <a:r>
              <a:rPr lang="id-ID" sz="1500" b="1" dirty="0">
                <a:solidFill>
                  <a:srgbClr val="8B6300"/>
                </a:solidFill>
                <a:latin typeface="Calibri"/>
                <a:ea typeface="Calibri"/>
                <a:cs typeface="Calibri"/>
              </a:rPr>
              <a:t>Failed / Expired</a:t>
            </a:r>
          </a:p>
        </p:txBody>
      </p:sp>
      <p:sp>
        <p:nvSpPr>
          <p:cNvPr id="125" name="Status Compensated"/>
          <p:cNvSpPr/>
          <p:nvPr/>
        </p:nvSpPr>
        <p:spPr>
          <a:xfrm>
            <a:off x="10081260" y="4003624"/>
            <a:ext cx="1234440" cy="514126"/>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500" b="1" dirty="0">
                <a:solidFill>
                  <a:srgbClr val="FFFFFF"/>
                </a:solidFill>
                <a:latin typeface="Calibri"/>
                <a:ea typeface="Calibri"/>
                <a:cs typeface="Calibri"/>
              </a:rPr>
              <a:t>Compensated</a:t>
            </a:r>
          </a:p>
        </p:txBody>
      </p:sp>
      <p:cxnSp>
        <p:nvCxnSpPr>
          <p:cNvPr id="126" name="Panah kompensasi"/>
          <p:cNvCxnSpPr/>
          <p:nvPr/>
        </p:nvCxnSpPr>
        <p:spPr>
          <a:xfrm>
            <a:off x="9102852" y="4260687"/>
            <a:ext cx="950976" cy="0"/>
          </a:xfrm>
          <a:prstGeom prst="line">
            <a:avLst/>
          </a:prstGeom>
          <a:ln w="22225">
            <a:solidFill>
              <a:srgbClr val="8B6300"/>
            </a:solidFill>
            <a:tailEnd type="triangle"/>
          </a:ln>
        </p:spPr>
      </p:cxnSp>
      <p:sp>
        <p:nvSpPr>
          <p:cNvPr id="127" name="Label kompensasi"/>
          <p:cNvSpPr txBox="1"/>
          <p:nvPr/>
        </p:nvSpPr>
        <p:spPr>
          <a:xfrm>
            <a:off x="9212580" y="3982202"/>
            <a:ext cx="822960" cy="214219"/>
          </a:xfrm>
          <a:prstGeom prst="roundRect">
            <a:avLst>
              <a:gd name="adj" fmla="val 14000"/>
            </a:avLst>
          </a:prstGeom>
          <a:noFill/>
          <a:ln>
            <a:noFill/>
          </a:ln>
        </p:spPr>
        <p:txBody>
          <a:bodyPr wrap="square" lIns="0" tIns="0" rIns="0" bIns="0" rtlCol="0" anchor="ctr"/>
          <a:lstStyle/>
          <a:p>
            <a:pPr marL="0" indent="0" algn="ctr">
              <a:buNone/>
            </a:pPr>
            <a:r>
              <a:rPr lang="id-ID" sz="1200" dirty="0">
                <a:solidFill>
                  <a:srgbClr val="8B6300"/>
                </a:solidFill>
                <a:latin typeface="Calibri"/>
                <a:ea typeface="Calibri"/>
                <a:cs typeface="Calibri"/>
              </a:rPr>
              <a:t>kompensasi</a:t>
            </a:r>
          </a:p>
        </p:txBody>
      </p:sp>
      <p:sp>
        <p:nvSpPr>
          <p:cNvPr id="128" name="Label final 2"/>
          <p:cNvSpPr txBox="1"/>
          <p:nvPr/>
        </p:nvSpPr>
        <p:spPr>
          <a:xfrm>
            <a:off x="9304020" y="4549883"/>
            <a:ext cx="2011680" cy="235641"/>
          </a:xfrm>
          <a:prstGeom prst="roundRect">
            <a:avLst>
              <a:gd name="adj" fmla="val 14000"/>
            </a:avLst>
          </a:prstGeom>
          <a:noFill/>
          <a:ln>
            <a:noFill/>
          </a:ln>
        </p:spPr>
        <p:txBody>
          <a:bodyPr wrap="square" lIns="0" tIns="0" rIns="0" bIns="0" rtlCol="0" anchor="ctr"/>
          <a:lstStyle/>
          <a:p>
            <a:pPr marL="0" indent="0" algn="r">
              <a:buNone/>
            </a:pPr>
            <a:r>
              <a:rPr lang="id-ID" sz="1200" b="1" dirty="0">
                <a:solidFill>
                  <a:srgbClr val="4D5D78"/>
                </a:solidFill>
                <a:latin typeface="Calibri"/>
                <a:ea typeface="Calibri"/>
                <a:cs typeface="Calibri"/>
              </a:rPr>
              <a:t>final · reservasi dilepas</a:t>
            </a:r>
          </a:p>
        </p:txBody>
      </p:sp>
      <p:sp>
        <p:nvSpPr>
          <p:cNvPr id="129" name="Kotak terlambat"/>
          <p:cNvSpPr/>
          <p:nvPr/>
        </p:nvSpPr>
        <p:spPr>
          <a:xfrm>
            <a:off x="6309360" y="4978322"/>
            <a:ext cx="5166360" cy="1049675"/>
          </a:xfrm>
          <a:prstGeom prst="roundRect">
            <a:avLst>
              <a:gd name="adj" fmla="val 10000"/>
            </a:avLst>
          </a:prstGeom>
          <a:solidFill>
            <a:srgbClr val="FAF3D7"/>
          </a:solidFill>
          <a:ln w="19050">
            <a:solidFill>
              <a:srgbClr val="8B6300"/>
            </a:solidFill>
            <a:prstDash val="solid"/>
          </a:ln>
        </p:spPr>
        <p:txBody>
          <a:bodyPr wrap="square" lIns="182880" tIns="36576" rIns="137160" bIns="36576" rtlCol="0" anchor="ctr"/>
          <a:lstStyle/>
          <a:p>
            <a:pPr marL="0" indent="0" algn="l">
              <a:buNone/>
            </a:pPr>
            <a:r>
              <a:rPr lang="id-ID" sz="1700" b="1" dirty="0">
                <a:solidFill>
                  <a:srgbClr val="12284C"/>
                </a:solidFill>
                <a:latin typeface="Calibri"/>
                <a:ea typeface="Calibri"/>
                <a:cs typeface="Calibri"/>
              </a:rPr>
              <a:t>Notifikasi pembayaran terlambat</a:t>
            </a:r>
          </a:p>
          <a:p>
            <a:pPr marL="0" indent="0" algn="l">
              <a:spcBef>
                <a:spcPts val="300"/>
              </a:spcBef>
              <a:buNone/>
            </a:pPr>
            <a:r>
              <a:rPr lang="id-ID" sz="1600" dirty="0">
                <a:solidFill>
                  <a:srgbClr val="2A4373"/>
                </a:solidFill>
                <a:latin typeface="Calibri"/>
                <a:ea typeface="Calibri"/>
                <a:cs typeface="Calibri"/>
              </a:rPr>
              <a:t>Diterima lebih dari 30 dtk setelah reservasi → diabaikan. Transaksi Completed/Compensated tetap final.</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Satu pemilik per domain: </a:t>
            </a:r>
            <a:r>
              <a:rPr lang="en-US" sz="3000" b="1" dirty="0" err="1">
                <a:solidFill>
                  <a:srgbClr val="12284C"/>
                </a:solidFill>
                <a:latin typeface="Cambria" pitchFamily="34" charset="0"/>
                <a:ea typeface="Calibri" pitchFamily="34" charset="-122"/>
                <a:cs typeface="Calibri" pitchFamily="34" charset="-120"/>
              </a:rPr>
              <a:t>Empat</a:t>
            </a:r>
            <a:r>
              <a:rPr lang="en-US" sz="3000" b="1" dirty="0">
                <a:solidFill>
                  <a:srgbClr val="12284C"/>
                </a:solidFill>
                <a:latin typeface="Cambria" pitchFamily="34" charset="0"/>
                <a:ea typeface="Calibri" pitchFamily="34" charset="-122"/>
                <a:cs typeface="Calibri" pitchFamily="34" charset="-120"/>
              </a:rPr>
              <a:t> domain dengan otoritas data masing-masing</a:t>
            </a:r>
            <a:endParaRPr lang="en-US" sz="2800" dirty="0"/>
          </a:p>
        </p:txBody>
      </p:sp>
      <p:sp>
        <p:nvSpPr>
          <p:cNvPr id="201" name="Kartu domain Penjualan"/>
          <p:cNvSpPr/>
          <p:nvPr/>
        </p:nvSpPr>
        <p:spPr>
          <a:xfrm>
            <a:off x="548640" y="1325880"/>
            <a:ext cx="2628900" cy="192024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2" name="Label peran Penjualan"/>
          <p:cNvSpPr txBox="1"/>
          <p:nvPr/>
        </p:nvSpPr>
        <p:spPr>
          <a:xfrm>
            <a:off x="731520" y="1455880"/>
            <a:ext cx="2263140" cy="230000"/>
          </a:xfrm>
          <a:prstGeom prst="rect">
            <a:avLst/>
          </a:prstGeom>
          <a:noFill/>
          <a:ln>
            <a:noFill/>
          </a:ln>
        </p:spPr>
        <p:txBody>
          <a:bodyPr wrap="square" lIns="0" tIns="0" rIns="0" bIns="0" rtlCol="0" anchor="t"/>
          <a:lstStyle/>
          <a:p>
            <a:pPr marL="0" indent="0" algn="ctr">
              <a:buNone/>
            </a:pPr>
            <a:r>
              <a:rPr lang="id-ID" sz="1200" b="1" dirty="0">
                <a:solidFill>
                  <a:srgbClr val="4D5D78"/>
                </a:solidFill>
                <a:latin typeface="Calibri"/>
                <a:ea typeface="Calibri"/>
                <a:cs typeface="Calibri"/>
              </a:rPr>
              <a:t>PEMILIK DATA</a:t>
            </a:r>
          </a:p>
        </p:txBody>
      </p:sp>
      <p:sp>
        <p:nvSpPr>
          <p:cNvPr id="203" name="Nama domain Penjualan"/>
          <p:cNvSpPr txBox="1"/>
          <p:nvPr/>
        </p:nvSpPr>
        <p:spPr>
          <a:xfrm>
            <a:off x="731520" y="1705880"/>
            <a:ext cx="2263140" cy="400000"/>
          </a:xfrm>
          <a:prstGeom prst="rect">
            <a:avLst/>
          </a:prstGeom>
          <a:noFill/>
          <a:ln>
            <a:noFill/>
          </a:ln>
        </p:spPr>
        <p:txBody>
          <a:bodyPr wrap="square" lIns="0" tIns="0" rIns="0" bIns="0" rtlCol="0" anchor="t"/>
          <a:lstStyle/>
          <a:p>
            <a:pPr marL="0" indent="0" algn="ctr">
              <a:buNone/>
            </a:pPr>
            <a:r>
              <a:rPr lang="id-ID" sz="2200" b="1" dirty="0">
                <a:solidFill>
                  <a:srgbClr val="12284C"/>
                </a:solidFill>
                <a:latin typeface="Calibri"/>
                <a:ea typeface="Calibri"/>
                <a:cs typeface="Calibri"/>
              </a:rPr>
              <a:t>Penjualan</a:t>
            </a:r>
          </a:p>
        </p:txBody>
      </p:sp>
      <p:sp>
        <p:nvSpPr>
          <p:cNvPr id="204" name="Data Penjualan"/>
          <p:cNvSpPr txBox="1"/>
          <p:nvPr/>
        </p:nvSpPr>
        <p:spPr>
          <a:xfrm>
            <a:off x="731520" y="2155880"/>
            <a:ext cx="2263140" cy="520000"/>
          </a:xfrm>
          <a:prstGeom prst="rect">
            <a:avLst/>
          </a:prstGeom>
          <a:noFill/>
          <a:ln>
            <a:noFill/>
          </a:ln>
        </p:spPr>
        <p:txBody>
          <a:bodyPr wrap="square" lIns="0" tIns="0" rIns="0" bIns="0" rtlCol="0" anchor="t"/>
          <a:lstStyle/>
          <a:p>
            <a:pPr marL="0" indent="0" algn="ctr">
              <a:buNone/>
            </a:pPr>
            <a:r>
              <a:rPr lang="id-ID" sz="1600" b="0" dirty="0">
                <a:solidFill>
                  <a:srgbClr val="4D5D78"/>
                </a:solidFill>
                <a:latin typeface="Calibri"/>
                <a:ea typeface="Calibri"/>
                <a:cs typeface="Calibri"/>
              </a:rPr>
              <a:t>order, item, status</a:t>
            </a:r>
          </a:p>
        </p:txBody>
      </p:sp>
      <p:sp>
        <p:nvSpPr>
          <p:cNvPr id="205" name="Chip Penjualan"/>
          <p:cNvSpPr/>
          <p:nvPr/>
        </p:nvSpPr>
        <p:spPr>
          <a:xfrm>
            <a:off x="777240" y="2725880"/>
            <a:ext cx="2171700" cy="430000"/>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600" b="1" dirty="0">
                <a:solidFill>
                  <a:srgbClr val="12284C"/>
                </a:solidFill>
                <a:latin typeface="Calibri"/>
                <a:ea typeface="Calibri"/>
                <a:cs typeface="Calibri"/>
              </a:rPr>
              <a:t>Sales DB</a:t>
            </a:r>
          </a:p>
        </p:txBody>
      </p:sp>
      <p:sp>
        <p:nvSpPr>
          <p:cNvPr id="206" name="Kartu domain Persediaan"/>
          <p:cNvSpPr/>
          <p:nvPr/>
        </p:nvSpPr>
        <p:spPr>
          <a:xfrm>
            <a:off x="3360420" y="1325880"/>
            <a:ext cx="2628900" cy="192024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7" name="Label peran Persediaan"/>
          <p:cNvSpPr txBox="1"/>
          <p:nvPr/>
        </p:nvSpPr>
        <p:spPr>
          <a:xfrm>
            <a:off x="3543300" y="1455880"/>
            <a:ext cx="2263140" cy="230000"/>
          </a:xfrm>
          <a:prstGeom prst="rect">
            <a:avLst/>
          </a:prstGeom>
          <a:noFill/>
          <a:ln>
            <a:noFill/>
          </a:ln>
        </p:spPr>
        <p:txBody>
          <a:bodyPr wrap="square" lIns="0" tIns="0" rIns="0" bIns="0" rtlCol="0" anchor="t"/>
          <a:lstStyle/>
          <a:p>
            <a:pPr marL="0" indent="0" algn="ctr">
              <a:buNone/>
            </a:pPr>
            <a:r>
              <a:rPr lang="id-ID" sz="1200" b="1" dirty="0">
                <a:solidFill>
                  <a:srgbClr val="4D5D78"/>
                </a:solidFill>
                <a:latin typeface="Calibri"/>
                <a:ea typeface="Calibri"/>
                <a:cs typeface="Calibri"/>
              </a:rPr>
              <a:t>PEMILIK DATA</a:t>
            </a:r>
          </a:p>
        </p:txBody>
      </p:sp>
      <p:sp>
        <p:nvSpPr>
          <p:cNvPr id="208" name="Nama domain Persediaan"/>
          <p:cNvSpPr txBox="1"/>
          <p:nvPr/>
        </p:nvSpPr>
        <p:spPr>
          <a:xfrm>
            <a:off x="3543300" y="1705880"/>
            <a:ext cx="2263140" cy="400000"/>
          </a:xfrm>
          <a:prstGeom prst="rect">
            <a:avLst/>
          </a:prstGeom>
          <a:noFill/>
          <a:ln>
            <a:noFill/>
          </a:ln>
        </p:spPr>
        <p:txBody>
          <a:bodyPr wrap="square" lIns="0" tIns="0" rIns="0" bIns="0" rtlCol="0" anchor="t"/>
          <a:lstStyle/>
          <a:p>
            <a:pPr marL="0" indent="0" algn="ctr">
              <a:buNone/>
            </a:pPr>
            <a:r>
              <a:rPr lang="id-ID" sz="2200" b="1" dirty="0">
                <a:solidFill>
                  <a:srgbClr val="12284C"/>
                </a:solidFill>
                <a:latin typeface="Calibri"/>
                <a:ea typeface="Calibri"/>
                <a:cs typeface="Calibri"/>
              </a:rPr>
              <a:t>Persediaan</a:t>
            </a:r>
          </a:p>
        </p:txBody>
      </p:sp>
      <p:sp>
        <p:nvSpPr>
          <p:cNvPr id="209" name="Data Persediaan"/>
          <p:cNvSpPr txBox="1"/>
          <p:nvPr/>
        </p:nvSpPr>
        <p:spPr>
          <a:xfrm>
            <a:off x="3543300" y="2155880"/>
            <a:ext cx="2263140" cy="520000"/>
          </a:xfrm>
          <a:prstGeom prst="rect">
            <a:avLst/>
          </a:prstGeom>
          <a:noFill/>
          <a:ln>
            <a:noFill/>
          </a:ln>
        </p:spPr>
        <p:txBody>
          <a:bodyPr wrap="square" lIns="0" tIns="0" rIns="0" bIns="0" rtlCol="0" anchor="t"/>
          <a:lstStyle/>
          <a:p>
            <a:pPr marL="0" indent="0" algn="ctr">
              <a:buNone/>
            </a:pPr>
            <a:r>
              <a:rPr lang="id-ID" sz="1600" b="0" dirty="0">
                <a:solidFill>
                  <a:srgbClr val="4D5D78"/>
                </a:solidFill>
                <a:latin typeface="Calibri"/>
                <a:ea typeface="Calibri"/>
                <a:cs typeface="Calibri"/>
              </a:rPr>
              <a:t>stok fisik, dipesan, siap jual, mutasi</a:t>
            </a:r>
          </a:p>
        </p:txBody>
      </p:sp>
      <p:sp>
        <p:nvSpPr>
          <p:cNvPr id="210" name="Chip Persediaan"/>
          <p:cNvSpPr/>
          <p:nvPr/>
        </p:nvSpPr>
        <p:spPr>
          <a:xfrm>
            <a:off x="3589020" y="2725880"/>
            <a:ext cx="2171700" cy="430000"/>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600" b="1" dirty="0">
                <a:solidFill>
                  <a:srgbClr val="12284C"/>
                </a:solidFill>
                <a:latin typeface="Calibri"/>
                <a:ea typeface="Calibri"/>
                <a:cs typeface="Calibri"/>
              </a:rPr>
              <a:t>Inventory DB</a:t>
            </a:r>
          </a:p>
        </p:txBody>
      </p:sp>
      <p:sp>
        <p:nvSpPr>
          <p:cNvPr id="211" name="Kartu domain Pembayaran"/>
          <p:cNvSpPr/>
          <p:nvPr/>
        </p:nvSpPr>
        <p:spPr>
          <a:xfrm>
            <a:off x="6172200" y="1325880"/>
            <a:ext cx="2628900" cy="192024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2" name="Label peran Pembayaran"/>
          <p:cNvSpPr txBox="1"/>
          <p:nvPr/>
        </p:nvSpPr>
        <p:spPr>
          <a:xfrm>
            <a:off x="6355080" y="1455880"/>
            <a:ext cx="2263140" cy="230000"/>
          </a:xfrm>
          <a:prstGeom prst="rect">
            <a:avLst/>
          </a:prstGeom>
          <a:noFill/>
          <a:ln>
            <a:noFill/>
          </a:ln>
        </p:spPr>
        <p:txBody>
          <a:bodyPr wrap="square" lIns="0" tIns="0" rIns="0" bIns="0" rtlCol="0" anchor="t"/>
          <a:lstStyle/>
          <a:p>
            <a:pPr marL="0" indent="0" algn="ctr">
              <a:buNone/>
            </a:pPr>
            <a:r>
              <a:rPr lang="id-ID" sz="1200" b="1" dirty="0">
                <a:solidFill>
                  <a:srgbClr val="4D5D78"/>
                </a:solidFill>
                <a:latin typeface="Calibri"/>
                <a:ea typeface="Calibri"/>
                <a:cs typeface="Calibri"/>
              </a:rPr>
              <a:t>PEMILIK DATA</a:t>
            </a:r>
          </a:p>
        </p:txBody>
      </p:sp>
      <p:sp>
        <p:nvSpPr>
          <p:cNvPr id="213" name="Nama domain Pembayaran"/>
          <p:cNvSpPr txBox="1"/>
          <p:nvPr/>
        </p:nvSpPr>
        <p:spPr>
          <a:xfrm>
            <a:off x="6355080" y="1705880"/>
            <a:ext cx="2263140" cy="400000"/>
          </a:xfrm>
          <a:prstGeom prst="rect">
            <a:avLst/>
          </a:prstGeom>
          <a:noFill/>
          <a:ln>
            <a:noFill/>
          </a:ln>
        </p:spPr>
        <p:txBody>
          <a:bodyPr wrap="square" lIns="0" tIns="0" rIns="0" bIns="0" rtlCol="0" anchor="t"/>
          <a:lstStyle/>
          <a:p>
            <a:pPr marL="0" indent="0" algn="ctr">
              <a:buNone/>
            </a:pPr>
            <a:r>
              <a:rPr lang="id-ID" sz="2200" b="1" dirty="0">
                <a:solidFill>
                  <a:srgbClr val="12284C"/>
                </a:solidFill>
                <a:latin typeface="Calibri"/>
                <a:ea typeface="Calibri"/>
                <a:cs typeface="Calibri"/>
              </a:rPr>
              <a:t>Pembayaran</a:t>
            </a:r>
          </a:p>
        </p:txBody>
      </p:sp>
      <p:sp>
        <p:nvSpPr>
          <p:cNvPr id="214" name="Data Pembayaran"/>
          <p:cNvSpPr txBox="1"/>
          <p:nvPr/>
        </p:nvSpPr>
        <p:spPr>
          <a:xfrm>
            <a:off x="6355080" y="2155880"/>
            <a:ext cx="2263140" cy="520000"/>
          </a:xfrm>
          <a:prstGeom prst="rect">
            <a:avLst/>
          </a:prstGeom>
          <a:noFill/>
          <a:ln>
            <a:noFill/>
          </a:ln>
        </p:spPr>
        <p:txBody>
          <a:bodyPr wrap="square" lIns="0" tIns="0" rIns="0" bIns="0" rtlCol="0" anchor="t"/>
          <a:lstStyle/>
          <a:p>
            <a:pPr marL="0" indent="0" algn="ctr">
              <a:buNone/>
            </a:pPr>
            <a:r>
              <a:rPr lang="id-ID" sz="1600" b="0" dirty="0">
                <a:solidFill>
                  <a:srgbClr val="4D5D78"/>
                </a:solidFill>
                <a:latin typeface="Calibri"/>
                <a:ea typeface="Calibri"/>
                <a:cs typeface="Calibri"/>
              </a:rPr>
              <a:t>percobaan, nominal, status bayar</a:t>
            </a:r>
          </a:p>
        </p:txBody>
      </p:sp>
      <p:sp>
        <p:nvSpPr>
          <p:cNvPr id="215" name="Chip Pembayaran"/>
          <p:cNvSpPr/>
          <p:nvPr/>
        </p:nvSpPr>
        <p:spPr>
          <a:xfrm>
            <a:off x="6400800" y="2725880"/>
            <a:ext cx="2171700" cy="430000"/>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600" b="1" dirty="0">
                <a:solidFill>
                  <a:srgbClr val="12284C"/>
                </a:solidFill>
                <a:latin typeface="Calibri"/>
                <a:ea typeface="Calibri"/>
                <a:cs typeface="Calibri"/>
              </a:rPr>
              <a:t>Payment DB</a:t>
            </a:r>
          </a:p>
        </p:txBody>
      </p:sp>
      <p:sp>
        <p:nvSpPr>
          <p:cNvPr id="216" name="Kartu domain Pelaporan"/>
          <p:cNvSpPr/>
          <p:nvPr/>
        </p:nvSpPr>
        <p:spPr>
          <a:xfrm>
            <a:off x="8983980" y="1325880"/>
            <a:ext cx="2628900" cy="1920240"/>
          </a:xfrm>
          <a:prstGeom prst="roundRect">
            <a:avLst>
              <a:gd name="adj" fmla="val 14000"/>
            </a:avLst>
          </a:prstGeom>
          <a:solidFill>
            <a:srgbClr val="12284C"/>
          </a:solidFill>
          <a:ln w="9525">
            <a:solidFill>
              <a:srgbClr val="12284C"/>
            </a:solidFill>
            <a:prstDash val="solid"/>
          </a:ln>
        </p:spPr>
        <p:txBody>
          <a:bodyPr wrap="square" lIns="0" tIns="0" rIns="0" bIns="0" rtlCol="0" anchor="ctr"/>
          <a:lstStyle/>
          <a:p>
            <a:endParaRPr lang="id-ID"/>
          </a:p>
        </p:txBody>
      </p:sp>
      <p:sp>
        <p:nvSpPr>
          <p:cNvPr id="217" name="Label peran Pelaporan"/>
          <p:cNvSpPr txBox="1"/>
          <p:nvPr/>
        </p:nvSpPr>
        <p:spPr>
          <a:xfrm>
            <a:off x="9166860" y="1455880"/>
            <a:ext cx="2263140" cy="230000"/>
          </a:xfrm>
          <a:prstGeom prst="rect">
            <a:avLst/>
          </a:prstGeom>
          <a:noFill/>
          <a:ln>
            <a:noFill/>
          </a:ln>
        </p:spPr>
        <p:txBody>
          <a:bodyPr wrap="square" lIns="0" tIns="0" rIns="0" bIns="0" rtlCol="0" anchor="t"/>
          <a:lstStyle/>
          <a:p>
            <a:pPr marL="0" indent="0" algn="ctr">
              <a:buNone/>
            </a:pPr>
            <a:r>
              <a:rPr lang="id-ID" sz="1200" b="1" dirty="0">
                <a:solidFill>
                  <a:srgbClr val="E9BC3A"/>
                </a:solidFill>
                <a:latin typeface="Calibri"/>
                <a:ea typeface="Calibri"/>
                <a:cs typeface="Calibri"/>
              </a:rPr>
              <a:t>BUKAN PEMILIK DATA</a:t>
            </a:r>
          </a:p>
        </p:txBody>
      </p:sp>
      <p:sp>
        <p:nvSpPr>
          <p:cNvPr id="218" name="Nama domain Pelaporan"/>
          <p:cNvSpPr txBox="1"/>
          <p:nvPr/>
        </p:nvSpPr>
        <p:spPr>
          <a:xfrm>
            <a:off x="9166860" y="1705880"/>
            <a:ext cx="2263140" cy="400000"/>
          </a:xfrm>
          <a:prstGeom prst="rect">
            <a:avLst/>
          </a:prstGeom>
          <a:noFill/>
          <a:ln>
            <a:noFill/>
          </a:ln>
        </p:spPr>
        <p:txBody>
          <a:bodyPr wrap="square" lIns="0" tIns="0" rIns="0" bIns="0" rtlCol="0" anchor="t"/>
          <a:lstStyle/>
          <a:p>
            <a:pPr marL="0" indent="0" algn="ctr">
              <a:buNone/>
            </a:pPr>
            <a:r>
              <a:rPr lang="id-ID" sz="2200" b="1" dirty="0">
                <a:solidFill>
                  <a:srgbClr val="FFFFFF"/>
                </a:solidFill>
                <a:latin typeface="Calibri"/>
                <a:ea typeface="Calibri"/>
                <a:cs typeface="Calibri"/>
              </a:rPr>
              <a:t>Pelaporan</a:t>
            </a:r>
          </a:p>
        </p:txBody>
      </p:sp>
      <p:sp>
        <p:nvSpPr>
          <p:cNvPr id="219" name="Data Pelaporan"/>
          <p:cNvSpPr txBox="1"/>
          <p:nvPr/>
        </p:nvSpPr>
        <p:spPr>
          <a:xfrm>
            <a:off x="9166860" y="2155880"/>
            <a:ext cx="2263140" cy="520000"/>
          </a:xfrm>
          <a:prstGeom prst="rect">
            <a:avLst/>
          </a:prstGeom>
          <a:noFill/>
          <a:ln>
            <a:noFill/>
          </a:ln>
        </p:spPr>
        <p:txBody>
          <a:bodyPr wrap="square" lIns="0" tIns="0" rIns="0" bIns="0" rtlCol="0" anchor="t"/>
          <a:lstStyle/>
          <a:p>
            <a:pPr marL="0" indent="0" algn="ctr">
              <a:buNone/>
            </a:pPr>
            <a:r>
              <a:rPr lang="id-ID" sz="1600" b="0" dirty="0">
                <a:solidFill>
                  <a:srgbClr val="CADCFC"/>
                </a:solidFill>
                <a:latin typeface="Calibri"/>
                <a:ea typeface="Calibri"/>
                <a:cs typeface="Calibri"/>
              </a:rPr>
              <a:t>tanpa data otoritatif, hanya menyimpan salinan</a:t>
            </a:r>
          </a:p>
        </p:txBody>
      </p:sp>
      <p:sp>
        <p:nvSpPr>
          <p:cNvPr id="220" name="Chip Pelaporan"/>
          <p:cNvSpPr/>
          <p:nvPr/>
        </p:nvSpPr>
        <p:spPr>
          <a:xfrm>
            <a:off x="9212580" y="2725880"/>
            <a:ext cx="2171700" cy="4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Salinan data (read model)</a:t>
            </a:r>
          </a:p>
        </p:txBody>
      </p:sp>
      <p:cxnSp>
        <p:nvCxnSpPr>
          <p:cNvPr id="221" name="Panah terbit 1"/>
          <p:cNvCxnSpPr/>
          <p:nvPr/>
        </p:nvCxnSpPr>
        <p:spPr>
          <a:xfrm>
            <a:off x="1863090" y="3291840"/>
            <a:ext cx="0" cy="448160"/>
          </a:xfrm>
          <a:prstGeom prst="line">
            <a:avLst/>
          </a:prstGeom>
          <a:ln w="28575">
            <a:solidFill>
              <a:srgbClr val="12284C"/>
            </a:solidFill>
            <a:prstDash val="solid"/>
            <a:headEnd type="triangle"/>
            <a:tailEnd type="triangle"/>
          </a:ln>
        </p:spPr>
      </p:cxnSp>
      <p:sp>
        <p:nvSpPr>
          <p:cNvPr id="222" name="Label panah terbit 1"/>
          <p:cNvSpPr txBox="1"/>
          <p:nvPr/>
        </p:nvSpPr>
        <p:spPr>
          <a:xfrm>
            <a:off x="1973090" y="3411840"/>
            <a:ext cx="1250000" cy="230000"/>
          </a:xfrm>
          <a:prstGeom prst="rect">
            <a:avLst/>
          </a:prstGeom>
          <a:noFill/>
          <a:ln>
            <a:noFill/>
          </a:ln>
        </p:spPr>
        <p:txBody>
          <a:bodyPr wrap="square" lIns="0" tIns="0" rIns="0" bIns="0" rtlCol="0" anchor="t"/>
          <a:lstStyle/>
          <a:p>
            <a:pPr marL="0" indent="0" algn="l">
              <a:buNone/>
            </a:pPr>
            <a:r>
              <a:rPr lang="id-ID" sz="1200" b="0" dirty="0">
                <a:solidFill>
                  <a:srgbClr val="4D5D78"/>
                </a:solidFill>
                <a:latin typeface="Calibri"/>
                <a:ea typeface="Calibri"/>
                <a:cs typeface="Calibri"/>
              </a:rPr>
              <a:t>pertukaran event</a:t>
            </a:r>
          </a:p>
        </p:txBody>
      </p:sp>
      <p:cxnSp>
        <p:nvCxnSpPr>
          <p:cNvPr id="223" name="Panah terbit 2"/>
          <p:cNvCxnSpPr/>
          <p:nvPr/>
        </p:nvCxnSpPr>
        <p:spPr>
          <a:xfrm>
            <a:off x="4674870" y="3291840"/>
            <a:ext cx="0" cy="448160"/>
          </a:xfrm>
          <a:prstGeom prst="line">
            <a:avLst/>
          </a:prstGeom>
          <a:ln w="28575">
            <a:solidFill>
              <a:srgbClr val="12284C"/>
            </a:solidFill>
            <a:prstDash val="solid"/>
            <a:headEnd type="triangle"/>
            <a:tailEnd type="triangle"/>
          </a:ln>
        </p:spPr>
      </p:cxnSp>
      <p:sp>
        <p:nvSpPr>
          <p:cNvPr id="224" name="Label panah terbit 2"/>
          <p:cNvSpPr txBox="1"/>
          <p:nvPr/>
        </p:nvSpPr>
        <p:spPr>
          <a:xfrm>
            <a:off x="4784870" y="3411840"/>
            <a:ext cx="1250000" cy="230000"/>
          </a:xfrm>
          <a:prstGeom prst="rect">
            <a:avLst/>
          </a:prstGeom>
          <a:noFill/>
          <a:ln>
            <a:noFill/>
          </a:ln>
        </p:spPr>
        <p:txBody>
          <a:bodyPr wrap="square" lIns="0" tIns="0" rIns="0" bIns="0" rtlCol="0" anchor="t"/>
          <a:lstStyle/>
          <a:p>
            <a:pPr marL="0" indent="0" algn="l">
              <a:buNone/>
            </a:pPr>
            <a:r>
              <a:rPr lang="id-ID" sz="1200" b="0" dirty="0">
                <a:solidFill>
                  <a:srgbClr val="4D5D78"/>
                </a:solidFill>
                <a:latin typeface="Calibri"/>
                <a:ea typeface="Calibri"/>
                <a:cs typeface="Calibri"/>
              </a:rPr>
              <a:t>pertukaran event</a:t>
            </a:r>
          </a:p>
        </p:txBody>
      </p:sp>
      <p:cxnSp>
        <p:nvCxnSpPr>
          <p:cNvPr id="225" name="Panah terbit 3"/>
          <p:cNvCxnSpPr/>
          <p:nvPr/>
        </p:nvCxnSpPr>
        <p:spPr>
          <a:xfrm>
            <a:off x="7486650" y="3291840"/>
            <a:ext cx="0" cy="448160"/>
          </a:xfrm>
          <a:prstGeom prst="line">
            <a:avLst/>
          </a:prstGeom>
          <a:ln w="28575">
            <a:solidFill>
              <a:srgbClr val="12284C"/>
            </a:solidFill>
            <a:prstDash val="solid"/>
            <a:headEnd type="triangle"/>
            <a:tailEnd type="triangle"/>
          </a:ln>
        </p:spPr>
      </p:cxnSp>
      <p:sp>
        <p:nvSpPr>
          <p:cNvPr id="226" name="Label panah terbit 3"/>
          <p:cNvSpPr txBox="1"/>
          <p:nvPr/>
        </p:nvSpPr>
        <p:spPr>
          <a:xfrm>
            <a:off x="7596650" y="3411840"/>
            <a:ext cx="1250000" cy="230000"/>
          </a:xfrm>
          <a:prstGeom prst="rect">
            <a:avLst/>
          </a:prstGeom>
          <a:noFill/>
          <a:ln>
            <a:noFill/>
          </a:ln>
        </p:spPr>
        <p:txBody>
          <a:bodyPr wrap="square" lIns="0" tIns="0" rIns="0" bIns="0" rtlCol="0" anchor="t"/>
          <a:lstStyle/>
          <a:p>
            <a:pPr marL="0" indent="0" algn="l">
              <a:buNone/>
            </a:pPr>
            <a:r>
              <a:rPr lang="id-ID" sz="1200" b="0" dirty="0">
                <a:solidFill>
                  <a:srgbClr val="4D5D78"/>
                </a:solidFill>
                <a:latin typeface="Calibri"/>
                <a:ea typeface="Calibri"/>
                <a:cs typeface="Calibri"/>
              </a:rPr>
              <a:t>pertukaran event</a:t>
            </a:r>
          </a:p>
        </p:txBody>
      </p:sp>
      <p:cxnSp>
        <p:nvCxnSpPr>
          <p:cNvPr id="227" name="Panah terima Pelaporan"/>
          <p:cNvCxnSpPr/>
          <p:nvPr/>
        </p:nvCxnSpPr>
        <p:spPr>
          <a:xfrm>
            <a:off x="10298430" y="3291840"/>
            <a:ext cx="0" cy="448160"/>
          </a:xfrm>
          <a:prstGeom prst="line">
            <a:avLst/>
          </a:prstGeom>
          <a:ln w="28575">
            <a:solidFill>
              <a:srgbClr val="8B6300"/>
            </a:solidFill>
            <a:prstDash val="solid"/>
            <a:headEnd type="triangle"/>
          </a:ln>
        </p:spPr>
      </p:cxnSp>
      <p:sp>
        <p:nvSpPr>
          <p:cNvPr id="228" name="Label panah terima"/>
          <p:cNvSpPr txBox="1"/>
          <p:nvPr/>
        </p:nvSpPr>
        <p:spPr>
          <a:xfrm>
            <a:off x="10408430" y="3411840"/>
            <a:ext cx="1250000" cy="230000"/>
          </a:xfrm>
          <a:prstGeom prst="rect">
            <a:avLst/>
          </a:prstGeom>
          <a:noFill/>
          <a:ln>
            <a:noFill/>
          </a:ln>
        </p:spPr>
        <p:txBody>
          <a:bodyPr wrap="square" lIns="0" tIns="0" rIns="0" bIns="0" rtlCol="0" anchor="t"/>
          <a:lstStyle/>
          <a:p>
            <a:pPr marL="0" indent="0" algn="l">
              <a:buNone/>
            </a:pPr>
            <a:r>
              <a:rPr lang="id-ID" sz="1200" b="1" dirty="0">
                <a:solidFill>
                  <a:srgbClr val="8B6300"/>
                </a:solidFill>
                <a:latin typeface="Calibri"/>
                <a:ea typeface="Calibri"/>
                <a:cs typeface="Calibri"/>
              </a:rPr>
              <a:t>menerima event</a:t>
            </a:r>
          </a:p>
        </p:txBody>
      </p:sp>
      <p:sp>
        <p:nvSpPr>
          <p:cNvPr id="229" name="Bar RabbitMQ"/>
          <p:cNvSpPr/>
          <p:nvPr/>
        </p:nvSpPr>
        <p:spPr>
          <a:xfrm>
            <a:off x="548640" y="3740000"/>
            <a:ext cx="11064240" cy="470000"/>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RabbitMQ: pertukaran event asinkron antarlayanan</a:t>
            </a:r>
            <a:r>
              <a:rPr lang="id-ID" sz="1700" b="0" dirty="0">
                <a:solidFill>
                  <a:srgbClr val="CADCFC"/>
                </a:solidFill>
                <a:latin typeface="Calibri"/>
                <a:ea typeface="Calibri"/>
                <a:cs typeface="Calibri"/>
              </a:rPr>
              <a:t>   |   hanya pada kedua kondisi EDA</a:t>
            </a:r>
          </a:p>
        </p:txBody>
      </p:sp>
      <p:sp>
        <p:nvSpPr>
          <p:cNvPr id="230" name="Kotak aturan"/>
          <p:cNvSpPr/>
          <p:nvPr/>
        </p:nvSpPr>
        <p:spPr>
          <a:xfrm>
            <a:off x="548640" y="4390000"/>
            <a:ext cx="5440680" cy="1780000"/>
          </a:xfrm>
          <a:prstGeom prst="roundRect">
            <a:avLst>
              <a:gd name="adj" fmla="val 8000"/>
            </a:avLst>
          </a:prstGeom>
          <a:solidFill>
            <a:srgbClr val="FAF3D7"/>
          </a:solidFill>
          <a:ln w="22225">
            <a:solidFill>
              <a:srgbClr val="8B6300"/>
            </a:solidFill>
            <a:prstDash val="solid"/>
          </a:ln>
        </p:spPr>
        <p:txBody>
          <a:bodyPr wrap="square" lIns="228600" tIns="91440" rIns="228600" bIns="91440" rtlCol="0" anchor="ctr"/>
          <a:lstStyle/>
          <a:p>
            <a:pPr marL="0" indent="0" algn="l">
              <a:buNone/>
            </a:pPr>
            <a:r>
              <a:rPr lang="id-ID" sz="1200" b="1" dirty="0">
                <a:solidFill>
                  <a:srgbClr val="8B6300"/>
                </a:solidFill>
                <a:latin typeface="Calibri"/>
                <a:ea typeface="Calibri"/>
                <a:cs typeface="Calibri"/>
              </a:rPr>
              <a:t>KEPEMILIKAN DATA SAMA PADA KETIGA KONDISI</a:t>
            </a:r>
          </a:p>
          <a:p>
            <a:pPr marL="0" indent="0" algn="l">
              <a:spcBef>
                <a:spcPts val="500"/>
              </a:spcBef>
              <a:buNone/>
            </a:pPr>
            <a:r>
              <a:rPr lang="id-ID" sz="1900" b="1" dirty="0">
                <a:solidFill>
                  <a:srgbClr val="12284C"/>
                </a:solidFill>
                <a:latin typeface="Calibri"/>
                <a:ea typeface="Calibri"/>
                <a:cs typeface="Calibri"/>
              </a:rPr>
              <a:t>Data otoritatif hanya diubah melalui domain pemiliknya.</a:t>
            </a:r>
          </a:p>
          <a:p>
            <a:pPr marL="0" indent="0" algn="l">
              <a:spcBef>
                <a:spcPts val="600"/>
              </a:spcBef>
              <a:buNone/>
            </a:pPr>
            <a:r>
              <a:rPr lang="id-ID" sz="1500" b="0" dirty="0">
                <a:solidFill>
                  <a:srgbClr val="2A4373"/>
                </a:solidFill>
                <a:latin typeface="Calibri"/>
                <a:ea typeface="Calibri"/>
                <a:cs typeface="Calibri"/>
              </a:rPr>
              <a:t>Domain lain tidak mengubah data tersebut secara langsung, melainkan berinteraksi melalui event atau salinan data.</a:t>
            </a:r>
          </a:p>
        </p:txBody>
      </p:sp>
      <p:sp>
        <p:nvSpPr>
          <p:cNvPr id="231" name="Kotak wujud"/>
          <p:cNvSpPr/>
          <p:nvPr/>
        </p:nvSpPr>
        <p:spPr>
          <a:xfrm>
            <a:off x="6172200" y="4390000"/>
            <a:ext cx="5440680" cy="1780000"/>
          </a:xfrm>
          <a:prstGeom prst="roundRect">
            <a:avLst>
              <a:gd name="adj" fmla="val 8000"/>
            </a:avLst>
          </a:prstGeom>
          <a:solidFill>
            <a:srgbClr val="FFFFFF"/>
          </a:solidFill>
          <a:ln w="15875">
            <a:solidFill>
              <a:srgbClr val="D5DEEC"/>
            </a:solidFill>
            <a:prstDash val="solid"/>
          </a:ln>
        </p:spPr>
        <p:txBody>
          <a:bodyPr wrap="square" lIns="0" tIns="0" rIns="0" bIns="0" rtlCol="0" anchor="ctr"/>
          <a:lstStyle/>
          <a:p>
            <a:endParaRPr lang="id-ID"/>
          </a:p>
        </p:txBody>
      </p:sp>
      <p:sp>
        <p:nvSpPr>
          <p:cNvPr id="232" name="Judul wujud"/>
          <p:cNvSpPr txBox="1"/>
          <p:nvPr/>
        </p:nvSpPr>
        <p:spPr>
          <a:xfrm>
            <a:off x="6400800" y="4500000"/>
            <a:ext cx="4983480" cy="23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PENERAPAN KEPEMILIKAN DATA</a:t>
            </a:r>
          </a:p>
        </p:txBody>
      </p:sp>
      <p:sp>
        <p:nvSpPr>
          <p:cNvPr id="233" name="Pill Monolith Terpusat"/>
          <p:cNvSpPr/>
          <p:nvPr/>
        </p:nvSpPr>
        <p:spPr>
          <a:xfrm>
            <a:off x="6400800" y="4820000"/>
            <a:ext cx="1700000" cy="580000"/>
          </a:xfrm>
          <a:prstGeom prst="roundRect">
            <a:avLst>
              <a:gd name="adj" fmla="val 14000"/>
            </a:avLst>
          </a:prstGeom>
          <a:solidFill>
            <a:srgbClr val="12284C"/>
          </a:solidFill>
          <a:ln w="12700">
            <a:solidFill>
              <a:srgbClr val="12284C"/>
            </a:solidFill>
            <a:prstDash val="solid"/>
          </a:ln>
        </p:spPr>
        <p:txBody>
          <a:bodyPr wrap="square" lIns="45720" tIns="0" rIns="45720" bIns="0" rtlCol="0" anchor="ctr"/>
          <a:lstStyle/>
          <a:p>
            <a:pPr marL="0" indent="0" algn="ctr">
              <a:buNone/>
            </a:pPr>
            <a:r>
              <a:rPr lang="id-ID" sz="1600" b="1" dirty="0">
                <a:solidFill>
                  <a:srgbClr val="FFFFFF"/>
                </a:solidFill>
                <a:latin typeface="Calibri"/>
                <a:ea typeface="Calibri"/>
                <a:cs typeface="Calibri"/>
              </a:rPr>
              <a:t>Monolith Terpusat</a:t>
            </a:r>
          </a:p>
        </p:txBody>
      </p:sp>
      <p:sp>
        <p:nvSpPr>
          <p:cNvPr id="234" name="Wujud Monolith Terpusat"/>
          <p:cNvSpPr txBox="1"/>
          <p:nvPr/>
        </p:nvSpPr>
        <p:spPr>
          <a:xfrm>
            <a:off x="8270800" y="4820000"/>
            <a:ext cx="3113480" cy="580000"/>
          </a:xfrm>
          <a:prstGeom prst="rect">
            <a:avLst/>
          </a:prstGeom>
          <a:noFill/>
          <a:ln>
            <a:noFill/>
          </a:ln>
        </p:spPr>
        <p:txBody>
          <a:bodyPr wrap="square" lIns="0" tIns="0" rIns="0" bIns="0" rtlCol="0" anchor="ctr"/>
          <a:lstStyle/>
          <a:p>
            <a:pPr marL="0" indent="0" algn="l">
              <a:buNone/>
            </a:pPr>
            <a:r>
              <a:rPr lang="id-ID" sz="1600" b="1" dirty="0">
                <a:solidFill>
                  <a:srgbClr val="12284C"/>
                </a:solidFill>
                <a:latin typeface="Calibri"/>
                <a:ea typeface="Calibri"/>
                <a:cs typeface="Calibri"/>
              </a:rPr>
              <a:t>4 modul, 1 aplikasi, 1 basis data</a:t>
            </a:r>
          </a:p>
          <a:p>
            <a:pPr marL="0" indent="0" algn="l">
              <a:spcBef>
                <a:spcPts val="100"/>
              </a:spcBef>
              <a:buNone/>
            </a:pPr>
            <a:r>
              <a:rPr lang="id-ID" sz="1500" b="0" dirty="0">
                <a:solidFill>
                  <a:srgbClr val="4D5D78"/>
                </a:solidFill>
                <a:latin typeface="Calibri"/>
                <a:ea typeface="Calibri"/>
                <a:cs typeface="Calibri"/>
              </a:rPr>
              <a:t>ownership dipisahkan secara logis</a:t>
            </a:r>
          </a:p>
        </p:txBody>
      </p:sp>
      <p:sp>
        <p:nvSpPr>
          <p:cNvPr id="235" name="Pill Kedua kondisi EDA"/>
          <p:cNvSpPr/>
          <p:nvPr/>
        </p:nvSpPr>
        <p:spPr>
          <a:xfrm>
            <a:off x="6400800" y="5500000"/>
            <a:ext cx="1700000" cy="580000"/>
          </a:xfrm>
          <a:prstGeom prst="roundRect">
            <a:avLst>
              <a:gd name="adj" fmla="val 14000"/>
            </a:avLst>
          </a:prstGeom>
          <a:solidFill>
            <a:srgbClr val="EEF2F8"/>
          </a:solidFill>
          <a:ln w="12700">
            <a:solidFill>
              <a:srgbClr val="D5DEEC"/>
            </a:solidFill>
            <a:prstDash val="solid"/>
          </a:ln>
        </p:spPr>
        <p:txBody>
          <a:bodyPr wrap="square" lIns="45720" tIns="0" rIns="45720" bIns="0" rtlCol="0" anchor="ctr"/>
          <a:lstStyle/>
          <a:p>
            <a:pPr marL="0" indent="0" algn="ctr">
              <a:buNone/>
            </a:pPr>
            <a:r>
              <a:rPr lang="id-ID" sz="1600" b="1" dirty="0">
                <a:solidFill>
                  <a:srgbClr val="12284C"/>
                </a:solidFill>
                <a:latin typeface="Calibri"/>
                <a:ea typeface="Calibri"/>
                <a:cs typeface="Calibri"/>
              </a:rPr>
              <a:t>Kedua kondisi EDA</a:t>
            </a:r>
          </a:p>
        </p:txBody>
      </p:sp>
      <p:sp>
        <p:nvSpPr>
          <p:cNvPr id="236" name="Wujud Kedua kondisi EDA"/>
          <p:cNvSpPr txBox="1"/>
          <p:nvPr/>
        </p:nvSpPr>
        <p:spPr>
          <a:xfrm>
            <a:off x="8270800" y="5500000"/>
            <a:ext cx="3113480" cy="580000"/>
          </a:xfrm>
          <a:prstGeom prst="rect">
            <a:avLst/>
          </a:prstGeom>
          <a:noFill/>
          <a:ln>
            <a:noFill/>
          </a:ln>
        </p:spPr>
        <p:txBody>
          <a:bodyPr wrap="square" lIns="0" tIns="0" rIns="0" bIns="0" rtlCol="0" anchor="ctr"/>
          <a:lstStyle/>
          <a:p>
            <a:pPr marL="0" indent="0" algn="l">
              <a:buNone/>
            </a:pPr>
            <a:r>
              <a:rPr lang="id-ID" sz="1600" b="1" dirty="0">
                <a:solidFill>
                  <a:srgbClr val="12284C"/>
                </a:solidFill>
                <a:latin typeface="Calibri"/>
                <a:ea typeface="Calibri"/>
                <a:cs typeface="Calibri"/>
              </a:rPr>
              <a:t>4 layanan, basis data per layanan</a:t>
            </a:r>
          </a:p>
          <a:p>
            <a:pPr marL="0" indent="0" algn="l">
              <a:spcBef>
                <a:spcPts val="100"/>
              </a:spcBef>
              <a:buNone/>
            </a:pPr>
            <a:r>
              <a:rPr lang="id-ID" sz="1500" b="0" dirty="0">
                <a:solidFill>
                  <a:srgbClr val="4D5D78"/>
                </a:solidFill>
                <a:latin typeface="Calibri"/>
                <a:ea typeface="Calibri"/>
                <a:cs typeface="Calibri"/>
              </a:rPr>
              <a:t>ownership dipisahkan lewat basis data</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Lima paket mekanisme proteksi dan risiko yang ditargetkan</a:t>
            </a:r>
            <a:endParaRPr lang="en-US" sz="2800" dirty="0"/>
          </a:p>
        </p:txBody>
      </p:sp>
      <p:sp>
        <p:nvSpPr>
          <p:cNvPr id="201" name="Kartu paket 1"/>
          <p:cNvSpPr/>
          <p:nvPr/>
        </p:nvSpPr>
        <p:spPr>
          <a:xfrm>
            <a:off x="410547" y="1325880"/>
            <a:ext cx="2241213"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2" name="Nomor 1"/>
          <p:cNvSpPr/>
          <p:nvPr/>
        </p:nvSpPr>
        <p:spPr>
          <a:xfrm>
            <a:off x="64592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1</a:t>
            </a:r>
          </a:p>
        </p:txBody>
      </p:sp>
      <p:sp>
        <p:nvSpPr>
          <p:cNvPr id="203" name="Nama paket 1"/>
          <p:cNvSpPr txBox="1"/>
          <p:nvPr/>
        </p:nvSpPr>
        <p:spPr>
          <a:xfrm>
            <a:off x="64592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Transactional Outbox</a:t>
            </a:r>
          </a:p>
        </p:txBody>
      </p:sp>
      <p:sp>
        <p:nvSpPr>
          <p:cNvPr id="204" name="Garis 1"/>
          <p:cNvSpPr/>
          <p:nvPr/>
        </p:nvSpPr>
        <p:spPr>
          <a:xfrm>
            <a:off x="731520" y="3025880"/>
            <a:ext cx="1737360" cy="12700"/>
          </a:xfrm>
          <a:prstGeom prst="rect">
            <a:avLst/>
          </a:prstGeom>
          <a:solidFill>
            <a:srgbClr val="D5DEEC"/>
          </a:solidFill>
          <a:ln>
            <a:noFill/>
          </a:ln>
        </p:spPr>
        <p:txBody>
          <a:bodyPr wrap="square" lIns="0" tIns="0" rIns="0" bIns="0" rtlCol="0" anchor="ctr"/>
          <a:lstStyle/>
          <a:p>
            <a:endParaRPr lang="id-ID"/>
          </a:p>
        </p:txBody>
      </p:sp>
      <p:sp>
        <p:nvSpPr>
          <p:cNvPr id="205" name="Label risiko 1"/>
          <p:cNvSpPr txBox="1"/>
          <p:nvPr/>
        </p:nvSpPr>
        <p:spPr>
          <a:xfrm>
            <a:off x="64592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06" name="Risiko 1"/>
          <p:cNvSpPr txBox="1"/>
          <p:nvPr/>
        </p:nvSpPr>
        <p:spPr>
          <a:xfrm>
            <a:off x="645920" y="3375880"/>
            <a:ext cx="2103120" cy="1050000"/>
          </a:xfrm>
          <a:prstGeom prst="rect">
            <a:avLst/>
          </a:prstGeom>
          <a:noFill/>
          <a:ln>
            <a:noFill/>
          </a:ln>
        </p:spPr>
        <p:txBody>
          <a:bodyPr wrap="square" lIns="0" tIns="0" rIns="0" bIns="0" rtlCol="0" anchor="t"/>
          <a:lstStyle/>
          <a:p>
            <a:pPr marL="0" indent="0" algn="l">
              <a:buNone/>
            </a:pPr>
            <a:r>
              <a:rPr lang="id-ID" sz="1500" b="0" dirty="0">
                <a:solidFill>
                  <a:srgbClr val="12284C"/>
                </a:solidFill>
                <a:latin typeface="Calibri"/>
                <a:ea typeface="Calibri"/>
                <a:cs typeface="Calibri"/>
              </a:rPr>
              <a:t>Transaksi bisnis commit sebelum publish. Pada EDA dengan Proteksi, event tersimpan di Outbox.</a:t>
            </a:r>
            <a:endParaRPr lang="id-ID" sz="1500" b="0" dirty="0">
              <a:solidFill>
                <a:srgbClr val="12284C"/>
              </a:solidFill>
              <a:latin typeface="Calibri"/>
              <a:ea typeface="Calibri"/>
              <a:cs typeface="Calibri"/>
            </a:endParaRPr>
          </a:p>
        </p:txBody>
      </p:sp>
      <p:sp>
        <p:nvSpPr>
          <p:cNvPr id="207" name="Label uji 1"/>
          <p:cNvSpPr txBox="1"/>
          <p:nvPr/>
        </p:nvSpPr>
        <p:spPr>
          <a:xfrm>
            <a:off x="64592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08" name="Chip 1"/>
          <p:cNvSpPr/>
          <p:nvPr/>
        </p:nvSpPr>
        <p:spPr>
          <a:xfrm>
            <a:off x="645920" y="4565880"/>
            <a:ext cx="1000000" cy="3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F1</a:t>
            </a:r>
          </a:p>
        </p:txBody>
      </p:sp>
      <p:sp>
        <p:nvSpPr>
          <p:cNvPr id="209" name="Kartu paket 2"/>
          <p:cNvSpPr/>
          <p:nvPr/>
        </p:nvSpPr>
        <p:spPr>
          <a:xfrm>
            <a:off x="2788920" y="1325880"/>
            <a:ext cx="2103120"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0" name="Nomor 2"/>
          <p:cNvSpPr/>
          <p:nvPr/>
        </p:nvSpPr>
        <p:spPr>
          <a:xfrm>
            <a:off x="297180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2</a:t>
            </a:r>
          </a:p>
        </p:txBody>
      </p:sp>
      <p:sp>
        <p:nvSpPr>
          <p:cNvPr id="211" name="Nama paket 2"/>
          <p:cNvSpPr txBox="1"/>
          <p:nvPr/>
        </p:nvSpPr>
        <p:spPr>
          <a:xfrm>
            <a:off x="297180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Idempotent Consumer dan Inbox Pattern</a:t>
            </a:r>
          </a:p>
        </p:txBody>
      </p:sp>
      <p:sp>
        <p:nvSpPr>
          <p:cNvPr id="212" name="Garis 2"/>
          <p:cNvSpPr/>
          <p:nvPr/>
        </p:nvSpPr>
        <p:spPr>
          <a:xfrm>
            <a:off x="2971800" y="3025880"/>
            <a:ext cx="1737360" cy="12700"/>
          </a:xfrm>
          <a:prstGeom prst="rect">
            <a:avLst/>
          </a:prstGeom>
          <a:solidFill>
            <a:srgbClr val="D5DEEC"/>
          </a:solidFill>
          <a:ln>
            <a:noFill/>
          </a:ln>
        </p:spPr>
        <p:txBody>
          <a:bodyPr wrap="square" lIns="0" tIns="0" rIns="0" bIns="0" rtlCol="0" anchor="ctr"/>
          <a:lstStyle/>
          <a:p>
            <a:endParaRPr lang="id-ID"/>
          </a:p>
        </p:txBody>
      </p:sp>
      <p:sp>
        <p:nvSpPr>
          <p:cNvPr id="213" name="Label risiko 2"/>
          <p:cNvSpPr txBox="1"/>
          <p:nvPr/>
        </p:nvSpPr>
        <p:spPr>
          <a:xfrm>
            <a:off x="297180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14" name="Risiko 2"/>
          <p:cNvSpPr txBox="1"/>
          <p:nvPr/>
        </p:nvSpPr>
        <p:spPr>
          <a:xfrm>
            <a:off x="2971800" y="3375880"/>
            <a:ext cx="1737360" cy="1050000"/>
          </a:xfrm>
          <a:prstGeom prst="rect">
            <a:avLst/>
          </a:prstGeom>
          <a:noFill/>
          <a:ln>
            <a:noFill/>
          </a:ln>
        </p:spPr>
        <p:txBody>
          <a:bodyPr wrap="square" lIns="0" tIns="0" rIns="0" bIns="0" rtlCol="0" anchor="t"/>
          <a:lstStyle/>
          <a:p>
            <a:pPr marL="0" indent="0" algn="l">
              <a:buNone/>
            </a:pPr>
            <a:r>
              <a:rPr lang="en-US" sz="1500" b="0" dirty="0" err="1">
                <a:solidFill>
                  <a:srgbClr val="12284C"/>
                </a:solidFill>
                <a:latin typeface="Calibri"/>
                <a:ea typeface="Calibri"/>
                <a:cs typeface="Calibri"/>
              </a:rPr>
              <a:t>Duplikasi</a:t>
            </a:r>
            <a:r>
              <a:rPr lang="en-US" sz="1500" b="0" dirty="0">
                <a:solidFill>
                  <a:srgbClr val="12284C"/>
                </a:solidFill>
                <a:latin typeface="Calibri"/>
                <a:ea typeface="Calibri"/>
                <a:cs typeface="Calibri"/>
              </a:rPr>
              <a:t> </a:t>
            </a:r>
            <a:r>
              <a:rPr lang="en-US" sz="1500" b="0" dirty="0" err="1">
                <a:solidFill>
                  <a:srgbClr val="12284C"/>
                </a:solidFill>
                <a:latin typeface="Calibri"/>
                <a:ea typeface="Calibri"/>
                <a:cs typeface="Calibri"/>
              </a:rPr>
              <a:t>pesan</a:t>
            </a:r>
            <a:r>
              <a:rPr lang="en-US" sz="1500" b="0" dirty="0">
                <a:solidFill>
                  <a:srgbClr val="12284C"/>
                </a:solidFill>
                <a:latin typeface="Calibri"/>
                <a:ea typeface="Calibri"/>
                <a:cs typeface="Calibri"/>
              </a:rPr>
              <a:t> </a:t>
            </a:r>
            <a:r>
              <a:rPr lang="id-ID" sz="1500" b="0" dirty="0">
                <a:solidFill>
                  <a:srgbClr val="12284C"/>
                </a:solidFill>
                <a:latin typeface="Calibri"/>
                <a:ea typeface="Calibri"/>
                <a:cs typeface="Calibri"/>
              </a:rPr>
              <a:t>menghasilkan efek bisnis</a:t>
            </a:r>
            <a:r>
              <a:rPr lang="en-US" sz="1500" b="0" dirty="0">
                <a:solidFill>
                  <a:srgbClr val="12284C"/>
                </a:solidFill>
                <a:latin typeface="Calibri"/>
                <a:ea typeface="Calibri"/>
                <a:cs typeface="Calibri"/>
              </a:rPr>
              <a:t> </a:t>
            </a:r>
            <a:r>
              <a:rPr lang="en-US" sz="1500" b="0" dirty="0" err="1">
                <a:solidFill>
                  <a:srgbClr val="12284C"/>
                </a:solidFill>
                <a:latin typeface="Calibri"/>
                <a:ea typeface="Calibri"/>
                <a:cs typeface="Calibri"/>
              </a:rPr>
              <a:t>ganda</a:t>
            </a:r>
            <a:endParaRPr lang="id-ID" sz="1500" b="0" dirty="0">
              <a:solidFill>
                <a:srgbClr val="12284C"/>
              </a:solidFill>
              <a:latin typeface="Calibri"/>
              <a:ea typeface="Calibri"/>
              <a:cs typeface="Calibri"/>
            </a:endParaRPr>
          </a:p>
        </p:txBody>
      </p:sp>
      <p:sp>
        <p:nvSpPr>
          <p:cNvPr id="215" name="Label uji 2"/>
          <p:cNvSpPr txBox="1"/>
          <p:nvPr/>
        </p:nvSpPr>
        <p:spPr>
          <a:xfrm>
            <a:off x="297180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16" name="Chip 2"/>
          <p:cNvSpPr/>
          <p:nvPr/>
        </p:nvSpPr>
        <p:spPr>
          <a:xfrm>
            <a:off x="2971800" y="4565880"/>
            <a:ext cx="1000000" cy="3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F2, F3</a:t>
            </a:r>
          </a:p>
        </p:txBody>
      </p:sp>
      <p:sp>
        <p:nvSpPr>
          <p:cNvPr id="217" name="Kartu paket 3"/>
          <p:cNvSpPr/>
          <p:nvPr/>
        </p:nvSpPr>
        <p:spPr>
          <a:xfrm>
            <a:off x="5029200" y="1325880"/>
            <a:ext cx="2103120"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8" name="Nomor 3"/>
          <p:cNvSpPr/>
          <p:nvPr/>
        </p:nvSpPr>
        <p:spPr>
          <a:xfrm>
            <a:off x="521208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3</a:t>
            </a:r>
          </a:p>
        </p:txBody>
      </p:sp>
      <p:sp>
        <p:nvSpPr>
          <p:cNvPr id="219" name="Nama paket 3"/>
          <p:cNvSpPr txBox="1"/>
          <p:nvPr/>
        </p:nvSpPr>
        <p:spPr>
          <a:xfrm>
            <a:off x="521208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Optimistic Concurrency Control</a:t>
            </a:r>
          </a:p>
        </p:txBody>
      </p:sp>
      <p:sp>
        <p:nvSpPr>
          <p:cNvPr id="220" name="Garis 3"/>
          <p:cNvSpPr/>
          <p:nvPr/>
        </p:nvSpPr>
        <p:spPr>
          <a:xfrm>
            <a:off x="5212080" y="3025880"/>
            <a:ext cx="1737360" cy="12700"/>
          </a:xfrm>
          <a:prstGeom prst="rect">
            <a:avLst/>
          </a:prstGeom>
          <a:solidFill>
            <a:srgbClr val="D5DEEC"/>
          </a:solidFill>
          <a:ln>
            <a:noFill/>
          </a:ln>
        </p:spPr>
        <p:txBody>
          <a:bodyPr wrap="square" lIns="0" tIns="0" rIns="0" bIns="0" rtlCol="0" anchor="ctr"/>
          <a:lstStyle/>
          <a:p>
            <a:endParaRPr lang="id-ID"/>
          </a:p>
        </p:txBody>
      </p:sp>
      <p:sp>
        <p:nvSpPr>
          <p:cNvPr id="221" name="Label risiko 3"/>
          <p:cNvSpPr txBox="1"/>
          <p:nvPr/>
        </p:nvSpPr>
        <p:spPr>
          <a:xfrm>
            <a:off x="521208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22" name="Risiko 3"/>
          <p:cNvSpPr txBox="1"/>
          <p:nvPr/>
        </p:nvSpPr>
        <p:spPr>
          <a:xfrm>
            <a:off x="5212080" y="3375880"/>
            <a:ext cx="1737360" cy="1050000"/>
          </a:xfrm>
          <a:prstGeom prst="rect">
            <a:avLst/>
          </a:prstGeom>
          <a:noFill/>
          <a:ln>
            <a:noFill/>
          </a:ln>
        </p:spPr>
        <p:txBody>
          <a:bodyPr wrap="square" lIns="0" tIns="0" rIns="0" bIns="0" rtlCol="0" anchor="t"/>
          <a:lstStyle/>
          <a:p>
            <a:pPr marL="0" indent="0" algn="l">
              <a:buNone/>
            </a:pPr>
            <a:r>
              <a:rPr lang="id-ID" sz="1500" b="0" dirty="0">
                <a:solidFill>
                  <a:srgbClr val="12284C"/>
                </a:solidFill>
                <a:latin typeface="Calibri"/>
                <a:ea typeface="Calibri"/>
                <a:cs typeface="Calibri"/>
              </a:rPr>
              <a:t>Konflik pembaruan stok: oversell dan lost update</a:t>
            </a:r>
          </a:p>
        </p:txBody>
      </p:sp>
      <p:sp>
        <p:nvSpPr>
          <p:cNvPr id="223" name="Label uji 3"/>
          <p:cNvSpPr txBox="1"/>
          <p:nvPr/>
        </p:nvSpPr>
        <p:spPr>
          <a:xfrm>
            <a:off x="521208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24" name="Chip 3"/>
          <p:cNvSpPr/>
          <p:nvPr/>
        </p:nvSpPr>
        <p:spPr>
          <a:xfrm>
            <a:off x="5212080" y="4565880"/>
            <a:ext cx="1000000" cy="3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F5</a:t>
            </a:r>
          </a:p>
        </p:txBody>
      </p:sp>
      <p:sp>
        <p:nvSpPr>
          <p:cNvPr id="225" name="Kartu paket 4"/>
          <p:cNvSpPr/>
          <p:nvPr/>
        </p:nvSpPr>
        <p:spPr>
          <a:xfrm>
            <a:off x="7269480" y="1325880"/>
            <a:ext cx="2103120"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26" name="Nomor 4"/>
          <p:cNvSpPr/>
          <p:nvPr/>
        </p:nvSpPr>
        <p:spPr>
          <a:xfrm>
            <a:off x="745236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4</a:t>
            </a:r>
          </a:p>
        </p:txBody>
      </p:sp>
      <p:sp>
        <p:nvSpPr>
          <p:cNvPr id="227" name="Nama paket 4"/>
          <p:cNvSpPr txBox="1"/>
          <p:nvPr/>
        </p:nvSpPr>
        <p:spPr>
          <a:xfrm>
            <a:off x="745236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Saga dan Compensation</a:t>
            </a:r>
          </a:p>
        </p:txBody>
      </p:sp>
      <p:sp>
        <p:nvSpPr>
          <p:cNvPr id="228" name="Garis 4"/>
          <p:cNvSpPr/>
          <p:nvPr/>
        </p:nvSpPr>
        <p:spPr>
          <a:xfrm>
            <a:off x="7452360" y="3025880"/>
            <a:ext cx="1737360" cy="12700"/>
          </a:xfrm>
          <a:prstGeom prst="rect">
            <a:avLst/>
          </a:prstGeom>
          <a:solidFill>
            <a:srgbClr val="D5DEEC"/>
          </a:solidFill>
          <a:ln>
            <a:noFill/>
          </a:ln>
        </p:spPr>
        <p:txBody>
          <a:bodyPr wrap="square" lIns="0" tIns="0" rIns="0" bIns="0" rtlCol="0" anchor="ctr"/>
          <a:lstStyle/>
          <a:p>
            <a:endParaRPr lang="id-ID"/>
          </a:p>
        </p:txBody>
      </p:sp>
      <p:sp>
        <p:nvSpPr>
          <p:cNvPr id="229" name="Label risiko 4"/>
          <p:cNvSpPr txBox="1"/>
          <p:nvPr/>
        </p:nvSpPr>
        <p:spPr>
          <a:xfrm>
            <a:off x="745236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30" name="Risiko 4"/>
          <p:cNvSpPr txBox="1"/>
          <p:nvPr/>
        </p:nvSpPr>
        <p:spPr>
          <a:xfrm>
            <a:off x="7452360" y="3375880"/>
            <a:ext cx="1737360" cy="1050000"/>
          </a:xfrm>
          <a:prstGeom prst="rect">
            <a:avLst/>
          </a:prstGeom>
          <a:noFill/>
          <a:ln>
            <a:noFill/>
          </a:ln>
        </p:spPr>
        <p:txBody>
          <a:bodyPr wrap="square" lIns="0" tIns="0" rIns="0" bIns="0" rtlCol="0" anchor="t"/>
          <a:lstStyle/>
          <a:p>
            <a:pPr marL="0" indent="0" algn="l">
              <a:buNone/>
            </a:pPr>
            <a:r>
              <a:rPr lang="en-US" sz="1500" b="0" dirty="0" err="1">
                <a:solidFill>
                  <a:srgbClr val="12284C"/>
                </a:solidFill>
                <a:latin typeface="Calibri"/>
                <a:ea typeface="Calibri"/>
                <a:cs typeface="Calibri"/>
              </a:rPr>
              <a:t>Pembayaran</a:t>
            </a:r>
            <a:r>
              <a:rPr lang="id-ID" sz="1500" b="0" dirty="0">
                <a:solidFill>
                  <a:srgbClr val="12284C"/>
                </a:solidFill>
                <a:latin typeface="Calibri"/>
                <a:ea typeface="Calibri"/>
                <a:cs typeface="Calibri"/>
              </a:rPr>
              <a:t> gagal setelah stok direservasi</a:t>
            </a:r>
          </a:p>
        </p:txBody>
      </p:sp>
      <p:sp>
        <p:nvSpPr>
          <p:cNvPr id="231" name="Label uji 4"/>
          <p:cNvSpPr txBox="1"/>
          <p:nvPr/>
        </p:nvSpPr>
        <p:spPr>
          <a:xfrm>
            <a:off x="745236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32" name="Chip 4"/>
          <p:cNvSpPr/>
          <p:nvPr/>
        </p:nvSpPr>
        <p:spPr>
          <a:xfrm>
            <a:off x="7452360" y="4565880"/>
            <a:ext cx="1000000" cy="3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F6</a:t>
            </a:r>
          </a:p>
        </p:txBody>
      </p:sp>
      <p:sp>
        <p:nvSpPr>
          <p:cNvPr id="233" name="Kartu paket 5"/>
          <p:cNvSpPr/>
          <p:nvPr/>
        </p:nvSpPr>
        <p:spPr>
          <a:xfrm>
            <a:off x="9509760" y="1325880"/>
            <a:ext cx="2103120"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34" name="Nomor 5"/>
          <p:cNvSpPr/>
          <p:nvPr/>
        </p:nvSpPr>
        <p:spPr>
          <a:xfrm>
            <a:off x="969264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5</a:t>
            </a:r>
          </a:p>
        </p:txBody>
      </p:sp>
      <p:sp>
        <p:nvSpPr>
          <p:cNvPr id="235" name="Nama paket 5"/>
          <p:cNvSpPr txBox="1"/>
          <p:nvPr/>
        </p:nvSpPr>
        <p:spPr>
          <a:xfrm>
            <a:off x="969264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Retry dan</a:t>
            </a:r>
          </a:p>
          <a:p>
            <a:pPr marL="0" indent="0" algn="l">
              <a:buNone/>
            </a:pPr>
            <a:r>
              <a:rPr lang="id-ID" sz="1800" b="1" dirty="0">
                <a:solidFill>
                  <a:srgbClr val="12284C"/>
                </a:solidFill>
                <a:latin typeface="Calibri"/>
                <a:ea typeface="Calibri"/>
                <a:cs typeface="Calibri"/>
              </a:rPr>
              <a:t>Dead-Letter Queue</a:t>
            </a:r>
          </a:p>
        </p:txBody>
      </p:sp>
      <p:sp>
        <p:nvSpPr>
          <p:cNvPr id="236" name="Garis 5"/>
          <p:cNvSpPr/>
          <p:nvPr/>
        </p:nvSpPr>
        <p:spPr>
          <a:xfrm>
            <a:off x="9692640" y="3025880"/>
            <a:ext cx="1737360" cy="12700"/>
          </a:xfrm>
          <a:prstGeom prst="rect">
            <a:avLst/>
          </a:prstGeom>
          <a:solidFill>
            <a:srgbClr val="D5DEEC"/>
          </a:solidFill>
          <a:ln>
            <a:noFill/>
          </a:ln>
        </p:spPr>
        <p:txBody>
          <a:bodyPr wrap="square" lIns="0" tIns="0" rIns="0" bIns="0" rtlCol="0" anchor="ctr"/>
          <a:lstStyle/>
          <a:p>
            <a:endParaRPr lang="id-ID"/>
          </a:p>
        </p:txBody>
      </p:sp>
      <p:sp>
        <p:nvSpPr>
          <p:cNvPr id="237" name="Label risiko 5"/>
          <p:cNvSpPr txBox="1"/>
          <p:nvPr/>
        </p:nvSpPr>
        <p:spPr>
          <a:xfrm>
            <a:off x="969264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38" name="Risiko 5"/>
          <p:cNvSpPr txBox="1"/>
          <p:nvPr/>
        </p:nvSpPr>
        <p:spPr>
          <a:xfrm>
            <a:off x="9692640" y="3375880"/>
            <a:ext cx="1737360" cy="1050000"/>
          </a:xfrm>
          <a:prstGeom prst="rect">
            <a:avLst/>
          </a:prstGeom>
          <a:noFill/>
          <a:ln>
            <a:noFill/>
          </a:ln>
        </p:spPr>
        <p:txBody>
          <a:bodyPr wrap="square" lIns="0" tIns="0" rIns="0" bIns="0" rtlCol="0" anchor="t"/>
          <a:lstStyle/>
          <a:p>
            <a:pPr marL="0" indent="0" algn="l">
              <a:buNone/>
            </a:pPr>
            <a:r>
              <a:rPr lang="id-ID" sz="1500" b="0" dirty="0">
                <a:solidFill>
                  <a:srgbClr val="12284C"/>
                </a:solidFill>
                <a:latin typeface="Calibri"/>
                <a:ea typeface="Calibri"/>
                <a:cs typeface="Calibri"/>
              </a:rPr>
              <a:t>Kegagalan berulang dapat menghambat antrean dan perlu diisolasi</a:t>
            </a:r>
          </a:p>
        </p:txBody>
      </p:sp>
      <p:sp>
        <p:nvSpPr>
          <p:cNvPr id="239" name="Label uji 5"/>
          <p:cNvSpPr txBox="1"/>
          <p:nvPr/>
        </p:nvSpPr>
        <p:spPr>
          <a:xfrm>
            <a:off x="969264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40" name="Chip 5"/>
          <p:cNvSpPr/>
          <p:nvPr/>
        </p:nvSpPr>
        <p:spPr>
          <a:xfrm>
            <a:off x="9692640" y="4565880"/>
            <a:ext cx="1737360" cy="440000"/>
          </a:xfrm>
          <a:prstGeom prst="roundRect">
            <a:avLst>
              <a:gd name="adj" fmla="val 14000"/>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300" b="1" dirty="0">
                <a:solidFill>
                  <a:srgbClr val="12284C"/>
                </a:solidFill>
                <a:latin typeface="Calibri"/>
                <a:ea typeface="Calibri"/>
                <a:cs typeface="Calibri"/>
              </a:rPr>
              <a:t>Tidak diuji sebagai</a:t>
            </a:r>
            <a:br>
              <a:rPr lang="id-ID" sz="1300" b="1" dirty="0">
                <a:solidFill>
                  <a:srgbClr val="12284C"/>
                </a:solidFill>
                <a:latin typeface="Calibri"/>
                <a:ea typeface="Calibri"/>
                <a:cs typeface="Calibri"/>
              </a:rPr>
            </a:br>
            <a:r>
              <a:rPr lang="id-ID" sz="1300" b="1" dirty="0">
                <a:solidFill>
                  <a:srgbClr val="12284C"/>
                </a:solidFill>
                <a:latin typeface="Calibri"/>
                <a:ea typeface="Calibri"/>
                <a:cs typeface="Calibri"/>
              </a:rPr>
              <a:t>F khusus</a:t>
            </a:r>
          </a:p>
        </p:txBody>
      </p:sp>
      <p:sp>
        <p:nvSpPr>
          <p:cNvPr id="241" name="Bar kondisi EDA"/>
          <p:cNvSpPr/>
          <p:nvPr/>
        </p:nvSpPr>
        <p:spPr>
          <a:xfrm>
            <a:off x="548640" y="5200000"/>
            <a:ext cx="11064240" cy="960000"/>
          </a:xfrm>
          <a:prstGeom prst="roundRect">
            <a:avLst>
              <a:gd name="adj" fmla="val 12000"/>
            </a:avLst>
          </a:prstGeom>
          <a:solidFill>
            <a:srgbClr val="12284C"/>
          </a:solidFill>
          <a:ln w="12700">
            <a:solidFill>
              <a:srgbClr val="12284C"/>
            </a:solidFill>
            <a:prstDash val="solid"/>
          </a:ln>
        </p:spPr>
        <p:txBody>
          <a:bodyPr wrap="square" lIns="274320" tIns="45720" rIns="274320" bIns="45720" rtlCol="0" anchor="ctr"/>
          <a:lstStyle/>
          <a:p>
            <a:pPr marL="0" indent="0" algn="l">
              <a:buNone/>
            </a:pPr>
            <a:r>
              <a:rPr lang="id-ID" sz="1800" b="1" dirty="0">
                <a:solidFill>
                  <a:srgbClr val="FFFFFF"/>
                </a:solidFill>
                <a:latin typeface="Calibri"/>
                <a:ea typeface="Calibri"/>
                <a:cs typeface="Calibri"/>
              </a:rPr>
              <a:t>EDA tanpa proteksi = baseline EDA tanpa lima paket mekanisme di atas.</a:t>
            </a:r>
          </a:p>
          <a:p>
            <a:pPr marL="0" indent="0" algn="l">
              <a:spcBef>
                <a:spcPts val="300"/>
              </a:spcBef>
              <a:buNone/>
            </a:pPr>
            <a:r>
              <a:rPr lang="id-ID" sz="1600" b="0" dirty="0">
                <a:solidFill>
                  <a:srgbClr val="CADCFC"/>
                </a:solidFill>
                <a:latin typeface="Calibri"/>
                <a:ea typeface="Calibri"/>
                <a:cs typeface="Calibri"/>
              </a:rPr>
              <a:t>Konfigurasi dasar broker disamakan pada kedua kondisi EDA (Bab III, 3.2.2).</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Alur penelitian lima tahap dengan pilot test sebelum eksperimen utama</a:t>
            </a:r>
            <a:endParaRPr lang="en-US" sz="2800" dirty="0"/>
          </a:p>
        </p:txBody>
      </p:sp>
      <p:sp>
        <p:nvSpPr>
          <p:cNvPr id="201" name="Tahap 1"/>
          <p:cNvSpPr/>
          <p:nvPr/>
        </p:nvSpPr>
        <p:spPr>
          <a:xfrm>
            <a:off x="548640" y="1325880"/>
            <a:ext cx="2020848" cy="170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2" name="Nomor tahap 1"/>
          <p:cNvSpPr/>
          <p:nvPr/>
        </p:nvSpPr>
        <p:spPr>
          <a:xfrm>
            <a:off x="731520" y="1465880"/>
            <a:ext cx="420000" cy="42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900" b="1" dirty="0">
                <a:solidFill>
                  <a:srgbClr val="FFFFFF"/>
                </a:solidFill>
                <a:latin typeface="Calibri"/>
                <a:ea typeface="Calibri"/>
                <a:cs typeface="Calibri"/>
              </a:rPr>
              <a:t>1</a:t>
            </a:r>
          </a:p>
        </p:txBody>
      </p:sp>
      <p:sp>
        <p:nvSpPr>
          <p:cNvPr id="203" name="Nama tahap 1"/>
          <p:cNvSpPr txBox="1"/>
          <p:nvPr/>
        </p:nvSpPr>
        <p:spPr>
          <a:xfrm>
            <a:off x="731520"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12284C"/>
                </a:solidFill>
                <a:latin typeface="Calibri"/>
                <a:ea typeface="Calibri"/>
                <a:cs typeface="Calibri"/>
              </a:rPr>
              <a:t>Analisis kebutuhan dan aturan bisnis</a:t>
            </a:r>
          </a:p>
        </p:txBody>
      </p:sp>
      <p:sp>
        <p:nvSpPr>
          <p:cNvPr id="204" name="Detail tahap 1"/>
          <p:cNvSpPr txBox="1"/>
          <p:nvPr/>
        </p:nvSpPr>
        <p:spPr>
          <a:xfrm>
            <a:off x="731520" y="2555880"/>
            <a:ext cx="1655088"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Wawancara dan observasi, 5 Juli 2026</a:t>
            </a:r>
          </a:p>
        </p:txBody>
      </p:sp>
      <p:cxnSp>
        <p:nvCxnSpPr>
          <p:cNvPr id="205" name="Panah tahap 1"/>
          <p:cNvCxnSpPr/>
          <p:nvPr/>
        </p:nvCxnSpPr>
        <p:spPr>
          <a:xfrm>
            <a:off x="2609488" y="2175880"/>
            <a:ext cx="160000" cy="0"/>
          </a:xfrm>
          <a:prstGeom prst="line">
            <a:avLst/>
          </a:prstGeom>
          <a:ln w="28575">
            <a:solidFill>
              <a:srgbClr val="12284C"/>
            </a:solidFill>
            <a:prstDash val="solid"/>
            <a:tailEnd type="triangle"/>
          </a:ln>
        </p:spPr>
      </p:cxnSp>
      <p:sp>
        <p:nvSpPr>
          <p:cNvPr id="206" name="Tahap 2"/>
          <p:cNvSpPr/>
          <p:nvPr/>
        </p:nvSpPr>
        <p:spPr>
          <a:xfrm>
            <a:off x="2809488" y="1325880"/>
            <a:ext cx="2020848" cy="170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7" name="Nomor tahap 2"/>
          <p:cNvSpPr/>
          <p:nvPr/>
        </p:nvSpPr>
        <p:spPr>
          <a:xfrm>
            <a:off x="2992368" y="1465880"/>
            <a:ext cx="420000" cy="42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900" b="1" dirty="0">
                <a:solidFill>
                  <a:srgbClr val="FFFFFF"/>
                </a:solidFill>
                <a:latin typeface="Calibri"/>
                <a:ea typeface="Calibri"/>
                <a:cs typeface="Calibri"/>
              </a:rPr>
              <a:t>2</a:t>
            </a:r>
          </a:p>
        </p:txBody>
      </p:sp>
      <p:sp>
        <p:nvSpPr>
          <p:cNvPr id="208" name="Nama tahap 2"/>
          <p:cNvSpPr txBox="1"/>
          <p:nvPr/>
        </p:nvSpPr>
        <p:spPr>
          <a:xfrm>
            <a:off x="2992368"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12284C"/>
                </a:solidFill>
                <a:latin typeface="Calibri"/>
                <a:ea typeface="Calibri"/>
                <a:cs typeface="Calibri"/>
              </a:rPr>
              <a:t>Perancangan arsitektur</a:t>
            </a:r>
          </a:p>
        </p:txBody>
      </p:sp>
      <p:sp>
        <p:nvSpPr>
          <p:cNvPr id="209" name="Detail tahap 2"/>
          <p:cNvSpPr txBox="1"/>
          <p:nvPr/>
        </p:nvSpPr>
        <p:spPr>
          <a:xfrm>
            <a:off x="2992368" y="2555880"/>
            <a:ext cx="1655088"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4 domain, otoritas data</a:t>
            </a:r>
          </a:p>
        </p:txBody>
      </p:sp>
      <p:cxnSp>
        <p:nvCxnSpPr>
          <p:cNvPr id="210" name="Panah tahap 2"/>
          <p:cNvCxnSpPr/>
          <p:nvPr/>
        </p:nvCxnSpPr>
        <p:spPr>
          <a:xfrm>
            <a:off x="4870336" y="2175880"/>
            <a:ext cx="160000" cy="0"/>
          </a:xfrm>
          <a:prstGeom prst="line">
            <a:avLst/>
          </a:prstGeom>
          <a:ln w="28575">
            <a:solidFill>
              <a:srgbClr val="12284C"/>
            </a:solidFill>
            <a:prstDash val="solid"/>
            <a:tailEnd type="triangle"/>
          </a:ln>
        </p:spPr>
      </p:cxnSp>
      <p:sp>
        <p:nvSpPr>
          <p:cNvPr id="211" name="Tahap 3"/>
          <p:cNvSpPr/>
          <p:nvPr/>
        </p:nvSpPr>
        <p:spPr>
          <a:xfrm>
            <a:off x="5070336" y="1325880"/>
            <a:ext cx="2020848" cy="170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2" name="Nomor tahap 3"/>
          <p:cNvSpPr/>
          <p:nvPr/>
        </p:nvSpPr>
        <p:spPr>
          <a:xfrm>
            <a:off x="5253216" y="1465880"/>
            <a:ext cx="420000" cy="42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900" b="1" dirty="0">
                <a:solidFill>
                  <a:srgbClr val="FFFFFF"/>
                </a:solidFill>
                <a:latin typeface="Calibri"/>
                <a:ea typeface="Calibri"/>
                <a:cs typeface="Calibri"/>
              </a:rPr>
              <a:t>3</a:t>
            </a:r>
          </a:p>
        </p:txBody>
      </p:sp>
      <p:sp>
        <p:nvSpPr>
          <p:cNvPr id="213" name="Nama tahap 3"/>
          <p:cNvSpPr txBox="1"/>
          <p:nvPr/>
        </p:nvSpPr>
        <p:spPr>
          <a:xfrm>
            <a:off x="5253216"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12284C"/>
                </a:solidFill>
                <a:latin typeface="Calibri"/>
                <a:ea typeface="Calibri"/>
                <a:cs typeface="Calibri"/>
              </a:rPr>
              <a:t>Pengembangan sistem</a:t>
            </a:r>
          </a:p>
        </p:txBody>
      </p:sp>
      <p:sp>
        <p:nvSpPr>
          <p:cNvPr id="214" name="Detail tahap 3"/>
          <p:cNvSpPr txBox="1"/>
          <p:nvPr/>
        </p:nvSpPr>
        <p:spPr>
          <a:xfrm>
            <a:off x="5253216" y="2555880"/>
            <a:ext cx="1655088"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3 kondisi arsitektur</a:t>
            </a:r>
          </a:p>
        </p:txBody>
      </p:sp>
      <p:cxnSp>
        <p:nvCxnSpPr>
          <p:cNvPr id="215" name="Panah tahap 3"/>
          <p:cNvCxnSpPr/>
          <p:nvPr/>
        </p:nvCxnSpPr>
        <p:spPr>
          <a:xfrm>
            <a:off x="7131184" y="2175880"/>
            <a:ext cx="160000" cy="0"/>
          </a:xfrm>
          <a:prstGeom prst="line">
            <a:avLst/>
          </a:prstGeom>
          <a:ln w="28575">
            <a:solidFill>
              <a:srgbClr val="12284C"/>
            </a:solidFill>
            <a:prstDash val="solid"/>
            <a:tailEnd type="triangle"/>
          </a:ln>
        </p:spPr>
      </p:cxnSp>
      <p:sp>
        <p:nvSpPr>
          <p:cNvPr id="216" name="Tahap 4"/>
          <p:cNvSpPr/>
          <p:nvPr/>
        </p:nvSpPr>
        <p:spPr>
          <a:xfrm>
            <a:off x="7331184" y="1325880"/>
            <a:ext cx="2020848" cy="1700000"/>
          </a:xfrm>
          <a:prstGeom prst="roundRect">
            <a:avLst>
              <a:gd name="adj" fmla="val 14000"/>
            </a:avLst>
          </a:prstGeom>
          <a:solidFill>
            <a:srgbClr val="12284C"/>
          </a:solidFill>
          <a:ln w="9525">
            <a:solidFill>
              <a:srgbClr val="12284C"/>
            </a:solidFill>
            <a:prstDash val="solid"/>
          </a:ln>
        </p:spPr>
        <p:txBody>
          <a:bodyPr wrap="square" lIns="0" tIns="0" rIns="0" bIns="0" rtlCol="0" anchor="ctr"/>
          <a:lstStyle/>
          <a:p>
            <a:endParaRPr lang="id-ID"/>
          </a:p>
        </p:txBody>
      </p:sp>
      <p:sp>
        <p:nvSpPr>
          <p:cNvPr id="217" name="Nomor tahap 4"/>
          <p:cNvSpPr/>
          <p:nvPr/>
        </p:nvSpPr>
        <p:spPr>
          <a:xfrm>
            <a:off x="7514064" y="1465880"/>
            <a:ext cx="420000" cy="420000"/>
          </a:xfrm>
          <a:prstGeom prst="ellipse">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900" b="1" dirty="0">
                <a:solidFill>
                  <a:srgbClr val="12284C"/>
                </a:solidFill>
                <a:latin typeface="Calibri"/>
                <a:ea typeface="Calibri"/>
                <a:cs typeface="Calibri"/>
              </a:rPr>
              <a:t>4</a:t>
            </a:r>
          </a:p>
        </p:txBody>
      </p:sp>
      <p:sp>
        <p:nvSpPr>
          <p:cNvPr id="218" name="Nama tahap 4"/>
          <p:cNvSpPr txBox="1"/>
          <p:nvPr/>
        </p:nvSpPr>
        <p:spPr>
          <a:xfrm>
            <a:off x="7514064"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FFFFFF"/>
                </a:solidFill>
                <a:latin typeface="Calibri"/>
                <a:ea typeface="Calibri"/>
                <a:cs typeface="Calibri"/>
              </a:rPr>
              <a:t>Pengujian dan simulasi gangguan</a:t>
            </a:r>
          </a:p>
        </p:txBody>
      </p:sp>
      <p:sp>
        <p:nvSpPr>
          <p:cNvPr id="219" name="Detail tahap 4"/>
          <p:cNvSpPr txBox="1"/>
          <p:nvPr/>
        </p:nvSpPr>
        <p:spPr>
          <a:xfrm>
            <a:off x="7514064" y="2555880"/>
            <a:ext cx="1655088" cy="430000"/>
          </a:xfrm>
          <a:prstGeom prst="rect">
            <a:avLst/>
          </a:prstGeom>
          <a:noFill/>
          <a:ln>
            <a:noFill/>
          </a:ln>
        </p:spPr>
        <p:txBody>
          <a:bodyPr wrap="square" lIns="0" tIns="0" rIns="0" bIns="0" rtlCol="0" anchor="t"/>
          <a:lstStyle/>
          <a:p>
            <a:pPr marL="0" indent="0" algn="l">
              <a:buNone/>
            </a:pPr>
            <a:r>
              <a:rPr lang="id-ID" sz="1300" b="0" dirty="0">
                <a:solidFill>
                  <a:srgbClr val="CADCFC"/>
                </a:solidFill>
                <a:latin typeface="Calibri"/>
                <a:ea typeface="Calibri"/>
                <a:cs typeface="Calibri"/>
              </a:rPr>
              <a:t>Pilot test, lalu eksperimen utama</a:t>
            </a:r>
          </a:p>
        </p:txBody>
      </p:sp>
      <p:cxnSp>
        <p:nvCxnSpPr>
          <p:cNvPr id="220" name="Panah tahap 4"/>
          <p:cNvCxnSpPr/>
          <p:nvPr/>
        </p:nvCxnSpPr>
        <p:spPr>
          <a:xfrm>
            <a:off x="9392032" y="2175880"/>
            <a:ext cx="160000" cy="0"/>
          </a:xfrm>
          <a:prstGeom prst="line">
            <a:avLst/>
          </a:prstGeom>
          <a:ln w="28575">
            <a:solidFill>
              <a:srgbClr val="12284C"/>
            </a:solidFill>
            <a:prstDash val="solid"/>
            <a:tailEnd type="triangle"/>
          </a:ln>
        </p:spPr>
      </p:cxnSp>
      <p:sp>
        <p:nvSpPr>
          <p:cNvPr id="221" name="Tahap 5"/>
          <p:cNvSpPr/>
          <p:nvPr/>
        </p:nvSpPr>
        <p:spPr>
          <a:xfrm>
            <a:off x="9592032" y="1325880"/>
            <a:ext cx="2020848" cy="170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22" name="Nomor tahap 5"/>
          <p:cNvSpPr/>
          <p:nvPr/>
        </p:nvSpPr>
        <p:spPr>
          <a:xfrm>
            <a:off x="9774912" y="1465880"/>
            <a:ext cx="420000" cy="42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900" b="1" dirty="0">
                <a:solidFill>
                  <a:srgbClr val="FFFFFF"/>
                </a:solidFill>
                <a:latin typeface="Calibri"/>
                <a:ea typeface="Calibri"/>
                <a:cs typeface="Calibri"/>
              </a:rPr>
              <a:t>5</a:t>
            </a:r>
          </a:p>
        </p:txBody>
      </p:sp>
      <p:sp>
        <p:nvSpPr>
          <p:cNvPr id="223" name="Nama tahap 5"/>
          <p:cNvSpPr txBox="1"/>
          <p:nvPr/>
        </p:nvSpPr>
        <p:spPr>
          <a:xfrm>
            <a:off x="9774912"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12284C"/>
                </a:solidFill>
                <a:latin typeface="Calibri"/>
                <a:ea typeface="Calibri"/>
                <a:cs typeface="Calibri"/>
              </a:rPr>
              <a:t>Analisis hasil</a:t>
            </a:r>
          </a:p>
        </p:txBody>
      </p:sp>
      <p:sp>
        <p:nvSpPr>
          <p:cNvPr id="224" name="Detail tahap 5"/>
          <p:cNvSpPr txBox="1"/>
          <p:nvPr/>
        </p:nvSpPr>
        <p:spPr>
          <a:xfrm>
            <a:off x="9774912" y="2215000"/>
            <a:ext cx="1750000" cy="700000"/>
          </a:xfrm>
          <a:prstGeom prst="rect">
            <a:avLst/>
          </a:prstGeom>
          <a:noFill/>
          <a:ln>
            <a:noFill/>
          </a:ln>
        </p:spPr>
        <p:txBody>
          <a:bodyPr wrap="square" lIns="0" tIns="0" rIns="0" bIns="0" rtlCol="0" anchor="t"/>
          <a:lstStyle/>
          <a:p>
            <a:pPr marL="0" indent="0" algn="l">
              <a:buNone/>
            </a:pPr>
            <a:r>
              <a:rPr lang="id-ID" sz="1200" b="0" dirty="0">
                <a:solidFill>
                  <a:srgbClr val="4D5D78"/>
                </a:solidFill>
                <a:latin typeface="Calibri"/>
                <a:ea typeface="Calibri"/>
                <a:cs typeface="Calibri"/>
              </a:rPr>
              <a:t>Konsistensi, keandalan, dan performa</a:t>
            </a:r>
          </a:p>
          <a:p>
            <a:pPr marL="0" indent="0" algn="l">
              <a:spcBef>
                <a:spcPts val="300"/>
              </a:spcBef>
              <a:buNone/>
            </a:pPr>
            <a:r>
              <a:rPr lang="id-ID" sz="1000" b="0" dirty="0">
                <a:solidFill>
                  <a:srgbClr val="4D5D78"/>
                </a:solidFill>
                <a:latin typeface="Calibri"/>
                <a:ea typeface="Calibri"/>
                <a:cs typeface="Calibri"/>
              </a:rPr>
              <a:t>median, IQR, p95 + outcome integritas</a:t>
            </a:r>
          </a:p>
        </p:txBody>
      </p:sp>
      <p:cxnSp>
        <p:nvCxnSpPr>
          <p:cNvPr id="225" name="Sambungan tahap 4"/>
          <p:cNvCxnSpPr/>
          <p:nvPr/>
        </p:nvCxnSpPr>
        <p:spPr>
          <a:xfrm>
            <a:off x="8341608" y="3055880"/>
            <a:ext cx="0" cy="234120"/>
          </a:xfrm>
          <a:prstGeom prst="line">
            <a:avLst/>
          </a:prstGeom>
          <a:ln w="28575">
            <a:solidFill>
              <a:srgbClr val="8B6300"/>
            </a:solidFill>
            <a:prstDash val="solid"/>
            <a:tailEnd type="triangle"/>
          </a:ln>
        </p:spPr>
      </p:cxnSp>
      <p:sp>
        <p:nvSpPr>
          <p:cNvPr id="226" name="Panel tahap 4"/>
          <p:cNvSpPr/>
          <p:nvPr/>
        </p:nvSpPr>
        <p:spPr>
          <a:xfrm>
            <a:off x="548640" y="3290000"/>
            <a:ext cx="11064240" cy="2060000"/>
          </a:xfrm>
          <a:prstGeom prst="roundRect">
            <a:avLst>
              <a:gd name="adj" fmla="val 6000"/>
            </a:avLst>
          </a:prstGeom>
          <a:solidFill>
            <a:srgbClr val="FFFFFF"/>
          </a:solidFill>
          <a:ln w="19050">
            <a:solidFill>
              <a:srgbClr val="8B6300"/>
            </a:solidFill>
            <a:prstDash val="solid"/>
          </a:ln>
        </p:spPr>
        <p:txBody>
          <a:bodyPr wrap="square" lIns="0" tIns="0" rIns="0" bIns="0" rtlCol="0" anchor="ctr"/>
          <a:lstStyle/>
          <a:p>
            <a:endParaRPr lang="id-ID"/>
          </a:p>
        </p:txBody>
      </p:sp>
      <p:sp>
        <p:nvSpPr>
          <p:cNvPr id="227" name="Judul panel"/>
          <p:cNvSpPr txBox="1"/>
          <p:nvPr/>
        </p:nvSpPr>
        <p:spPr>
          <a:xfrm>
            <a:off x="777240" y="3400000"/>
            <a:ext cx="9000000" cy="220000"/>
          </a:xfrm>
          <a:prstGeom prst="rect">
            <a:avLst/>
          </a:prstGeom>
          <a:noFill/>
          <a:ln>
            <a:noFill/>
          </a:ln>
        </p:spPr>
        <p:txBody>
          <a:bodyPr wrap="square" lIns="0" tIns="0" rIns="0" bIns="0" rtlCol="0" anchor="t"/>
          <a:lstStyle/>
          <a:p>
            <a:pPr marL="0" indent="0" algn="l">
              <a:buNone/>
            </a:pPr>
            <a:r>
              <a:rPr lang="id-ID" sz="1350" b="1" dirty="0">
                <a:solidFill>
                  <a:srgbClr val="8B6300"/>
                </a:solidFill>
                <a:latin typeface="Calibri"/>
                <a:ea typeface="Calibri"/>
                <a:cs typeface="Calibri"/>
              </a:rPr>
              <a:t>TAHAP 4 DIPERINCI: PILOT, LALU EKSPERIMEN UTAMA</a:t>
            </a:r>
          </a:p>
        </p:txBody>
      </p:sp>
      <p:sp>
        <p:nvSpPr>
          <p:cNvPr id="228" name="Kotak pilot"/>
          <p:cNvSpPr/>
          <p:nvPr/>
        </p:nvSpPr>
        <p:spPr>
          <a:xfrm>
            <a:off x="777240" y="3670000"/>
            <a:ext cx="2400000" cy="1280000"/>
          </a:xfrm>
          <a:prstGeom prst="roundRect">
            <a:avLst>
              <a:gd name="adj" fmla="val 9000"/>
            </a:avLst>
          </a:prstGeom>
          <a:solidFill>
            <a:srgbClr val="EEF2F8"/>
          </a:solidFill>
          <a:ln w="12700">
            <a:solidFill>
              <a:srgbClr val="D5DEEC"/>
            </a:solidFill>
            <a:prstDash val="solid"/>
          </a:ln>
        </p:spPr>
        <p:txBody>
          <a:bodyPr wrap="square" lIns="182880" tIns="91440" rIns="182880" bIns="91440" rtlCol="0" anchor="ctr"/>
          <a:lstStyle/>
          <a:p>
            <a:pPr marL="0" indent="0" algn="l">
              <a:buNone/>
            </a:pPr>
            <a:r>
              <a:rPr lang="id-ID" sz="1700" b="1" dirty="0">
                <a:solidFill>
                  <a:srgbClr val="12284C"/>
                </a:solidFill>
                <a:latin typeface="Calibri"/>
                <a:ea typeface="Calibri"/>
                <a:cs typeface="Calibri"/>
              </a:rPr>
              <a:t>Pilot test</a:t>
            </a:r>
          </a:p>
          <a:p>
            <a:pPr marL="0" indent="0" algn="l">
              <a:spcBef>
                <a:spcPts val="600"/>
              </a:spcBef>
              <a:buNone/>
            </a:pPr>
            <a:r>
              <a:rPr lang="id-ID" sz="1700" b="0" dirty="0">
                <a:solidFill>
                  <a:srgbClr val="4D5D78"/>
                </a:solidFill>
                <a:latin typeface="Calibri"/>
                <a:ea typeface="Calibri"/>
                <a:cs typeface="Calibri"/>
              </a:rPr>
              <a:t>10, 50, 100 req/s, tanpa gangguan</a:t>
            </a:r>
          </a:p>
        </p:txBody>
      </p:sp>
      <p:cxnSp>
        <p:nvCxnSpPr>
          <p:cNvPr id="229" name="Panah pilot 1"/>
          <p:cNvCxnSpPr/>
          <p:nvPr/>
        </p:nvCxnSpPr>
        <p:spPr>
          <a:xfrm>
            <a:off x="3217240" y="4310000"/>
            <a:ext cx="220000" cy="0"/>
          </a:xfrm>
          <a:prstGeom prst="line">
            <a:avLst/>
          </a:prstGeom>
          <a:ln w="28575">
            <a:solidFill>
              <a:srgbClr val="12284C"/>
            </a:solidFill>
            <a:prstDash val="solid"/>
            <a:tailEnd type="triangle"/>
          </a:ln>
        </p:spPr>
      </p:cxnSp>
      <p:sp>
        <p:nvSpPr>
          <p:cNvPr id="230" name="Kotak siap uji"/>
          <p:cNvSpPr/>
          <p:nvPr/>
        </p:nvSpPr>
        <p:spPr>
          <a:xfrm>
            <a:off x="3477240" y="3670000"/>
            <a:ext cx="5000000" cy="1280000"/>
          </a:xfrm>
          <a:prstGeom prst="roundRect">
            <a:avLst>
              <a:gd name="adj" fmla="val 9000"/>
            </a:avLst>
          </a:prstGeom>
          <a:solidFill>
            <a:srgbClr val="EEF2F8"/>
          </a:solidFill>
          <a:ln w="12700">
            <a:solidFill>
              <a:srgbClr val="D5DEEC"/>
            </a:solidFill>
            <a:prstDash val="solid"/>
          </a:ln>
        </p:spPr>
        <p:txBody>
          <a:bodyPr wrap="square" lIns="182880" tIns="64008" rIns="182880" bIns="64008" rtlCol="0" anchor="ctr"/>
          <a:lstStyle/>
          <a:p>
            <a:pPr marL="0" indent="0" algn="l">
              <a:buNone/>
            </a:pPr>
            <a:r>
              <a:rPr lang="id-ID" sz="1700" b="1" dirty="0">
                <a:solidFill>
                  <a:srgbClr val="12284C"/>
                </a:solidFill>
                <a:latin typeface="Calibri"/>
                <a:ea typeface="Calibri"/>
                <a:cs typeface="Calibri"/>
              </a:rPr>
              <a:t>SYARAT EKSPERIMEN UTAMA</a:t>
            </a:r>
          </a:p>
          <a:p>
            <a:pPr marL="0" indent="0" algn="l">
              <a:spcBef>
                <a:spcPts val="120"/>
              </a:spcBef>
              <a:buNone/>
            </a:pPr>
            <a:r>
              <a:rPr lang="id-ID" sz="1300" b="1" dirty="0">
                <a:solidFill>
                  <a:srgbClr val="8B6300"/>
                </a:solidFill>
                <a:latin typeface="Calibri"/>
                <a:ea typeface="Calibri"/>
                <a:cs typeface="Calibri"/>
              </a:rPr>
              <a:t>✓  </a:t>
            </a:r>
            <a:r>
              <a:rPr lang="id-ID" sz="1300" b="0" dirty="0">
                <a:solidFill>
                  <a:srgbClr val="12284C"/>
                </a:solidFill>
                <a:latin typeface="Calibri"/>
                <a:ea typeface="Calibri"/>
                <a:cs typeface="Calibri"/>
              </a:rPr>
              <a:t>Seluruh skenario tanpa gangguan dapat dijalankan dan direkonsiliasi</a:t>
            </a:r>
          </a:p>
          <a:p>
            <a:pPr marL="0" indent="0" algn="l">
              <a:spcBef>
                <a:spcPts val="120"/>
              </a:spcBef>
              <a:buNone/>
            </a:pPr>
            <a:r>
              <a:rPr lang="id-ID" sz="1300" b="1" dirty="0">
                <a:solidFill>
                  <a:srgbClr val="8B6300"/>
                </a:solidFill>
                <a:latin typeface="Calibri"/>
                <a:ea typeface="Calibri"/>
                <a:cs typeface="Calibri"/>
              </a:rPr>
              <a:t>✓  </a:t>
            </a:r>
            <a:r>
              <a:rPr lang="id-ID" sz="1300" b="0" dirty="0">
                <a:solidFill>
                  <a:srgbClr val="12284C"/>
                </a:solidFill>
                <a:latin typeface="Calibri"/>
                <a:ea typeface="Calibri"/>
                <a:cs typeface="Calibri"/>
              </a:rPr>
              <a:t>Log transaksi dan event tercatat</a:t>
            </a:r>
          </a:p>
          <a:p>
            <a:pPr marL="0" indent="0" algn="l">
              <a:spcBef>
                <a:spcPts val="120"/>
              </a:spcBef>
              <a:buNone/>
            </a:pPr>
            <a:r>
              <a:rPr lang="id-ID" sz="1300" b="1" dirty="0">
                <a:solidFill>
                  <a:srgbClr val="8B6300"/>
                </a:solidFill>
                <a:latin typeface="Calibri"/>
                <a:ea typeface="Calibri"/>
                <a:cs typeface="Calibri"/>
              </a:rPr>
              <a:t>✓  </a:t>
            </a:r>
            <a:r>
              <a:rPr lang="id-ID" sz="1300" b="0" dirty="0">
                <a:solidFill>
                  <a:srgbClr val="12284C"/>
                </a:solidFill>
                <a:latin typeface="Calibri"/>
                <a:ea typeface="Calibri"/>
                <a:cs typeface="Calibri"/>
              </a:rPr>
              <a:t>Rekonsiliasi selesai tanpa kegagalan alat uji</a:t>
            </a:r>
          </a:p>
        </p:txBody>
      </p:sp>
      <p:cxnSp>
        <p:nvCxnSpPr>
          <p:cNvPr id="231" name="Panah pilot 2"/>
          <p:cNvCxnSpPr/>
          <p:nvPr/>
        </p:nvCxnSpPr>
        <p:spPr>
          <a:xfrm>
            <a:off x="8517240" y="4310000"/>
            <a:ext cx="220000" cy="0"/>
          </a:xfrm>
          <a:prstGeom prst="line">
            <a:avLst/>
          </a:prstGeom>
          <a:ln w="28575">
            <a:solidFill>
              <a:srgbClr val="12284C"/>
            </a:solidFill>
            <a:prstDash val="solid"/>
            <a:tailEnd type="triangle"/>
          </a:ln>
        </p:spPr>
      </p:cxnSp>
      <p:sp>
        <p:nvSpPr>
          <p:cNvPr id="232" name="Kotak konfigurasi"/>
          <p:cNvSpPr/>
          <p:nvPr/>
        </p:nvSpPr>
        <p:spPr>
          <a:xfrm>
            <a:off x="8777240" y="3670000"/>
            <a:ext cx="2607040" cy="1280000"/>
          </a:xfrm>
          <a:prstGeom prst="roundRect">
            <a:avLst>
              <a:gd name="adj" fmla="val 9000"/>
            </a:avLst>
          </a:prstGeom>
          <a:solidFill>
            <a:srgbClr val="12284C"/>
          </a:solidFill>
          <a:ln w="12700">
            <a:solidFill>
              <a:srgbClr val="12284C"/>
            </a:solidFill>
            <a:prstDash val="solid"/>
          </a:ln>
        </p:spPr>
        <p:txBody>
          <a:bodyPr wrap="square" lIns="182880" tIns="91440" rIns="182880" bIns="91440" rtlCol="0" anchor="ctr"/>
          <a:lstStyle/>
          <a:p>
            <a:pPr marL="0" indent="0" algn="l">
              <a:buNone/>
            </a:pPr>
            <a:r>
              <a:rPr lang="id-ID" sz="1700" b="1" dirty="0">
                <a:solidFill>
                  <a:srgbClr val="E9BC3A"/>
                </a:solidFill>
                <a:latin typeface="Calibri"/>
                <a:ea typeface="Calibri"/>
                <a:cs typeface="Calibri"/>
              </a:rPr>
              <a:t>Eksperimen utama</a:t>
            </a:r>
          </a:p>
          <a:p>
            <a:pPr marL="0" indent="0" algn="l">
              <a:spcBef>
                <a:spcPts val="600"/>
              </a:spcBef>
              <a:buNone/>
            </a:pPr>
            <a:r>
              <a:rPr lang="id-ID" sz="1400" b="0" dirty="0">
                <a:solidFill>
                  <a:srgbClr val="FFFFFF"/>
                </a:solidFill>
                <a:latin typeface="Calibri"/>
                <a:ea typeface="Calibri"/>
                <a:cs typeface="Calibri"/>
              </a:rPr>
              <a:t>memakai pengaturan pengujian pada Tabel 3.4 yang telah ditetapkan</a:t>
            </a:r>
          </a:p>
        </p:txBody>
      </p:sp>
      <p:sp>
        <p:nvSpPr>
          <p:cNvPr id="233" name="Catatan pilot"/>
          <p:cNvSpPr txBox="1"/>
          <p:nvPr/>
        </p:nvSpPr>
        <p:spPr>
          <a:xfrm>
            <a:off x="777240" y="5010000"/>
            <a:ext cx="10600000" cy="250000"/>
          </a:xfrm>
          <a:prstGeom prst="rect">
            <a:avLst/>
          </a:prstGeom>
          <a:noFill/>
          <a:ln>
            <a:noFill/>
          </a:ln>
        </p:spPr>
        <p:txBody>
          <a:bodyPr wrap="square" lIns="0" tIns="0" rIns="0" bIns="0" rtlCol="0" anchor="t"/>
          <a:lstStyle/>
          <a:p>
            <a:pPr marL="0" indent="0" algn="l">
              <a:buNone/>
            </a:pPr>
            <a:r>
              <a:rPr lang="id-ID" sz="1600" b="1" dirty="0">
                <a:solidFill>
                  <a:srgbClr val="2A4373"/>
                </a:solidFill>
                <a:latin typeface="Calibri"/>
                <a:ea typeface="Calibri"/>
                <a:cs typeface="Calibri"/>
              </a:rPr>
              <a:t>Pilot memastikan alat uji berjalan dan hasil dapat direkonsiliasi sebelum eksperimen utama.</a:t>
            </a:r>
          </a:p>
        </p:txBody>
      </p:sp>
      <p:sp>
        <p:nvSpPr>
          <p:cNvPr id="234" name="Strip lingkungan"/>
          <p:cNvSpPr/>
          <p:nvPr/>
        </p:nvSpPr>
        <p:spPr>
          <a:xfrm>
            <a:off x="548640" y="5430000"/>
            <a:ext cx="11064240" cy="780000"/>
          </a:xfrm>
          <a:prstGeom prst="roundRect">
            <a:avLst>
              <a:gd name="adj" fmla="val 10000"/>
            </a:avLst>
          </a:prstGeom>
          <a:solidFill>
            <a:srgbClr val="FFFFFF"/>
          </a:solidFill>
          <a:ln w="15875">
            <a:solidFill>
              <a:srgbClr val="D5DEEC"/>
            </a:solidFill>
            <a:prstDash val="solid"/>
          </a:ln>
        </p:spPr>
        <p:txBody>
          <a:bodyPr wrap="square" lIns="0" tIns="0" rIns="0" bIns="0" rtlCol="0" anchor="ctr"/>
          <a:lstStyle/>
          <a:p>
            <a:endParaRPr lang="id-ID"/>
          </a:p>
        </p:txBody>
      </p:sp>
      <p:sp>
        <p:nvSpPr>
          <p:cNvPr id="235" name="Label lingkungan 1"/>
          <p:cNvSpPr txBox="1"/>
          <p:nvPr/>
        </p:nvSpPr>
        <p:spPr>
          <a:xfrm>
            <a:off x="777240" y="5540000"/>
            <a:ext cx="3800000" cy="200000"/>
          </a:xfrm>
          <a:prstGeom prst="rect">
            <a:avLst/>
          </a:prstGeom>
          <a:noFill/>
          <a:ln>
            <a:noFill/>
          </a:ln>
        </p:spPr>
        <p:txBody>
          <a:bodyPr wrap="square" lIns="0" tIns="0" rIns="0" bIns="0" rtlCol="0" anchor="t"/>
          <a:lstStyle/>
          <a:p>
            <a:pPr marL="0" indent="0" algn="l">
              <a:buNone/>
            </a:pPr>
            <a:r>
              <a:rPr lang="id-ID" sz="1350" b="1" dirty="0">
                <a:solidFill>
                  <a:srgbClr val="4D5D78"/>
                </a:solidFill>
                <a:latin typeface="Calibri"/>
                <a:ea typeface="Calibri"/>
                <a:cs typeface="Calibri"/>
              </a:rPr>
              <a:t>LINGKUNGAN: PERANGKAT LUNAK</a:t>
            </a:r>
          </a:p>
        </p:txBody>
      </p:sp>
      <p:sp>
        <p:nvSpPr>
          <p:cNvPr id="236" name="Isi lingkungan 1"/>
          <p:cNvSpPr txBox="1"/>
          <p:nvPr/>
        </p:nvSpPr>
        <p:spPr>
          <a:xfrm>
            <a:off x="777240" y="5760000"/>
            <a:ext cx="3620000" cy="420000"/>
          </a:xfrm>
          <a:prstGeom prst="rect">
            <a:avLst/>
          </a:prstGeom>
          <a:noFill/>
          <a:ln>
            <a:noFill/>
          </a:ln>
        </p:spPr>
        <p:txBody>
          <a:bodyPr wrap="square" lIns="0" tIns="0" rIns="0" bIns="0" rtlCol="0" anchor="t"/>
          <a:lstStyle/>
          <a:p>
            <a:pPr marL="0" indent="0" algn="l">
              <a:buNone/>
            </a:pPr>
            <a:r>
              <a:rPr lang="id-ID" sz="1300" b="1" dirty="0">
                <a:solidFill>
                  <a:srgbClr val="12284C"/>
                </a:solidFill>
                <a:latin typeface="Calibri"/>
                <a:ea typeface="Calibri"/>
                <a:cs typeface="Calibri"/>
              </a:rPr>
              <a:t>Laravel, NestJS, MySQL InnoDB, RabbitMQ, Docker Compose</a:t>
            </a:r>
          </a:p>
        </p:txBody>
      </p:sp>
      <p:sp>
        <p:nvSpPr>
          <p:cNvPr id="237" name="Pemisah 1"/>
          <p:cNvSpPr/>
          <p:nvPr/>
        </p:nvSpPr>
        <p:spPr>
          <a:xfrm>
            <a:off x="4607240" y="5580000"/>
            <a:ext cx="12700" cy="480000"/>
          </a:xfrm>
          <a:prstGeom prst="rect">
            <a:avLst/>
          </a:prstGeom>
          <a:solidFill>
            <a:srgbClr val="D5DEEC"/>
          </a:solidFill>
          <a:ln>
            <a:noFill/>
          </a:ln>
        </p:spPr>
        <p:txBody>
          <a:bodyPr wrap="square" lIns="0" tIns="0" rIns="0" bIns="0" rtlCol="0" anchor="ctr"/>
          <a:lstStyle/>
          <a:p>
            <a:endParaRPr lang="id-ID"/>
          </a:p>
        </p:txBody>
      </p:sp>
      <p:sp>
        <p:nvSpPr>
          <p:cNvPr id="238" name="Label lingkungan 2"/>
          <p:cNvSpPr txBox="1"/>
          <p:nvPr/>
        </p:nvSpPr>
        <p:spPr>
          <a:xfrm>
            <a:off x="4777240" y="5540000"/>
            <a:ext cx="3400000" cy="200000"/>
          </a:xfrm>
          <a:prstGeom prst="rect">
            <a:avLst/>
          </a:prstGeom>
          <a:noFill/>
          <a:ln>
            <a:noFill/>
          </a:ln>
        </p:spPr>
        <p:txBody>
          <a:bodyPr wrap="square" lIns="0" tIns="0" rIns="0" bIns="0" rtlCol="0" anchor="t"/>
          <a:lstStyle/>
          <a:p>
            <a:pPr marL="0" indent="0" algn="l">
              <a:buNone/>
            </a:pPr>
            <a:r>
              <a:rPr lang="id-ID" sz="1350" b="1" dirty="0">
                <a:solidFill>
                  <a:srgbClr val="4D5D78"/>
                </a:solidFill>
                <a:latin typeface="Calibri"/>
                <a:ea typeface="Calibri"/>
                <a:cs typeface="Calibri"/>
              </a:rPr>
              <a:t>SUMBER DAYA</a:t>
            </a:r>
          </a:p>
        </p:txBody>
      </p:sp>
      <p:sp>
        <p:nvSpPr>
          <p:cNvPr id="239" name="Isi lingkungan 2"/>
          <p:cNvSpPr txBox="1"/>
          <p:nvPr/>
        </p:nvSpPr>
        <p:spPr>
          <a:xfrm>
            <a:off x="4777240" y="5760000"/>
            <a:ext cx="3220000" cy="420000"/>
          </a:xfrm>
          <a:prstGeom prst="rect">
            <a:avLst/>
          </a:prstGeom>
          <a:noFill/>
          <a:ln>
            <a:noFill/>
          </a:ln>
        </p:spPr>
        <p:txBody>
          <a:bodyPr wrap="square" lIns="0" tIns="0" rIns="0" bIns="0" rtlCol="0" anchor="t"/>
          <a:lstStyle/>
          <a:p>
            <a:pPr marL="0" indent="0" algn="l">
              <a:buNone/>
            </a:pPr>
            <a:r>
              <a:rPr lang="id-ID" sz="1300" b="1" dirty="0">
                <a:solidFill>
                  <a:srgbClr val="12284C"/>
                </a:solidFill>
                <a:latin typeface="Calibri"/>
                <a:ea typeface="Calibri"/>
                <a:cs typeface="Calibri"/>
              </a:rPr>
              <a:t>Satu host, total CPU dan RAM disetarakan antar kondisi</a:t>
            </a:r>
          </a:p>
        </p:txBody>
      </p:sp>
      <p:sp>
        <p:nvSpPr>
          <p:cNvPr id="240" name="Pemisah 2"/>
          <p:cNvSpPr/>
          <p:nvPr/>
        </p:nvSpPr>
        <p:spPr>
          <a:xfrm>
            <a:off x="8207240" y="5580000"/>
            <a:ext cx="12700" cy="480000"/>
          </a:xfrm>
          <a:prstGeom prst="rect">
            <a:avLst/>
          </a:prstGeom>
          <a:solidFill>
            <a:srgbClr val="D5DEEC"/>
          </a:solidFill>
          <a:ln>
            <a:noFill/>
          </a:ln>
        </p:spPr>
        <p:txBody>
          <a:bodyPr wrap="square" lIns="0" tIns="0" rIns="0" bIns="0" rtlCol="0" anchor="ctr"/>
          <a:lstStyle/>
          <a:p>
            <a:endParaRPr lang="id-ID"/>
          </a:p>
        </p:txBody>
      </p:sp>
      <p:sp>
        <p:nvSpPr>
          <p:cNvPr id="241" name="Label lingkungan 3"/>
          <p:cNvSpPr txBox="1"/>
          <p:nvPr/>
        </p:nvSpPr>
        <p:spPr>
          <a:xfrm>
            <a:off x="8377240" y="5540000"/>
            <a:ext cx="3000000" cy="200000"/>
          </a:xfrm>
          <a:prstGeom prst="rect">
            <a:avLst/>
          </a:prstGeom>
          <a:noFill/>
          <a:ln>
            <a:noFill/>
          </a:ln>
        </p:spPr>
        <p:txBody>
          <a:bodyPr wrap="square" lIns="0" tIns="0" rIns="0" bIns="0" rtlCol="0" anchor="t"/>
          <a:lstStyle/>
          <a:p>
            <a:pPr marL="0" indent="0" algn="l">
              <a:buNone/>
            </a:pPr>
            <a:r>
              <a:rPr lang="id-ID" sz="1350" b="1" dirty="0">
                <a:solidFill>
                  <a:srgbClr val="4D5D78"/>
                </a:solidFill>
                <a:latin typeface="Calibri"/>
                <a:ea typeface="Calibri"/>
                <a:cs typeface="Calibri"/>
              </a:rPr>
              <a:t>DATA</a:t>
            </a:r>
          </a:p>
        </p:txBody>
      </p:sp>
      <p:sp>
        <p:nvSpPr>
          <p:cNvPr id="242" name="Isi lingkungan 3"/>
          <p:cNvSpPr txBox="1"/>
          <p:nvPr/>
        </p:nvSpPr>
        <p:spPr>
          <a:xfrm>
            <a:off x="8377240" y="5760000"/>
            <a:ext cx="2820000" cy="420000"/>
          </a:xfrm>
          <a:prstGeom prst="rect">
            <a:avLst/>
          </a:prstGeom>
          <a:noFill/>
          <a:ln>
            <a:noFill/>
          </a:ln>
        </p:spPr>
        <p:txBody>
          <a:bodyPr wrap="square" lIns="0" tIns="0" rIns="0" bIns="0" rtlCol="0" anchor="t"/>
          <a:lstStyle/>
          <a:p>
            <a:pPr marL="0" indent="0" algn="l">
              <a:buNone/>
            </a:pPr>
            <a:r>
              <a:rPr lang="id-ID" sz="1300" b="1" dirty="0">
                <a:solidFill>
                  <a:srgbClr val="12284C"/>
                </a:solidFill>
                <a:latin typeface="Calibri"/>
                <a:ea typeface="Calibri"/>
                <a:cs typeface="Calibri"/>
              </a:rPr>
              <a:t>Data awal sintetis dan direset tiap run</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Kriteria utama wajib terpenuhi: performa tidak menutupi pelanggaran</a:t>
            </a:r>
            <a:endParaRPr lang="en-US" sz="2800" dirty="0"/>
          </a:p>
        </p:txBody>
      </p:sp>
      <p:sp>
        <p:nvSpPr>
          <p:cNvPr id="201" name="Label kriteria"/>
          <p:cNvSpPr txBox="1"/>
          <p:nvPr/>
        </p:nvSpPr>
        <p:spPr>
          <a:xfrm>
            <a:off x="548640" y="1290000"/>
            <a:ext cx="11064240" cy="230000"/>
          </a:xfrm>
          <a:prstGeom prst="rect">
            <a:avLst/>
          </a:prstGeom>
          <a:noFill/>
          <a:ln>
            <a:noFill/>
          </a:ln>
        </p:spPr>
        <p:txBody>
          <a:bodyPr wrap="square" lIns="0" tIns="0" rIns="0" bIns="0" rtlCol="0" anchor="t"/>
          <a:lstStyle/>
          <a:p>
            <a:pPr marL="0" indent="0" algn="l">
              <a:buNone/>
            </a:pPr>
            <a:r>
              <a:rPr lang="id-ID" sz="1400" b="1" dirty="0">
                <a:solidFill>
                  <a:srgbClr val="4D5D78"/>
                </a:solidFill>
                <a:latin typeface="Calibri"/>
                <a:ea typeface="Calibri"/>
                <a:cs typeface="Calibri"/>
              </a:rPr>
              <a:t>KRITERIA PENERIMAAN UTAMA (TABEL 3.7), WAJIB DIPENUHI</a:t>
            </a:r>
          </a:p>
        </p:txBody>
      </p:sp>
      <p:sp>
        <p:nvSpPr>
          <p:cNvPr id="202" name="Kriteria 1"/>
          <p:cNvSpPr/>
          <p:nvPr/>
        </p:nvSpPr>
        <p:spPr>
          <a:xfrm>
            <a:off x="548640" y="1550000"/>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3" name="Nama kriteria 1"/>
          <p:cNvSpPr txBox="1"/>
          <p:nvPr/>
        </p:nvSpPr>
        <p:spPr>
          <a:xfrm>
            <a:off x="731520" y="1605992"/>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oversell</a:t>
            </a:r>
          </a:p>
        </p:txBody>
      </p:sp>
      <p:sp>
        <p:nvSpPr>
          <p:cNvPr id="204" name="Nilai kriteria 1"/>
          <p:cNvSpPr txBox="1"/>
          <p:nvPr/>
        </p:nvSpPr>
        <p:spPr>
          <a:xfrm>
            <a:off x="731520" y="1915992"/>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05" name="Keterangan kriteria 1"/>
          <p:cNvSpPr txBox="1"/>
          <p:nvPr/>
        </p:nvSpPr>
        <p:spPr>
          <a:xfrm>
            <a:off x="731520" y="2455992"/>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unit terjual melebihi stok</a:t>
            </a:r>
          </a:p>
        </p:txBody>
      </p:sp>
      <p:sp>
        <p:nvSpPr>
          <p:cNvPr id="206" name="Kriteria 2"/>
          <p:cNvSpPr/>
          <p:nvPr/>
        </p:nvSpPr>
        <p:spPr>
          <a:xfrm>
            <a:off x="3360420" y="1550000"/>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7" name="Nama kriteria 2"/>
          <p:cNvSpPr txBox="1"/>
          <p:nvPr/>
        </p:nvSpPr>
        <p:spPr>
          <a:xfrm>
            <a:off x="3543300" y="1605992"/>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lost update</a:t>
            </a:r>
          </a:p>
        </p:txBody>
      </p:sp>
      <p:sp>
        <p:nvSpPr>
          <p:cNvPr id="208" name="Nilai kriteria 2"/>
          <p:cNvSpPr txBox="1"/>
          <p:nvPr/>
        </p:nvSpPr>
        <p:spPr>
          <a:xfrm>
            <a:off x="3543300" y="1915992"/>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09" name="Keterangan kriteria 2"/>
          <p:cNvSpPr txBox="1"/>
          <p:nvPr/>
        </p:nvSpPr>
        <p:spPr>
          <a:xfrm>
            <a:off x="3543300" y="2455992"/>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dua pembaruan bersamaan, salah satunya tertindih</a:t>
            </a:r>
          </a:p>
        </p:txBody>
      </p:sp>
      <p:sp>
        <p:nvSpPr>
          <p:cNvPr id="210" name="Kriteria 3"/>
          <p:cNvSpPr/>
          <p:nvPr/>
        </p:nvSpPr>
        <p:spPr>
          <a:xfrm>
            <a:off x="6172200" y="1550000"/>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1" name="Nama kriteria 3"/>
          <p:cNvSpPr txBox="1"/>
          <p:nvPr/>
        </p:nvSpPr>
        <p:spPr>
          <a:xfrm>
            <a:off x="6355080" y="1605992"/>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duplicate effect</a:t>
            </a:r>
          </a:p>
        </p:txBody>
      </p:sp>
      <p:sp>
        <p:nvSpPr>
          <p:cNvPr id="212" name="Nilai kriteria 3"/>
          <p:cNvSpPr txBox="1"/>
          <p:nvPr/>
        </p:nvSpPr>
        <p:spPr>
          <a:xfrm>
            <a:off x="6355080" y="1915992"/>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13" name="Keterangan kriteria 3"/>
          <p:cNvSpPr txBox="1"/>
          <p:nvPr/>
        </p:nvSpPr>
        <p:spPr>
          <a:xfrm>
            <a:off x="6355080" y="2455992"/>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event diproses ulang, efek bisnis terjadi lebih dari sekali</a:t>
            </a:r>
          </a:p>
        </p:txBody>
      </p:sp>
      <p:sp>
        <p:nvSpPr>
          <p:cNvPr id="214" name="Kriteria 4"/>
          <p:cNvSpPr/>
          <p:nvPr/>
        </p:nvSpPr>
        <p:spPr>
          <a:xfrm>
            <a:off x="8983980" y="1550000"/>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5" name="Nama kriteria 4"/>
          <p:cNvSpPr txBox="1"/>
          <p:nvPr/>
        </p:nvSpPr>
        <p:spPr>
          <a:xfrm>
            <a:off x="9166860" y="1605992"/>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permanent mismatch</a:t>
            </a:r>
          </a:p>
        </p:txBody>
      </p:sp>
      <p:sp>
        <p:nvSpPr>
          <p:cNvPr id="216" name="Nilai kriteria 4"/>
          <p:cNvSpPr txBox="1"/>
          <p:nvPr/>
        </p:nvSpPr>
        <p:spPr>
          <a:xfrm>
            <a:off x="9166860" y="1915992"/>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17" name="Keterangan kriteria 4"/>
          <p:cNvSpPr txBox="1"/>
          <p:nvPr/>
        </p:nvSpPr>
        <p:spPr>
          <a:xfrm>
            <a:off x="9166860" y="2455992"/>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data antar layanan tetap tidak sinkron setelah pemulihan</a:t>
            </a:r>
          </a:p>
        </p:txBody>
      </p:sp>
      <p:sp>
        <p:nvSpPr>
          <p:cNvPr id="218" name="Kriteria 5"/>
          <p:cNvSpPr/>
          <p:nvPr/>
        </p:nvSpPr>
        <p:spPr>
          <a:xfrm>
            <a:off x="548640" y="3054096"/>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9" name="Nama kriteria 5"/>
          <p:cNvSpPr txBox="1"/>
          <p:nvPr/>
        </p:nvSpPr>
        <p:spPr>
          <a:xfrm>
            <a:off x="731520" y="3106264"/>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untraceable event</a:t>
            </a:r>
          </a:p>
        </p:txBody>
      </p:sp>
      <p:sp>
        <p:nvSpPr>
          <p:cNvPr id="220" name="Nilai kriteria 5"/>
          <p:cNvSpPr txBox="1"/>
          <p:nvPr/>
        </p:nvSpPr>
        <p:spPr>
          <a:xfrm>
            <a:off x="731520" y="3416264"/>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21" name="Keterangan kriteria 5"/>
          <p:cNvSpPr txBox="1"/>
          <p:nvPr/>
        </p:nvSpPr>
        <p:spPr>
          <a:xfrm>
            <a:off x="731520" y="3956263"/>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event tidak dapat dilacak pada log setelah pemulihan</a:t>
            </a:r>
          </a:p>
        </p:txBody>
      </p:sp>
      <p:sp>
        <p:nvSpPr>
          <p:cNvPr id="222" name="Kriteria 6"/>
          <p:cNvSpPr/>
          <p:nvPr/>
        </p:nvSpPr>
        <p:spPr>
          <a:xfrm>
            <a:off x="3360420" y="3054096"/>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23" name="Nama kriteria 6"/>
          <p:cNvSpPr txBox="1"/>
          <p:nvPr/>
        </p:nvSpPr>
        <p:spPr>
          <a:xfrm>
            <a:off x="3543300" y="3106264"/>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terminal-state coverage</a:t>
            </a:r>
          </a:p>
        </p:txBody>
      </p:sp>
      <p:sp>
        <p:nvSpPr>
          <p:cNvPr id="224" name="Nilai kriteria 6"/>
          <p:cNvSpPr txBox="1"/>
          <p:nvPr/>
        </p:nvSpPr>
        <p:spPr>
          <a:xfrm>
            <a:off x="3543300" y="3416264"/>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100%</a:t>
            </a:r>
          </a:p>
        </p:txBody>
      </p:sp>
      <p:sp>
        <p:nvSpPr>
          <p:cNvPr id="225" name="Keterangan kriteria 6"/>
          <p:cNvSpPr txBox="1"/>
          <p:nvPr/>
        </p:nvSpPr>
        <p:spPr>
          <a:xfrm>
            <a:off x="3543300" y="3956263"/>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transaksi mencapai status akhir sah</a:t>
            </a:r>
          </a:p>
        </p:txBody>
      </p:sp>
      <p:sp>
        <p:nvSpPr>
          <p:cNvPr id="226" name="Kriteria 7"/>
          <p:cNvSpPr/>
          <p:nvPr/>
        </p:nvSpPr>
        <p:spPr>
          <a:xfrm>
            <a:off x="6172200" y="3054096"/>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27" name="Nama kriteria 7"/>
          <p:cNvSpPr txBox="1"/>
          <p:nvPr/>
        </p:nvSpPr>
        <p:spPr>
          <a:xfrm>
            <a:off x="6355080" y="3106264"/>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compensation success</a:t>
            </a:r>
          </a:p>
        </p:txBody>
      </p:sp>
      <p:sp>
        <p:nvSpPr>
          <p:cNvPr id="228" name="Nilai kriteria 7"/>
          <p:cNvSpPr txBox="1"/>
          <p:nvPr/>
        </p:nvSpPr>
        <p:spPr>
          <a:xfrm>
            <a:off x="6355080" y="3416264"/>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100%</a:t>
            </a:r>
          </a:p>
        </p:txBody>
      </p:sp>
      <p:sp>
        <p:nvSpPr>
          <p:cNvPr id="229" name="Keterangan kriteria 7"/>
          <p:cNvSpPr txBox="1"/>
          <p:nvPr/>
        </p:nvSpPr>
        <p:spPr>
          <a:xfrm>
            <a:off x="6355080" y="3956263"/>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transaksi yang perlu kompensasi berhasil dipulihkan</a:t>
            </a:r>
          </a:p>
        </p:txBody>
      </p:sp>
      <p:sp>
        <p:nvSpPr>
          <p:cNvPr id="230" name="Kriteria 8"/>
          <p:cNvSpPr/>
          <p:nvPr/>
        </p:nvSpPr>
        <p:spPr>
          <a:xfrm>
            <a:off x="8983980" y="3054096"/>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31" name="Nama kriteria 8"/>
          <p:cNvSpPr txBox="1"/>
          <p:nvPr/>
        </p:nvSpPr>
        <p:spPr>
          <a:xfrm>
            <a:off x="9166860" y="3106264"/>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read-model lag</a:t>
            </a:r>
          </a:p>
        </p:txBody>
      </p:sp>
      <p:sp>
        <p:nvSpPr>
          <p:cNvPr id="232" name="Nilai kriteria 8"/>
          <p:cNvSpPr txBox="1"/>
          <p:nvPr/>
        </p:nvSpPr>
        <p:spPr>
          <a:xfrm>
            <a:off x="9166860" y="3416264"/>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60 dtk</a:t>
            </a:r>
          </a:p>
        </p:txBody>
      </p:sp>
      <p:sp>
        <p:nvSpPr>
          <p:cNvPr id="233" name="Keterangan kriteria 8"/>
          <p:cNvSpPr txBox="1"/>
          <p:nvPr/>
        </p:nvSpPr>
        <p:spPr>
          <a:xfrm>
            <a:off x="9166860" y="3956263"/>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jeda data hingga tampil di Pelaporan</a:t>
            </a:r>
          </a:p>
        </p:txBody>
      </p:sp>
      <p:sp>
        <p:nvSpPr>
          <p:cNvPr id="234" name="Kotak pendukung"/>
          <p:cNvSpPr/>
          <p:nvPr/>
        </p:nvSpPr>
        <p:spPr>
          <a:xfrm>
            <a:off x="548640" y="4800000"/>
            <a:ext cx="11064240" cy="1380000"/>
          </a:xfrm>
          <a:prstGeom prst="roundRect">
            <a:avLst>
              <a:gd name="adj" fmla="val 8000"/>
            </a:avLst>
          </a:prstGeom>
          <a:solidFill>
            <a:srgbClr val="12284C"/>
          </a:solidFill>
          <a:ln w="12700">
            <a:solidFill>
              <a:srgbClr val="12284C"/>
            </a:solidFill>
            <a:prstDash val="solid"/>
          </a:ln>
        </p:spPr>
        <p:txBody>
          <a:bodyPr wrap="square" lIns="0" tIns="0" rIns="0" bIns="0" rtlCol="0" anchor="ctr"/>
          <a:lstStyle/>
          <a:p>
            <a:endParaRPr lang="id-ID"/>
          </a:p>
        </p:txBody>
      </p:sp>
      <p:sp>
        <p:nvSpPr>
          <p:cNvPr id="235" name="Judul pendukung"/>
          <p:cNvSpPr txBox="1"/>
          <p:nvPr/>
        </p:nvSpPr>
        <p:spPr>
          <a:xfrm>
            <a:off x="822960" y="4910000"/>
            <a:ext cx="10515600" cy="230000"/>
          </a:xfrm>
          <a:prstGeom prst="rect">
            <a:avLst/>
          </a:prstGeom>
          <a:noFill/>
          <a:ln>
            <a:noFill/>
          </a:ln>
        </p:spPr>
        <p:txBody>
          <a:bodyPr wrap="square" lIns="0" tIns="0" rIns="0" bIns="0" rtlCol="0" anchor="t"/>
          <a:lstStyle/>
          <a:p>
            <a:pPr marL="0" indent="0" algn="l">
              <a:buNone/>
            </a:pPr>
            <a:r>
              <a:rPr lang="id-ID" sz="1400" b="1" dirty="0">
                <a:solidFill>
                  <a:srgbClr val="E9BC3A"/>
                </a:solidFill>
                <a:latin typeface="Calibri"/>
                <a:ea typeface="Calibri"/>
                <a:cs typeface="Calibri"/>
              </a:rPr>
              <a:t>DIMENSI PENDUKUNG, DILAPORKAN TERPISAH</a:t>
            </a:r>
          </a:p>
        </p:txBody>
      </p:sp>
      <p:sp>
        <p:nvSpPr>
          <p:cNvPr id="236" name="Performa"/>
          <p:cNvSpPr txBox="1"/>
          <p:nvPr/>
        </p:nvSpPr>
        <p:spPr>
          <a:xfrm>
            <a:off x="822960" y="5200000"/>
            <a:ext cx="4300000" cy="560000"/>
          </a:xfrm>
          <a:prstGeom prst="rect">
            <a:avLst/>
          </a:prstGeom>
          <a:noFill/>
          <a:ln>
            <a:noFill/>
          </a:ln>
        </p:spPr>
        <p:txBody>
          <a:bodyPr wrap="square" lIns="0" tIns="0" rIns="0" bIns="0" rtlCol="0" anchor="t"/>
          <a:lstStyle/>
          <a:p>
            <a:pPr marL="0" indent="0" algn="l">
              <a:buNone/>
            </a:pPr>
            <a:r>
              <a:rPr lang="id-ID" sz="1700" b="1" dirty="0">
                <a:solidFill>
                  <a:srgbClr val="FFFFFF"/>
                </a:solidFill>
                <a:latin typeface="Calibri"/>
                <a:ea typeface="Calibri"/>
                <a:cs typeface="Calibri"/>
              </a:rPr>
              <a:t>Performa</a:t>
            </a:r>
          </a:p>
          <a:p>
            <a:pPr marL="0" indent="0" algn="l">
              <a:spcBef>
                <a:spcPts val="200"/>
              </a:spcBef>
              <a:buNone/>
            </a:pPr>
            <a:r>
              <a:rPr lang="id-ID" sz="1500" b="0" dirty="0">
                <a:solidFill>
                  <a:srgbClr val="CADCFC"/>
                </a:solidFill>
                <a:latin typeface="Calibri"/>
                <a:ea typeface="Calibri"/>
                <a:cs typeface="Calibri"/>
              </a:rPr>
              <a:t>latency, throughput, technical error rate, CPU, RAM</a:t>
            </a:r>
          </a:p>
        </p:txBody>
      </p:sp>
      <p:sp>
        <p:nvSpPr>
          <p:cNvPr id="237" name="Pemisah pendukung"/>
          <p:cNvSpPr/>
          <p:nvPr/>
        </p:nvSpPr>
        <p:spPr>
          <a:xfrm>
            <a:off x="5272960" y="5220000"/>
            <a:ext cx="12700" cy="520000"/>
          </a:xfrm>
          <a:prstGeom prst="rect">
            <a:avLst/>
          </a:prstGeom>
          <a:solidFill>
            <a:srgbClr val="2A4373"/>
          </a:solidFill>
          <a:ln>
            <a:noFill/>
          </a:ln>
        </p:spPr>
        <p:txBody>
          <a:bodyPr wrap="square" lIns="0" tIns="0" rIns="0" bIns="0" rtlCol="0" anchor="ctr"/>
          <a:lstStyle/>
          <a:p>
            <a:endParaRPr lang="id-ID"/>
          </a:p>
        </p:txBody>
      </p:sp>
      <p:sp>
        <p:nvSpPr>
          <p:cNvPr id="238" name="Kompleksitas"/>
          <p:cNvSpPr txBox="1"/>
          <p:nvPr/>
        </p:nvSpPr>
        <p:spPr>
          <a:xfrm>
            <a:off x="5422960" y="5200000"/>
            <a:ext cx="5915600" cy="560000"/>
          </a:xfrm>
          <a:prstGeom prst="rect">
            <a:avLst/>
          </a:prstGeom>
          <a:noFill/>
          <a:ln>
            <a:noFill/>
          </a:ln>
        </p:spPr>
        <p:txBody>
          <a:bodyPr wrap="square" lIns="0" tIns="0" rIns="0" bIns="0" rtlCol="0" anchor="t"/>
          <a:lstStyle/>
          <a:p>
            <a:pPr marL="0" indent="0" algn="l">
              <a:buNone/>
            </a:pPr>
            <a:r>
              <a:rPr lang="id-ID" sz="1700" b="1" dirty="0">
                <a:solidFill>
                  <a:srgbClr val="FFFFFF"/>
                </a:solidFill>
                <a:latin typeface="Calibri"/>
                <a:ea typeface="Calibri"/>
                <a:cs typeface="Calibri"/>
              </a:rPr>
              <a:t>Kompleksitas operasional</a:t>
            </a:r>
          </a:p>
          <a:p>
            <a:pPr marL="0" indent="0" algn="l">
              <a:spcBef>
                <a:spcPts val="200"/>
              </a:spcBef>
              <a:buNone/>
            </a:pPr>
            <a:r>
              <a:rPr lang="id-ID" sz="1500" b="0" dirty="0">
                <a:solidFill>
                  <a:srgbClr val="CADCFC"/>
                </a:solidFill>
                <a:latin typeface="Calibri"/>
                <a:ea typeface="Calibri"/>
                <a:cs typeface="Calibri"/>
              </a:rPr>
              <a:t>komponen aktif, langkah dan waktu pemulihan manual, intervensi manual</a:t>
            </a:r>
          </a:p>
        </p:txBody>
      </p:sp>
      <p:sp>
        <p:nvSpPr>
          <p:cNvPr id="239" name="Catatan non-kompensatori"/>
          <p:cNvSpPr txBox="1"/>
          <p:nvPr/>
        </p:nvSpPr>
        <p:spPr>
          <a:xfrm>
            <a:off x="822960" y="5800000"/>
            <a:ext cx="10515600" cy="300000"/>
          </a:xfrm>
          <a:prstGeom prst="rect">
            <a:avLst/>
          </a:prstGeom>
          <a:noFill/>
          <a:ln>
            <a:noFill/>
          </a:ln>
        </p:spPr>
        <p:txBody>
          <a:bodyPr wrap="square" lIns="0" tIns="0" rIns="0" bIns="0" rtlCol="0" anchor="t"/>
          <a:lstStyle/>
          <a:p>
            <a:pPr marL="0" indent="0" algn="l">
              <a:buNone/>
            </a:pPr>
            <a:r>
              <a:rPr lang="id-ID" sz="1600" b="1" dirty="0">
                <a:solidFill>
                  <a:srgbClr val="FFFFFF"/>
                </a:solidFill>
                <a:latin typeface="Calibri"/>
                <a:ea typeface="Calibri"/>
                <a:cs typeface="Calibri"/>
              </a:rPr>
              <a:t>Performa dan kompleksitas operasional dilaporkan terpisah dan tidak menggantikan kriteria utama.</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11</a:t>
            </a:fld>
            <a:endParaRPr lang="en-US"/>
          </a:p>
        </p:txBody>
      </p:sp>
      <p:sp>
        <p:nvSpPr>
          <p:cNvPr id="301" name="Catatan tabel 3.7"/>
          <p:cNvSpPr txBox="1"/>
          <p:nvPr/>
        </p:nvSpPr>
        <p:spPr>
          <a:xfrm>
            <a:off x="548640" y="4507992"/>
            <a:ext cx="11064240" cy="256032"/>
          </a:xfrm>
          <a:prstGeom prst="rect">
            <a:avLst/>
          </a:prstGeom>
          <a:noFill/>
          <a:ln>
            <a:noFill/>
          </a:ln>
        </p:spPr>
        <p:txBody>
          <a:bodyPr wrap="square" lIns="0" tIns="0" rIns="0" bIns="0" rtlCol="0" anchor="t"/>
          <a:lstStyle/>
          <a:p>
            <a:pPr marL="0" indent="0" algn="l">
              <a:buNone/>
            </a:pPr>
            <a:r>
              <a:rPr lang="id-ID" sz="1300" b="1" dirty="0">
                <a:solidFill>
                  <a:srgbClr val="4D5D78"/>
                </a:solidFill>
                <a:latin typeface="Calibri"/>
                <a:ea typeface="Calibri"/>
                <a:cs typeface="Calibri"/>
              </a:rPr>
              <a:t>Validasi tambahan: </a:t>
            </a:r>
            <a:r>
              <a:rPr lang="id-ID" sz="1300" b="0" dirty="0">
                <a:solidFill>
                  <a:srgbClr val="4D5D78"/>
                </a:solidFill>
                <a:latin typeface="Calibri"/>
                <a:ea typeface="Calibri"/>
                <a:cs typeface="Calibri"/>
              </a:rPr>
              <a:t>saldo akhir sesuai aturan stok dan empat skenario selesai tanpa kendala fungsional.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Enam fault utama; F4 dibagi menjadi F4a dan F4b</a:t>
            </a:r>
            <a:endParaRPr lang="en-US" sz="2800" dirty="0"/>
          </a:p>
          <a:p>
            <a:pPr marL="0" indent="0" algn="l">
              <a:spcBef>
                <a:spcPts val="400"/>
              </a:spcBef>
              <a:buNone/>
            </a:pPr>
            <a:r>
              <a:rPr lang="id-ID" sz="1600" b="0" dirty="0">
                <a:solidFill>
                  <a:srgbClr val="4D5D78"/>
                </a:solidFill>
                <a:latin typeface="Calibri" pitchFamily="34" charset="0"/>
                <a:ea typeface="Calibri" pitchFamily="34" charset="-122"/>
                <a:cs typeface="Calibri" pitchFamily="34" charset="-120"/>
              </a:rPr>
              <a:t>F1–F4a hanya pada EDA  |  F4b, F5, F6 pada tiga kondisi</a:t>
            </a:r>
          </a:p>
        </p:txBody>
      </p:sp>
      <p:graphicFrame>
        <p:nvGraphicFramePr>
          <p:cNvPr id="13" name="faultTable"/>
          <p:cNvGraphicFramePr>
            <a:graphicFrameLocks noGrp="1"/>
          </p:cNvGraphicFramePr>
          <p:nvPr>
            <p:extLst>
              <p:ext uri="{D42A27DB-BD31-4B8C-83A1-F6EECF244321}">
                <p14:modId xmlns:p14="http://schemas.microsoft.com/office/powerpoint/2010/main" val="1579011935"/>
              </p:ext>
            </p:extLst>
          </p:nvPr>
        </p:nvGraphicFramePr>
        <p:xfrm>
          <a:off x="548640" y="2020823"/>
          <a:ext cx="11064240" cy="914400"/>
        </p:xfrm>
        <a:graphic>
          <a:graphicData uri="http://schemas.openxmlformats.org/drawingml/2006/table">
            <a:tbl>
              <a:tblPr/>
              <a:tblGrid>
                <a:gridCol w="7315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3520440">
                  <a:extLst>
                    <a:ext uri="{9D8B030D-6E8A-4147-A177-3AD203B41FA5}">
                      <a16:colId xmlns:a16="http://schemas.microsoft.com/office/drawing/2014/main" val="20004"/>
                    </a:ext>
                  </a:extLst>
                </a:gridCol>
              </a:tblGrid>
              <a:tr h="384048">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Kode</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Gangguan</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Skenario</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Berlaku</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Metrik utama</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extLst>
                  <a:ext uri="{0D108BD9-81ED-4DB2-BD59-A6C34878D82A}">
                    <a16:rowId xmlns:a16="http://schemas.microsoft.com/office/drawing/2014/main" val="10000"/>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r>
                        <a:t>Setelah transaksi bisnis commit secara lokal, producer dihentikan sebelum event diterbitkan ke message broker. Pada EDA dengan Proteksi, event sudah tersimpan di Outbox.</a:t>
                      </a: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Mutasi Stok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DCE6F5"/>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untraceable event, recovery time</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F2</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Event terkirim ganda (event_id sama)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Mutasi Stok, Pembayaran Digital</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DCE6F5"/>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duplicate effect</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F3</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Consumer berhenti setelah efek bisnis tersimpan, sebelum ACK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Mutasi Stok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DCE6F5"/>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permanent mismatch, duplicate effect, recovery time</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F4a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Pengiriman event ditunda 10 detik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Mutasi Stok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FFFFFF"/>
                    </a:solidFill>
                  </a:tcPr>
                </a:tc>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DCE6F5"/>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read-model lag, recovery time, permanent mismatch</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F4b</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Konfirmasi bayar melewati 30 detik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Pembayaran Digital, QRIS Statis</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8B6300"/>
                          </a:solidFill>
                          <a:latin typeface="Calibri" pitchFamily="34" charset="0"/>
                          <a:ea typeface="Calibri" pitchFamily="34" charset="-122"/>
                          <a:cs typeface="Calibri" pitchFamily="34" charset="-120"/>
                        </a:rPr>
                        <a:t>3 kondisi</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AF3D7"/>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terminal-state coverage, permanent mismatch</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F5</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20 pembaruan stok serentak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Penjualan Bersamaan, Mutasi Stok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8B6300"/>
                          </a:solidFill>
                          <a:latin typeface="Calibri" pitchFamily="34" charset="0"/>
                          <a:ea typeface="Calibri" pitchFamily="34" charset="-122"/>
                          <a:cs typeface="Calibri" pitchFamily="34" charset="-120"/>
                        </a:rPr>
                        <a:t>3 kondisi</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AF3D7"/>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oversell, lost update, saldo akhir</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F6</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Bayar gagal setelah stok direservasi</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Pembayaran Digital</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8B6300"/>
                          </a:solidFill>
                          <a:latin typeface="Calibri" pitchFamily="34" charset="0"/>
                          <a:ea typeface="Calibri" pitchFamily="34" charset="-122"/>
                          <a:cs typeface="Calibri" pitchFamily="34" charset="-120"/>
                        </a:rPr>
                        <a:t>3 kondisi</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AF3D7"/>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compensation success, terminal-state coverage</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1"/>
          <p:cNvSpPr txBox="1"/>
          <p:nvPr/>
        </p:nvSpPr>
        <p:spPr>
          <a:xfrm>
            <a:off x="548640" y="1371600"/>
            <a:ext cx="2194560" cy="365760"/>
          </a:xfrm>
          <a:prstGeom prst="rect">
            <a:avLst/>
          </a:prstGeom>
          <a:noFill/>
          <a:ln/>
        </p:spPr>
        <p:txBody>
          <a:bodyPr wrap="square" lIns="0" tIns="0" rIns="0" bIns="0" rtlCol="0" anchor="ctr"/>
          <a:lstStyle/>
          <a:p>
            <a:pPr marL="0" indent="0">
              <a:buNone/>
            </a:pPr>
            <a:r>
              <a:rPr lang="en-US" sz="1500" b="1" kern="0" spc="120" dirty="0">
                <a:solidFill>
                  <a:srgbClr val="4D5D78"/>
                </a:solidFill>
                <a:latin typeface="Calibri" pitchFamily="34" charset="0"/>
                <a:ea typeface="Calibri" pitchFamily="34" charset="-122"/>
                <a:cs typeface="Calibri" pitchFamily="34" charset="-120"/>
              </a:rPr>
              <a:t>EMPAT SKENARIO</a:t>
            </a:r>
            <a:endParaRPr lang="en-US" sz="1400" dirty="0"/>
          </a:p>
        </p:txBody>
      </p:sp>
      <p:sp>
        <p:nvSpPr>
          <p:cNvPr id="6" name="Shape 2"/>
          <p:cNvSpPr/>
          <p:nvPr/>
        </p:nvSpPr>
        <p:spPr>
          <a:xfrm>
            <a:off x="2468880" y="1307592"/>
            <a:ext cx="2148840" cy="621792"/>
          </a:xfrm>
          <a:prstGeom prst="roundRect">
            <a:avLst>
              <a:gd name="adj" fmla="val 50000"/>
            </a:avLst>
          </a:prstGeom>
          <a:solidFill>
            <a:srgbClr val="EEF2F8"/>
          </a:solidFill>
          <a:ln w="12700">
            <a:solidFill>
              <a:srgbClr val="D5DEEC"/>
            </a:solidFill>
            <a:prstDash val="solid"/>
          </a:ln>
        </p:spPr>
        <p:txBody>
          <a:bodyPr/>
          <a:lstStyle/>
          <a:p>
            <a:endParaRPr/>
          </a:p>
        </p:txBody>
      </p:sp>
      <p:sp>
        <p:nvSpPr>
          <p:cNvPr id="7" name="Text 3"/>
          <p:cNvSpPr txBox="1"/>
          <p:nvPr/>
        </p:nvSpPr>
        <p:spPr>
          <a:xfrm>
            <a:off x="2468880" y="1307592"/>
            <a:ext cx="2148840" cy="621792"/>
          </a:xfrm>
          <a:prstGeom prst="rect">
            <a:avLst/>
          </a:prstGeom>
          <a:noFill/>
          <a:ln/>
        </p:spPr>
        <p:txBody>
          <a:bodyPr wrap="square" lIns="109728" tIns="0" rIns="109728" bIns="0" rtlCol="0" anchor="ctr"/>
          <a:lstStyle/>
          <a:p>
            <a:pPr marL="0" indent="0" algn="ctr">
              <a:buNone/>
            </a:pPr>
            <a:r>
              <a:rPr lang="en-US" sz="1400" b="1" dirty="0">
                <a:solidFill>
                  <a:srgbClr val="12284C"/>
                </a:solidFill>
                <a:latin typeface="Calibri" pitchFamily="34" charset="0"/>
                <a:ea typeface="Calibri" pitchFamily="34" charset="-122"/>
                <a:cs typeface="Calibri" pitchFamily="34" charset="-120"/>
              </a:rPr>
              <a:t>Penjualan Bersamaan</a:t>
            </a:r>
            <a:endParaRPr lang="en-US" sz="1500" dirty="0"/>
          </a:p>
          <a:p>
            <a:pPr marL="0" indent="0" algn="ctr">
              <a:buNone/>
            </a:pPr>
            <a:r>
              <a:rPr lang="id-ID" sz="1050" b="0" i="1" dirty="0">
                <a:solidFill>
                  <a:srgbClr val="3F4F6B"/>
                </a:solidFill>
                <a:latin typeface="Calibri" pitchFamily="34" charset="0"/>
                <a:ea typeface="Calibri" pitchFamily="34" charset="-122"/>
                <a:cs typeface="Calibri" pitchFamily="34" charset="-120"/>
              </a:rPr>
              <a:t>Banyak transaksi pada produk yang sama secara bersamaan</a:t>
            </a:r>
          </a:p>
        </p:txBody>
      </p:sp>
      <p:sp>
        <p:nvSpPr>
          <p:cNvPr id="8" name="Shape 4"/>
          <p:cNvSpPr/>
          <p:nvPr/>
        </p:nvSpPr>
        <p:spPr>
          <a:xfrm>
            <a:off x="4754880" y="1307592"/>
            <a:ext cx="2148840" cy="621792"/>
          </a:xfrm>
          <a:prstGeom prst="roundRect">
            <a:avLst>
              <a:gd name="adj" fmla="val 50000"/>
            </a:avLst>
          </a:prstGeom>
          <a:solidFill>
            <a:srgbClr val="EEF2F8"/>
          </a:solidFill>
          <a:ln w="12700">
            <a:solidFill>
              <a:srgbClr val="D5DEEC"/>
            </a:solidFill>
            <a:prstDash val="solid"/>
          </a:ln>
        </p:spPr>
        <p:txBody>
          <a:bodyPr/>
          <a:lstStyle/>
          <a:p>
            <a:endParaRPr/>
          </a:p>
        </p:txBody>
      </p:sp>
      <p:sp>
        <p:nvSpPr>
          <p:cNvPr id="9" name="Text 5"/>
          <p:cNvSpPr txBox="1"/>
          <p:nvPr/>
        </p:nvSpPr>
        <p:spPr>
          <a:xfrm>
            <a:off x="4754880" y="1307592"/>
            <a:ext cx="2148840" cy="621792"/>
          </a:xfrm>
          <a:prstGeom prst="rect">
            <a:avLst/>
          </a:prstGeom>
          <a:noFill/>
          <a:ln/>
        </p:spPr>
        <p:txBody>
          <a:bodyPr wrap="square" lIns="109728" tIns="0" rIns="109728" bIns="0" rtlCol="0" anchor="ctr"/>
          <a:lstStyle/>
          <a:p>
            <a:pPr marL="0" indent="0" algn="ctr">
              <a:buNone/>
            </a:pPr>
            <a:r>
              <a:rPr lang="en-US" sz="1400" b="1" dirty="0">
                <a:solidFill>
                  <a:srgbClr val="12284C"/>
                </a:solidFill>
                <a:latin typeface="Calibri" pitchFamily="34" charset="0"/>
                <a:ea typeface="Calibri" pitchFamily="34" charset="-122"/>
                <a:cs typeface="Calibri" pitchFamily="34" charset="-120"/>
              </a:rPr>
              <a:t>Mutasi Stok</a:t>
            </a:r>
            <a:endParaRPr lang="en-US" sz="1500" dirty="0"/>
          </a:p>
          <a:p>
            <a:pPr marL="0" indent="0" algn="ctr">
              <a:buNone/>
            </a:pPr>
            <a:r>
              <a:rPr lang="id-ID" sz="1050" b="0" i="1" dirty="0">
                <a:solidFill>
                  <a:srgbClr val="3F4F6B"/>
                </a:solidFill>
                <a:latin typeface="Calibri" pitchFamily="34" charset="0"/>
                <a:ea typeface="Calibri" pitchFamily="34" charset="-122"/>
                <a:cs typeface="Calibri" pitchFamily="34" charset="-120"/>
              </a:rPr>
              <a:t>Penerimaan dan alokasi stok bersamaan dengan penjualan</a:t>
            </a:r>
          </a:p>
        </p:txBody>
      </p:sp>
      <p:sp>
        <p:nvSpPr>
          <p:cNvPr id="10" name="Shape 6"/>
          <p:cNvSpPr/>
          <p:nvPr/>
        </p:nvSpPr>
        <p:spPr>
          <a:xfrm>
            <a:off x="7040880" y="1307592"/>
            <a:ext cx="2148840" cy="621792"/>
          </a:xfrm>
          <a:prstGeom prst="roundRect">
            <a:avLst>
              <a:gd name="adj" fmla="val 50000"/>
            </a:avLst>
          </a:prstGeom>
          <a:solidFill>
            <a:srgbClr val="EEF2F8"/>
          </a:solidFill>
          <a:ln w="12700">
            <a:solidFill>
              <a:srgbClr val="D5DEEC"/>
            </a:solidFill>
            <a:prstDash val="solid"/>
          </a:ln>
        </p:spPr>
        <p:txBody>
          <a:bodyPr/>
          <a:lstStyle/>
          <a:p>
            <a:endParaRPr/>
          </a:p>
        </p:txBody>
      </p:sp>
      <p:sp>
        <p:nvSpPr>
          <p:cNvPr id="11" name="Text 7"/>
          <p:cNvSpPr txBox="1"/>
          <p:nvPr/>
        </p:nvSpPr>
        <p:spPr>
          <a:xfrm>
            <a:off x="7040880" y="1307592"/>
            <a:ext cx="2148840" cy="621792"/>
          </a:xfrm>
          <a:prstGeom prst="rect">
            <a:avLst/>
          </a:prstGeom>
          <a:noFill/>
          <a:ln/>
        </p:spPr>
        <p:txBody>
          <a:bodyPr wrap="square" lIns="109728" tIns="0" rIns="109728" bIns="0" rtlCol="0" anchor="ctr"/>
          <a:lstStyle/>
          <a:p>
            <a:pPr marL="0" indent="0" algn="ctr">
              <a:buNone/>
            </a:pPr>
            <a:r>
              <a:rPr lang="en-US" sz="1400" b="1" dirty="0">
                <a:solidFill>
                  <a:srgbClr val="12284C"/>
                </a:solidFill>
                <a:latin typeface="Calibri" pitchFamily="34" charset="0"/>
                <a:ea typeface="Calibri" pitchFamily="34" charset="-122"/>
                <a:cs typeface="Calibri" pitchFamily="34" charset="-120"/>
              </a:rPr>
              <a:t>Pembayaran Digital</a:t>
            </a:r>
            <a:endParaRPr lang="en-US" sz="1500" dirty="0"/>
          </a:p>
          <a:p>
            <a:pPr marL="0" indent="0" algn="ctr">
              <a:buNone/>
            </a:pPr>
            <a:r>
              <a:rPr lang="id-ID" sz="1050" b="0" i="1" dirty="0">
                <a:solidFill>
                  <a:srgbClr val="3F4F6B"/>
                </a:solidFill>
                <a:latin typeface="Calibri" pitchFamily="34" charset="0"/>
                <a:ea typeface="Calibri" pitchFamily="34" charset="-122"/>
                <a:cs typeface="Calibri" pitchFamily="34" charset="-120"/>
              </a:rPr>
              <a:t>Konfirmasi pembayaran melalui webhook pihak ketiga</a:t>
            </a:r>
          </a:p>
        </p:txBody>
      </p:sp>
      <p:sp>
        <p:nvSpPr>
          <p:cNvPr id="12" name="Shape 8"/>
          <p:cNvSpPr/>
          <p:nvPr/>
        </p:nvSpPr>
        <p:spPr>
          <a:xfrm>
            <a:off x="9326880" y="1307592"/>
            <a:ext cx="2148840" cy="621792"/>
          </a:xfrm>
          <a:prstGeom prst="roundRect">
            <a:avLst>
              <a:gd name="adj" fmla="val 50000"/>
            </a:avLst>
          </a:prstGeom>
          <a:solidFill>
            <a:srgbClr val="EEF2F8"/>
          </a:solidFill>
          <a:ln w="12700">
            <a:solidFill>
              <a:srgbClr val="D5DEEC"/>
            </a:solidFill>
            <a:prstDash val="solid"/>
          </a:ln>
        </p:spPr>
        <p:txBody>
          <a:bodyPr/>
          <a:lstStyle/>
          <a:p>
            <a:endParaRPr/>
          </a:p>
        </p:txBody>
      </p:sp>
      <p:sp>
        <p:nvSpPr>
          <p:cNvPr id="3" name="Text 9"/>
          <p:cNvSpPr txBox="1"/>
          <p:nvPr/>
        </p:nvSpPr>
        <p:spPr>
          <a:xfrm>
            <a:off x="9326880" y="1307592"/>
            <a:ext cx="2148840" cy="621792"/>
          </a:xfrm>
          <a:prstGeom prst="rect">
            <a:avLst/>
          </a:prstGeom>
          <a:noFill/>
          <a:ln/>
        </p:spPr>
        <p:txBody>
          <a:bodyPr wrap="square" lIns="109728" tIns="0" rIns="109728" bIns="0" rtlCol="0" anchor="ctr"/>
          <a:lstStyle/>
          <a:p>
            <a:pPr marL="0" indent="0" algn="ctr">
              <a:buNone/>
            </a:pPr>
            <a:r>
              <a:rPr lang="en-US" sz="1400" b="1" dirty="0">
                <a:solidFill>
                  <a:srgbClr val="12284C"/>
                </a:solidFill>
                <a:latin typeface="Calibri" pitchFamily="34" charset="0"/>
                <a:ea typeface="Calibri" pitchFamily="34" charset="-122"/>
                <a:cs typeface="Calibri" pitchFamily="34" charset="-120"/>
              </a:rPr>
              <a:t>QRIS Statis</a:t>
            </a:r>
            <a:endParaRPr lang="en-US" sz="1500" dirty="0"/>
          </a:p>
          <a:p>
            <a:pPr marL="0" indent="0" algn="ctr">
              <a:buNone/>
            </a:pPr>
            <a:r>
              <a:rPr lang="id-ID" sz="1050" b="0" i="1" dirty="0">
                <a:solidFill>
                  <a:srgbClr val="3F4F6B"/>
                </a:solidFill>
                <a:latin typeface="Calibri" pitchFamily="34" charset="0"/>
                <a:ea typeface="Calibri" pitchFamily="34" charset="-122"/>
                <a:cs typeface="Calibri" pitchFamily="34" charset="-120"/>
              </a:rPr>
              <a:t>Konfirmasi pembayaran secara manual</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12</a:t>
            </a:fld>
            <a:endParaRPr lang="en-US"/>
          </a:p>
        </p:txBody>
      </p:sp>
      <p:sp>
        <p:nvSpPr>
          <p:cNvPr id="26" name="Catatan perbandingan"/>
          <p:cNvSpPr/>
          <p:nvPr/>
        </p:nvSpPr>
        <p:spPr>
          <a:xfrm>
            <a:off x="548640" y="5907024"/>
            <a:ext cx="11064240" cy="548640"/>
          </a:xfrm>
          <a:prstGeom prst="roundRect">
            <a:avLst>
              <a:gd name="adj" fmla="val 14000"/>
            </a:avLst>
          </a:prstGeom>
          <a:solidFill>
            <a:srgbClr val="FFFFFF"/>
          </a:solidFill>
          <a:ln w="15875">
            <a:solidFill>
              <a:srgbClr val="D5DEEC"/>
            </a:solidFill>
          </a:ln>
          <a:effectLst/>
        </p:spPr>
        <p:style>
          <a:lnRef idx="1">
            <a:schemeClr val="accent1"/>
          </a:lnRef>
          <a:fillRef idx="3">
            <a:schemeClr val="accent1"/>
          </a:fillRef>
          <a:effectRef idx="2">
            <a:schemeClr val="accent1"/>
          </a:effectRef>
          <a:fontRef idx="minor">
            <a:schemeClr val="lt1"/>
          </a:fontRef>
        </p:style>
        <p:txBody>
          <a:bodyPr wrap="square" lIns="228600" tIns="36576" rIns="228600" bIns="36576" rtlCol="0" anchor="ctr"/>
          <a:lstStyle/>
          <a:p>
            <a:pPr algn="l"/>
            <a:r>
              <a:rPr sz="1500" b="1">
                <a:solidFill>
                  <a:srgbClr val="12284C"/>
                </a:solidFill>
                <a:latin typeface="Calibri"/>
              </a:rPr>
              <a:t>Dua kondisi EDA: tanpa dan dengan Proteksi. </a:t>
            </a:r>
            <a:r>
              <a:rPr sz="1500" b="0">
                <a:solidFill>
                  <a:srgbClr val="2A4373"/>
                </a:solidFill>
                <a:latin typeface="Calibri"/>
              </a:rPr>
              <a:t>Ketiga kondisi diuji pada F4b, F5, F6, dan tanpa gangguan; F1–F4a hanya pada dua kondisi EDA. Dibandingkan secara deskriptif per skenario dan request rate yang sama.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3.330 run: 37 sel perlakuan × 3 tingkat beban × 30 replikasi</a:t>
            </a:r>
            <a:endParaRPr lang="en-US" sz="2800" dirty="0"/>
          </a:p>
        </p:txBody>
      </p:sp>
      <p:sp>
        <p:nvSpPr>
          <p:cNvPr id="11" name="Label asal kombinasi"/>
          <p:cNvSpPr txBox="1"/>
          <p:nvPr/>
        </p:nvSpPr>
        <p:spPr>
          <a:xfrm>
            <a:off x="548640" y="1371600"/>
            <a:ext cx="3840480" cy="256032"/>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500" b="1" kern="0" spc="300" dirty="0">
                <a:solidFill>
                  <a:srgbClr val="4D5D78"/>
                </a:solidFill>
                <a:latin typeface="Calibri" pitchFamily="34" charset="0"/>
                <a:ea typeface="Calibri" pitchFamily="34" charset="-122"/>
                <a:cs typeface="Calibri" pitchFamily="34" charset="-120"/>
              </a:rPr>
              <a:t>ASAL 37 SEL PERLAKUAN</a:t>
            </a:r>
          </a:p>
        </p:txBody>
      </p:sp>
      <p:sp>
        <p:nvSpPr>
          <p:cNvPr id="12" name="Definisi kombinasi"/>
          <p:cNvSpPr txBox="1"/>
          <p:nvPr/>
        </p:nvSpPr>
        <p:spPr>
          <a:xfrm>
            <a:off x="4206240" y="1371600"/>
            <a:ext cx="7406640" cy="256032"/>
          </a:xfrm>
          <a:prstGeom prst="rect">
            <a:avLst/>
          </a:prstGeom>
          <a:noFill/>
          <a:ln>
            <a:noFill/>
          </a:ln>
        </p:spPr>
        <p:txBody>
          <a:bodyPr wrap="square" lIns="0" tIns="0" rIns="0" bIns="0" rtlCol="0" anchor="t">
            <a:noAutofit/>
          </a:bodyPr>
          <a:lstStyle/>
          <a:p>
            <a:pPr marL="0" indent="0" algn="r">
              <a:spcBef>
                <a:spcPts val="0"/>
              </a:spcBef>
              <a:spcAft>
                <a:spcPts val="0"/>
              </a:spcAft>
              <a:buNone/>
            </a:pPr>
            <a:r>
              <a:rPr lang="id-ID" sz="1500" i="1" dirty="0">
                <a:solidFill>
                  <a:srgbClr val="4D5D78"/>
                </a:solidFill>
                <a:latin typeface="Calibri" pitchFamily="34" charset="0"/>
                <a:ea typeface="Calibri" pitchFamily="34" charset="-122"/>
                <a:cs typeface="Calibri" pitchFamily="34" charset="-120"/>
              </a:rPr>
              <a:t>1 sel perlakuan = 1 kombinasi skenario, gangguan, dan kondisi</a:t>
            </a:r>
            <a:r>
              <a:rPr lang="id-ID" sz="1200" i="1" dirty="0">
                <a:solidFill>
                  <a:srgbClr val="4D5D78"/>
                </a:solidFill>
                <a:latin typeface="Calibri" pitchFamily="34" charset="0"/>
                <a:ea typeface="Calibri" pitchFamily="34" charset="-122"/>
                <a:cs typeface="Calibri" pitchFamily="34" charset="-120"/>
              </a:rPr>
              <a:t> (baseline: tanpa gangguan)</a:t>
            </a:r>
          </a:p>
        </p:txBody>
      </p:sp>
      <p:sp>
        <p:nvSpPr>
          <p:cNvPr id="13" name="Kartu 15"/>
          <p:cNvSpPr/>
          <p:nvPr/>
        </p:nvSpPr>
        <p:spPr>
          <a:xfrm>
            <a:off x="548640" y="1645920"/>
            <a:ext cx="292608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15</a:t>
            </a:r>
          </a:p>
          <a:p>
            <a:pPr marL="0" indent="0" algn="ctr">
              <a:spcBef>
                <a:spcPts val="0"/>
              </a:spcBef>
              <a:spcAft>
                <a:spcPts val="0"/>
              </a:spcAft>
              <a:buNone/>
            </a:pPr>
            <a:r>
              <a:rPr lang="id-ID" sz="1500" b="1" dirty="0">
                <a:solidFill>
                  <a:srgbClr val="12284C"/>
                </a:solidFill>
                <a:latin typeface="Calibri" pitchFamily="34" charset="0"/>
                <a:ea typeface="Calibri" pitchFamily="34" charset="-122"/>
                <a:cs typeface="Calibri" pitchFamily="34" charset="-120"/>
              </a:rPr>
              <a:t>Gangguan pada 3 kondisi</a:t>
            </a:r>
          </a:p>
          <a:p>
            <a:pPr marL="0" indent="0" algn="ctr">
              <a:spcBef>
                <a:spcPts val="0"/>
              </a:spcBef>
              <a:spcAft>
                <a:spcPts val="0"/>
              </a:spcAft>
              <a:buNone/>
            </a:pPr>
            <a:r>
              <a:rPr lang="id-ID" sz="1200" dirty="0">
                <a:solidFill>
                  <a:srgbClr val="4D5D78"/>
                </a:solidFill>
                <a:latin typeface="Calibri" pitchFamily="34" charset="0"/>
                <a:ea typeface="Calibri" pitchFamily="34" charset="-122"/>
                <a:cs typeface="Calibri" pitchFamily="34" charset="-120"/>
              </a:rPr>
              <a:t>5 pasangan × 3 kondisi</a:t>
            </a:r>
          </a:p>
        </p:txBody>
      </p:sp>
      <p:sp>
        <p:nvSpPr>
          <p:cNvPr id="14" name="Operator plus 1"/>
          <p:cNvSpPr txBox="1"/>
          <p:nvPr/>
        </p:nvSpPr>
        <p:spPr>
          <a:xfrm>
            <a:off x="3474720" y="164592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15" name="Kartu 10"/>
          <p:cNvSpPr/>
          <p:nvPr/>
        </p:nvSpPr>
        <p:spPr>
          <a:xfrm>
            <a:off x="3840480" y="1645920"/>
            <a:ext cx="292608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10</a:t>
            </a:r>
          </a:p>
          <a:p>
            <a:pPr marL="0" indent="0" algn="ctr">
              <a:spcBef>
                <a:spcPts val="0"/>
              </a:spcBef>
              <a:spcAft>
                <a:spcPts val="0"/>
              </a:spcAft>
              <a:buNone/>
            </a:pPr>
            <a:r>
              <a:rPr lang="id-ID" sz="1500" b="1" dirty="0">
                <a:solidFill>
                  <a:srgbClr val="12284C"/>
                </a:solidFill>
                <a:latin typeface="Calibri" pitchFamily="34" charset="0"/>
                <a:ea typeface="Calibri" pitchFamily="34" charset="-122"/>
                <a:cs typeface="Calibri" pitchFamily="34" charset="-120"/>
              </a:rPr>
              <a:t>Gangguan pada 2 kondisi EDA</a:t>
            </a:r>
          </a:p>
          <a:p>
            <a:pPr marL="0" indent="0" algn="ctr">
              <a:spcBef>
                <a:spcPts val="0"/>
              </a:spcBef>
              <a:spcAft>
                <a:spcPts val="0"/>
              </a:spcAft>
              <a:buNone/>
            </a:pPr>
            <a:r>
              <a:rPr lang="id-ID" sz="1200" dirty="0">
                <a:solidFill>
                  <a:srgbClr val="4D5D78"/>
                </a:solidFill>
                <a:latin typeface="Calibri" pitchFamily="34" charset="0"/>
                <a:ea typeface="Calibri" pitchFamily="34" charset="-122"/>
                <a:cs typeface="Calibri" pitchFamily="34" charset="-120"/>
              </a:rPr>
              <a:t>5 pasangan × 2 kondisi EDA</a:t>
            </a:r>
          </a:p>
        </p:txBody>
      </p:sp>
      <p:sp>
        <p:nvSpPr>
          <p:cNvPr id="16" name="Operator plus 2"/>
          <p:cNvSpPr txBox="1"/>
          <p:nvPr/>
        </p:nvSpPr>
        <p:spPr>
          <a:xfrm>
            <a:off x="6766560" y="164592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17" name="Kartu 12"/>
          <p:cNvSpPr/>
          <p:nvPr/>
        </p:nvSpPr>
        <p:spPr>
          <a:xfrm>
            <a:off x="7132320" y="1645920"/>
            <a:ext cx="237744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12</a:t>
            </a:r>
          </a:p>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Tanpa gangguan</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4 skenario × 3 kondisi</a:t>
            </a:r>
          </a:p>
        </p:txBody>
      </p:sp>
      <p:sp>
        <p:nvSpPr>
          <p:cNvPr id="18" name="Operator sama dengan 1"/>
          <p:cNvSpPr txBox="1"/>
          <p:nvPr/>
        </p:nvSpPr>
        <p:spPr>
          <a:xfrm>
            <a:off x="9509760" y="164592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19" name="Kartu 37"/>
          <p:cNvSpPr/>
          <p:nvPr/>
        </p:nvSpPr>
        <p:spPr>
          <a:xfrm>
            <a:off x="9875520" y="1645920"/>
            <a:ext cx="1737360" cy="987552"/>
          </a:xfrm>
          <a:prstGeom prst="roundRect">
            <a:avLst>
              <a:gd name="adj" fmla="val 12000"/>
            </a:avLst>
          </a:prstGeom>
          <a:solidFill>
            <a:srgbClr val="12284C"/>
          </a:solidFill>
          <a:ln>
            <a:noFill/>
          </a:ln>
        </p:spPr>
        <p:txBody>
          <a:bodyPr wrap="square" lIns="73152" tIns="0" rIns="73152" bIns="0" rtlCol="0" anchor="ctr">
            <a:noAutofit/>
          </a:bodyPr>
          <a:lstStyle/>
          <a:p>
            <a:pPr marL="0" indent="0" algn="ctr">
              <a:spcBef>
                <a:spcPts val="0"/>
              </a:spcBef>
              <a:spcAft>
                <a:spcPts val="200"/>
              </a:spcAft>
              <a:buNone/>
            </a:pPr>
            <a:r>
              <a:rPr lang="id-ID" sz="3200" b="1" dirty="0">
                <a:solidFill>
                  <a:srgbClr val="E9BC3A"/>
                </a:solidFill>
                <a:latin typeface="Cambria" pitchFamily="34" charset="0"/>
                <a:ea typeface="Calibri" pitchFamily="34" charset="-122"/>
                <a:cs typeface="Calibri" pitchFamily="34" charset="-120"/>
              </a:rPr>
              <a:t>37</a:t>
            </a:r>
          </a:p>
          <a:p>
            <a:pPr marL="0" indent="0" algn="ctr">
              <a:spcBef>
                <a:spcPts val="0"/>
              </a:spcBef>
              <a:spcAft>
                <a:spcPts val="0"/>
              </a:spcAft>
              <a:buNone/>
            </a:pPr>
            <a:r>
              <a:rPr lang="id-ID" sz="1700" b="1" dirty="0">
                <a:solidFill>
                  <a:srgbClr val="FFFFFF"/>
                </a:solidFill>
                <a:latin typeface="Calibri" pitchFamily="34" charset="0"/>
                <a:ea typeface="Calibri" pitchFamily="34" charset="-122"/>
                <a:cs typeface="Calibri" pitchFamily="34" charset="-120"/>
              </a:rPr>
              <a:t>sel perlakuan</a:t>
            </a:r>
          </a:p>
        </p:txBody>
      </p:sp>
      <p:sp>
        <p:nvSpPr>
          <p:cNvPr id="20" name="Label jumlah run"/>
          <p:cNvSpPr txBox="1"/>
          <p:nvPr/>
        </p:nvSpPr>
        <p:spPr>
          <a:xfrm>
            <a:off x="548640" y="3566160"/>
            <a:ext cx="3840480" cy="256032"/>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500" b="1" kern="0" spc="300" dirty="0">
                <a:solidFill>
                  <a:srgbClr val="4D5D78"/>
                </a:solidFill>
                <a:latin typeface="Calibri" pitchFamily="34" charset="0"/>
                <a:ea typeface="Calibri" pitchFamily="34" charset="-122"/>
                <a:cs typeface="Calibri" pitchFamily="34" charset="-120"/>
              </a:rPr>
              <a:t>JUMLAH RUN</a:t>
            </a:r>
          </a:p>
        </p:txBody>
      </p:sp>
      <p:sp>
        <p:nvSpPr>
          <p:cNvPr id="21" name="Keterangan konfigurasi"/>
          <p:cNvSpPr txBox="1"/>
          <p:nvPr/>
        </p:nvSpPr>
        <p:spPr>
          <a:xfrm>
            <a:off x="4754880" y="3566160"/>
            <a:ext cx="6858000" cy="256032"/>
          </a:xfrm>
          <a:prstGeom prst="rect">
            <a:avLst/>
          </a:prstGeom>
          <a:noFill/>
          <a:ln>
            <a:noFill/>
          </a:ln>
        </p:spPr>
        <p:txBody>
          <a:bodyPr wrap="square" lIns="0" tIns="0" rIns="0" bIns="0" rtlCol="0" anchor="t">
            <a:noAutofit/>
          </a:bodyPr>
          <a:lstStyle/>
          <a:p>
            <a:pPr marL="0" indent="0" algn="r">
              <a:spcBef>
                <a:spcPts val="0"/>
              </a:spcBef>
              <a:spcAft>
                <a:spcPts val="0"/>
              </a:spcAft>
              <a:buNone/>
            </a:pPr>
            <a:r>
              <a:rPr lang="id-ID" sz="1500" i="1" dirty="0">
                <a:solidFill>
                  <a:srgbClr val="4D5D78"/>
                </a:solidFill>
                <a:latin typeface="Calibri" pitchFamily="34" charset="0"/>
                <a:ea typeface="Calibri" pitchFamily="34" charset="-122"/>
                <a:cs typeface="Calibri" pitchFamily="34" charset="-120"/>
              </a:rPr>
              <a:t>1 run = 1 eksekusi satu sel perlakuan pada satu tingkat beban</a:t>
            </a:r>
          </a:p>
        </p:txBody>
      </p:sp>
      <p:sp>
        <p:nvSpPr>
          <p:cNvPr id="22" name="Kartu kombinasi"/>
          <p:cNvSpPr/>
          <p:nvPr/>
        </p:nvSpPr>
        <p:spPr>
          <a:xfrm>
            <a:off x="548640" y="3840480"/>
            <a:ext cx="228600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37</a:t>
            </a:r>
          </a:p>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sel perlakuan</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skenario–gangguan–kondisi</a:t>
            </a:r>
          </a:p>
        </p:txBody>
      </p:sp>
      <p:sp>
        <p:nvSpPr>
          <p:cNvPr id="23" name="Operator kali 1"/>
          <p:cNvSpPr txBox="1"/>
          <p:nvPr/>
        </p:nvSpPr>
        <p:spPr>
          <a:xfrm>
            <a:off x="2834640" y="384048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24" name="Kartu request rate"/>
          <p:cNvSpPr/>
          <p:nvPr/>
        </p:nvSpPr>
        <p:spPr>
          <a:xfrm>
            <a:off x="3200400" y="3840480"/>
            <a:ext cx="265176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3</a:t>
            </a:r>
          </a:p>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tingkat beban kerja</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10, 50, 100 req/s</a:t>
            </a:r>
          </a:p>
        </p:txBody>
      </p:sp>
      <p:sp>
        <p:nvSpPr>
          <p:cNvPr id="25" name="Operator kali 2"/>
          <p:cNvSpPr txBox="1"/>
          <p:nvPr/>
        </p:nvSpPr>
        <p:spPr>
          <a:xfrm>
            <a:off x="5852160" y="384048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26" name="Kartu replikasi"/>
          <p:cNvSpPr/>
          <p:nvPr/>
        </p:nvSpPr>
        <p:spPr>
          <a:xfrm>
            <a:off x="6217920" y="3840480"/>
            <a:ext cx="310896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30</a:t>
            </a:r>
          </a:p>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replikasi per sel dan beban</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untuk analisis deskriptif</a:t>
            </a:r>
          </a:p>
        </p:txBody>
      </p:sp>
      <p:sp>
        <p:nvSpPr>
          <p:cNvPr id="27" name="Operator sama dengan 2"/>
          <p:cNvSpPr txBox="1"/>
          <p:nvPr/>
        </p:nvSpPr>
        <p:spPr>
          <a:xfrm>
            <a:off x="9326880" y="384048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28" name="Kartu 3330"/>
          <p:cNvSpPr/>
          <p:nvPr/>
        </p:nvSpPr>
        <p:spPr>
          <a:xfrm>
            <a:off x="9692640" y="3840480"/>
            <a:ext cx="1920240" cy="987552"/>
          </a:xfrm>
          <a:prstGeom prst="roundRect">
            <a:avLst>
              <a:gd name="adj" fmla="val 12000"/>
            </a:avLst>
          </a:prstGeom>
          <a:solidFill>
            <a:srgbClr val="12284C"/>
          </a:solidFill>
          <a:ln>
            <a:noFill/>
          </a:ln>
        </p:spPr>
        <p:txBody>
          <a:bodyPr wrap="square" lIns="73152" tIns="0" rIns="73152" bIns="0" rtlCol="0" anchor="ctr">
            <a:noAutofit/>
          </a:bodyPr>
          <a:lstStyle/>
          <a:p>
            <a:pPr marL="0" indent="0" algn="ctr">
              <a:spcBef>
                <a:spcPts val="0"/>
              </a:spcBef>
              <a:spcAft>
                <a:spcPts val="200"/>
              </a:spcAft>
              <a:buNone/>
            </a:pPr>
            <a:r>
              <a:rPr lang="id-ID" sz="3200" b="1" dirty="0">
                <a:solidFill>
                  <a:srgbClr val="E9BC3A"/>
                </a:solidFill>
                <a:latin typeface="Cambria" pitchFamily="34" charset="0"/>
                <a:ea typeface="Calibri" pitchFamily="34" charset="-122"/>
                <a:cs typeface="Calibri" pitchFamily="34" charset="-120"/>
              </a:rPr>
              <a:t>3.330</a:t>
            </a:r>
          </a:p>
          <a:p>
            <a:pPr marL="0" indent="0" algn="ctr">
              <a:spcBef>
                <a:spcPts val="0"/>
              </a:spcBef>
              <a:spcAft>
                <a:spcPts val="0"/>
              </a:spcAft>
              <a:buNone/>
            </a:pPr>
            <a:r>
              <a:rPr lang="id-ID" sz="1600" b="1" dirty="0">
                <a:solidFill>
                  <a:srgbClr val="FFFFFF"/>
                </a:solidFill>
                <a:latin typeface="Calibri" pitchFamily="34" charset="0"/>
                <a:ea typeface="Calibri" pitchFamily="34" charset="-122"/>
                <a:cs typeface="Calibri" pitchFamily="34" charset="-120"/>
              </a:rPr>
              <a:t>run</a:t>
            </a:r>
          </a:p>
          <a:p>
            <a:pPr marL="0" indent="0" algn="ctr">
              <a:spcBef>
                <a:spcPts val="0"/>
              </a:spcBef>
              <a:spcAft>
                <a:spcPts val="0"/>
              </a:spcAft>
              <a:buNone/>
            </a:pPr>
            <a:r>
              <a:rPr lang="id-ID" sz="1400" dirty="0">
                <a:solidFill>
                  <a:srgbClr val="CADCFC"/>
                </a:solidFill>
                <a:latin typeface="Calibri" pitchFamily="34" charset="0"/>
                <a:ea typeface="Calibri" pitchFamily="34" charset="-122"/>
                <a:cs typeface="Calibri" pitchFamily="34" charset="-120"/>
              </a:rPr>
              <a:t>eksperimen utama</a:t>
            </a:r>
          </a:p>
        </p:txBody>
      </p:sp>
      <p:sp>
        <p:nvSpPr>
          <p:cNvPr id="29" name="Label satu run"/>
          <p:cNvSpPr txBox="1"/>
          <p:nvPr/>
        </p:nvSpPr>
        <p:spPr>
          <a:xfrm>
            <a:off x="548640" y="4937760"/>
            <a:ext cx="3840480" cy="256032"/>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500" b="1" kern="0" spc="300" dirty="0">
                <a:solidFill>
                  <a:srgbClr val="4D5D78"/>
                </a:solidFill>
                <a:latin typeface="Calibri" pitchFamily="34" charset="0"/>
                <a:ea typeface="Calibri" pitchFamily="34" charset="-122"/>
                <a:cs typeface="Calibri" pitchFamily="34" charset="-120"/>
              </a:rPr>
              <a:t>URUTAN SATU RUN</a:t>
            </a:r>
          </a:p>
        </p:txBody>
      </p:sp>
      <p:sp>
        <p:nvSpPr>
          <p:cNvPr id="30" name="Langkah 1"/>
          <p:cNvSpPr/>
          <p:nvPr/>
        </p:nvSpPr>
        <p:spPr>
          <a:xfrm>
            <a:off x="548640" y="5236464"/>
            <a:ext cx="1737360" cy="566928"/>
          </a:xfrm>
          <a:prstGeom prst="roundRect">
            <a:avLst>
              <a:gd name="adj" fmla="val 12000"/>
            </a:avLst>
          </a:prstGeom>
          <a:solidFill>
            <a:srgbClr val="EEF2F8"/>
          </a:solidFill>
          <a:ln w="12700">
            <a:solidFill>
              <a:srgbClr val="D5DEEC"/>
            </a:solidFill>
            <a:prstDash val="solid"/>
          </a:ln>
        </p:spPr>
        <p:txBody>
          <a:bodyPr wrap="square" lIns="73152" tIns="0" rIns="73152" bIns="0" rtlCol="0" anchor="ctr">
            <a:noAutofit/>
          </a:bodyPr>
          <a:lstStyle/>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Reset data</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kondisi awal identik</a:t>
            </a:r>
          </a:p>
        </p:txBody>
      </p:sp>
      <p:sp>
        <p:nvSpPr>
          <p:cNvPr id="31" name="Panah 1"/>
          <p:cNvSpPr/>
          <p:nvPr/>
        </p:nvSpPr>
        <p:spPr>
          <a:xfrm>
            <a:off x="2340864" y="5428488"/>
            <a:ext cx="164592" cy="182880"/>
          </a:xfrm>
          <a:prstGeom prst="rightArrow">
            <a:avLst/>
          </a:prstGeom>
          <a:solidFill>
            <a:srgbClr val="4D5D78"/>
          </a:solidFill>
          <a:ln>
            <a:noFill/>
          </a:ln>
        </p:spPr>
        <p:txBody>
          <a:bodyPr wrap="square" lIns="0" tIns="0" rIns="0" bIns="0" rtlCol="0" anchor="ctr">
            <a:noAutofit/>
          </a:bodyPr>
          <a:lstStyle/>
          <a:p>
            <a:pPr marL="0" indent="0" algn="ctr">
              <a:spcBef>
                <a:spcPts val="0"/>
              </a:spcBef>
              <a:spcAft>
                <a:spcPts val="0"/>
              </a:spcAft>
              <a:buNone/>
            </a:pPr>
            <a:endParaRPr/>
          </a:p>
        </p:txBody>
      </p:sp>
      <p:sp>
        <p:nvSpPr>
          <p:cNvPr id="32" name="Langkah 2"/>
          <p:cNvSpPr/>
          <p:nvPr/>
        </p:nvSpPr>
        <p:spPr>
          <a:xfrm>
            <a:off x="2560320" y="5236464"/>
            <a:ext cx="1645920" cy="566928"/>
          </a:xfrm>
          <a:prstGeom prst="roundRect">
            <a:avLst>
              <a:gd name="adj" fmla="val 12000"/>
            </a:avLst>
          </a:prstGeom>
          <a:solidFill>
            <a:srgbClr val="EEF2F8"/>
          </a:solidFill>
          <a:ln w="12700">
            <a:solidFill>
              <a:srgbClr val="D5DEEC"/>
            </a:solidFill>
            <a:prstDash val="solid"/>
          </a:ln>
        </p:spPr>
        <p:txBody>
          <a:bodyPr wrap="square" lIns="73152" tIns="0" rIns="73152" bIns="0" rtlCol="0" anchor="ctr">
            <a:noAutofit/>
          </a:bodyPr>
          <a:lstStyle/>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Warm-up</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60 dtk</a:t>
            </a:r>
          </a:p>
        </p:txBody>
      </p:sp>
      <p:sp>
        <p:nvSpPr>
          <p:cNvPr id="33" name="Panah 2"/>
          <p:cNvSpPr/>
          <p:nvPr/>
        </p:nvSpPr>
        <p:spPr>
          <a:xfrm>
            <a:off x="4261104" y="5428488"/>
            <a:ext cx="164592" cy="182880"/>
          </a:xfrm>
          <a:prstGeom prst="rightArrow">
            <a:avLst/>
          </a:prstGeom>
          <a:solidFill>
            <a:srgbClr val="4D5D78"/>
          </a:solidFill>
          <a:ln>
            <a:noFill/>
          </a:ln>
        </p:spPr>
        <p:txBody>
          <a:bodyPr wrap="square" lIns="0" tIns="0" rIns="0" bIns="0" rtlCol="0" anchor="ctr">
            <a:noAutofit/>
          </a:bodyPr>
          <a:lstStyle/>
          <a:p>
            <a:pPr marL="0" indent="0" algn="ctr">
              <a:spcBef>
                <a:spcPts val="0"/>
              </a:spcBef>
              <a:spcAft>
                <a:spcPts val="0"/>
              </a:spcAft>
              <a:buNone/>
            </a:pPr>
            <a:endParaRPr/>
          </a:p>
        </p:txBody>
      </p:sp>
      <p:sp>
        <p:nvSpPr>
          <p:cNvPr id="34" name="Langkah 3"/>
          <p:cNvSpPr/>
          <p:nvPr/>
        </p:nvSpPr>
        <p:spPr>
          <a:xfrm>
            <a:off x="4480560" y="5236464"/>
            <a:ext cx="2286000" cy="566928"/>
          </a:xfrm>
          <a:prstGeom prst="roundRect">
            <a:avLst>
              <a:gd name="adj" fmla="val 12000"/>
            </a:avLst>
          </a:prstGeom>
          <a:solidFill>
            <a:srgbClr val="12284C"/>
          </a:solidFill>
          <a:ln>
            <a:noFill/>
          </a:ln>
        </p:spPr>
        <p:txBody>
          <a:bodyPr wrap="square" lIns="73152" tIns="0" rIns="73152" bIns="0" rtlCol="0" anchor="ctr">
            <a:noAutofit/>
          </a:bodyPr>
          <a:lstStyle/>
          <a:p>
            <a:pPr marL="0" indent="0" algn="ctr">
              <a:spcBef>
                <a:spcPts val="0"/>
              </a:spcBef>
              <a:spcAft>
                <a:spcPts val="0"/>
              </a:spcAft>
              <a:buNone/>
            </a:pPr>
            <a:r>
              <a:rPr lang="id-ID" sz="1600" b="1" dirty="0">
                <a:solidFill>
                  <a:srgbClr val="FFFFFF"/>
                </a:solidFill>
                <a:latin typeface="Calibri" pitchFamily="34" charset="0"/>
                <a:ea typeface="Calibri" pitchFamily="34" charset="-122"/>
                <a:cs typeface="Calibri" pitchFamily="34" charset="-120"/>
              </a:rPr>
              <a:t>Pengukuran 60 dtk</a:t>
            </a:r>
          </a:p>
          <a:p>
            <a:pPr marL="0" indent="0" algn="ctr">
              <a:spcBef>
                <a:spcPts val="0"/>
              </a:spcBef>
              <a:spcAft>
                <a:spcPts val="0"/>
              </a:spcAft>
              <a:buNone/>
            </a:pPr>
            <a:r>
              <a:rPr lang="id-ID" sz="1400" dirty="0">
                <a:solidFill>
                  <a:srgbClr val="CADCFC"/>
                </a:solidFill>
                <a:latin typeface="Calibri" pitchFamily="34" charset="0"/>
                <a:ea typeface="Calibri" pitchFamily="34" charset="-122"/>
                <a:cs typeface="Calibri" pitchFamily="34" charset="-120"/>
              </a:rPr>
              <a:t>fault di titik pemicu</a:t>
            </a:r>
          </a:p>
        </p:txBody>
      </p:sp>
      <p:sp>
        <p:nvSpPr>
          <p:cNvPr id="35" name="Panah 3"/>
          <p:cNvSpPr/>
          <p:nvPr/>
        </p:nvSpPr>
        <p:spPr>
          <a:xfrm>
            <a:off x="6821424" y="5428488"/>
            <a:ext cx="164592" cy="182880"/>
          </a:xfrm>
          <a:prstGeom prst="rightArrow">
            <a:avLst/>
          </a:prstGeom>
          <a:solidFill>
            <a:srgbClr val="4D5D78"/>
          </a:solidFill>
          <a:ln>
            <a:noFill/>
          </a:ln>
        </p:spPr>
        <p:txBody>
          <a:bodyPr wrap="square" lIns="0" tIns="0" rIns="0" bIns="0" rtlCol="0" anchor="ctr">
            <a:noAutofit/>
          </a:bodyPr>
          <a:lstStyle/>
          <a:p>
            <a:pPr marL="0" indent="0" algn="ctr">
              <a:spcBef>
                <a:spcPts val="0"/>
              </a:spcBef>
              <a:spcAft>
                <a:spcPts val="0"/>
              </a:spcAft>
              <a:buNone/>
            </a:pPr>
            <a:endParaRPr/>
          </a:p>
        </p:txBody>
      </p:sp>
      <p:sp>
        <p:nvSpPr>
          <p:cNvPr id="36" name="Langkah 4"/>
          <p:cNvSpPr/>
          <p:nvPr/>
        </p:nvSpPr>
        <p:spPr>
          <a:xfrm>
            <a:off x="7040880" y="5236464"/>
            <a:ext cx="2468880" cy="566928"/>
          </a:xfrm>
          <a:prstGeom prst="roundRect">
            <a:avLst>
              <a:gd name="adj" fmla="val 12000"/>
            </a:avLst>
          </a:prstGeom>
          <a:solidFill>
            <a:srgbClr val="EEF2F8"/>
          </a:solidFill>
          <a:ln w="12700">
            <a:solidFill>
              <a:srgbClr val="D5DEEC"/>
            </a:solidFill>
            <a:prstDash val="solid"/>
          </a:ln>
        </p:spPr>
        <p:txBody>
          <a:bodyPr wrap="square" lIns="73152" tIns="0" rIns="73152" bIns="0" rtlCol="0" anchor="ctr">
            <a:noAutofit/>
          </a:bodyPr>
          <a:lstStyle/>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Recovery window</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60 dtk, bila ada gangguan</a:t>
            </a:r>
          </a:p>
        </p:txBody>
      </p:sp>
      <p:sp>
        <p:nvSpPr>
          <p:cNvPr id="37" name="Panah 4"/>
          <p:cNvSpPr/>
          <p:nvPr/>
        </p:nvSpPr>
        <p:spPr>
          <a:xfrm>
            <a:off x="9564624" y="5428488"/>
            <a:ext cx="164592" cy="182880"/>
          </a:xfrm>
          <a:prstGeom prst="rightArrow">
            <a:avLst/>
          </a:prstGeom>
          <a:solidFill>
            <a:srgbClr val="4D5D78"/>
          </a:solidFill>
          <a:ln>
            <a:noFill/>
          </a:ln>
        </p:spPr>
        <p:txBody>
          <a:bodyPr wrap="square" lIns="0" tIns="0" rIns="0" bIns="0" rtlCol="0" anchor="ctr">
            <a:noAutofit/>
          </a:bodyPr>
          <a:lstStyle/>
          <a:p>
            <a:pPr marL="0" indent="0" algn="ctr">
              <a:spcBef>
                <a:spcPts val="0"/>
              </a:spcBef>
              <a:spcAft>
                <a:spcPts val="0"/>
              </a:spcAft>
              <a:buNone/>
            </a:pPr>
            <a:endParaRPr/>
          </a:p>
        </p:txBody>
      </p:sp>
      <p:sp>
        <p:nvSpPr>
          <p:cNvPr id="38" name="Langkah 5"/>
          <p:cNvSpPr/>
          <p:nvPr/>
        </p:nvSpPr>
        <p:spPr>
          <a:xfrm>
            <a:off x="9784080" y="5236464"/>
            <a:ext cx="1828800" cy="566928"/>
          </a:xfrm>
          <a:prstGeom prst="roundRect">
            <a:avLst>
              <a:gd name="adj" fmla="val 12000"/>
            </a:avLst>
          </a:prstGeom>
          <a:solidFill>
            <a:srgbClr val="EEF2F8"/>
          </a:solidFill>
          <a:ln w="12700">
            <a:solidFill>
              <a:srgbClr val="D5DEEC"/>
            </a:solidFill>
            <a:prstDash val="solid"/>
          </a:ln>
        </p:spPr>
        <p:txBody>
          <a:bodyPr wrap="square" lIns="73152" tIns="0" rIns="73152" bIns="0" rtlCol="0" anchor="ctr">
            <a:noAutofit/>
          </a:bodyPr>
          <a:lstStyle/>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Rekonsiliasi</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setelah run selesai</a:t>
            </a:r>
          </a:p>
        </p:txBody>
      </p:sp>
      <p:sp>
        <p:nvSpPr>
          <p:cNvPr id="39" name="Catatan recovery window"/>
          <p:cNvSpPr txBox="1"/>
          <p:nvPr/>
        </p:nvSpPr>
        <p:spPr>
          <a:xfrm>
            <a:off x="548640" y="5858256"/>
            <a:ext cx="1106424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200" i="1" dirty="0">
                <a:solidFill>
                  <a:srgbClr val="4D5D78"/>
                </a:solidFill>
                <a:latin typeface="Calibri" pitchFamily="34" charset="0"/>
                <a:ea typeface="Calibri" pitchFamily="34" charset="-122"/>
                <a:cs typeface="Calibri" pitchFamily="34" charset="-120"/>
              </a:rPr>
              <a:t>Recovery window = batas waktu pengujian untuk melihat apakah sistem pulih. Bila belum pulih di akhir window, run dicatat tidak pulih dalam batas waktu pengujian.</a:t>
            </a:r>
          </a:p>
        </p:txBody>
      </p:sp>
      <p:sp>
        <p:nvSpPr>
          <p:cNvPr id="40" name="Catatan replikasi berpasangan"/>
          <p:cNvSpPr txBox="1"/>
          <p:nvPr/>
        </p:nvSpPr>
        <p:spPr>
          <a:xfrm>
            <a:off x="548640" y="6086856"/>
            <a:ext cx="1106424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200" b="1" i="1" dirty="0">
                <a:solidFill>
                  <a:srgbClr val="4D5D78"/>
                </a:solidFill>
                <a:latin typeface="Calibri" pitchFamily="34" charset="0"/>
                <a:ea typeface="Calibri" pitchFamily="34" charset="-122"/>
                <a:cs typeface="Calibri" pitchFamily="34" charset="-120"/>
              </a:rPr>
              <a:t>Input uji dipasangkan antarkondisi:</a:t>
            </a:r>
            <a:r>
              <a:rPr lang="id-ID" sz="1200" i="1" dirty="0">
                <a:solidFill>
                  <a:srgbClr val="4D5D78"/>
                </a:solidFill>
                <a:latin typeface="Calibri" pitchFamily="34" charset="0"/>
                <a:ea typeface="Calibri" pitchFamily="34" charset="-122"/>
                <a:cs typeface="Calibri" pitchFamily="34" charset="-120"/>
              </a:rPr>
              <a:t> seed, data awal, beban, urutan request, dan fault identik; urutan arsitektur dirotasi.</a:t>
            </a:r>
          </a:p>
        </p:txBody>
      </p:sp>
      <p:sp>
        <p:nvSpPr>
          <p:cNvPr id="100" name="Tag pasangan 3 kondisi"/>
          <p:cNvSpPr/>
          <p:nvPr/>
        </p:nvSpPr>
        <p:spPr>
          <a:xfrm>
            <a:off x="548640" y="2706624"/>
            <a:ext cx="1920240" cy="283464"/>
          </a:xfrm>
          <a:prstGeom prst="roundRect">
            <a:avLst>
              <a:gd name="adj" fmla="val 20000"/>
            </a:avLst>
          </a:prstGeom>
          <a:solidFill>
            <a:srgbClr val="4D5D78"/>
          </a:solidFill>
          <a:ln w="9525">
            <a:solidFill>
              <a:srgbClr val="4D5D78"/>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FFFFFF"/>
                </a:solidFill>
                <a:latin typeface="Calibri" pitchFamily="34" charset="0"/>
                <a:ea typeface="Calibri" pitchFamily="34" charset="-122"/>
                <a:cs typeface="Calibri" pitchFamily="34" charset="-120"/>
              </a:rPr>
              <a:t>5 pasangan · 3 kondisi</a:t>
            </a:r>
          </a:p>
        </p:txBody>
      </p:sp>
      <p:sp>
        <p:nvSpPr>
          <p:cNvPr id="101" name="Chip 3 kondisi 1"/>
          <p:cNvSpPr/>
          <p:nvPr/>
        </p:nvSpPr>
        <p:spPr>
          <a:xfrm>
            <a:off x="2560320"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F4b</a:t>
            </a:r>
            <a:r>
              <a:rPr lang="id-ID" sz="1200" b="0" dirty="0">
                <a:solidFill>
                  <a:srgbClr val="4D5D78"/>
                </a:solidFill>
                <a:latin typeface="Calibri" pitchFamily="34" charset="0"/>
                <a:ea typeface="Calibri" pitchFamily="34" charset="-122"/>
                <a:cs typeface="Calibri" pitchFamily="34" charset="-120"/>
              </a:rPr>
              <a:t>–Pembayaran Digital</a:t>
            </a:r>
          </a:p>
        </p:txBody>
      </p:sp>
      <p:sp>
        <p:nvSpPr>
          <p:cNvPr id="102" name="Chip 3 kondisi 2"/>
          <p:cNvSpPr/>
          <p:nvPr/>
        </p:nvSpPr>
        <p:spPr>
          <a:xfrm>
            <a:off x="4383633"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F4b</a:t>
            </a:r>
            <a:r>
              <a:rPr lang="id-ID" sz="1200" b="0" dirty="0">
                <a:solidFill>
                  <a:srgbClr val="4D5D78"/>
                </a:solidFill>
                <a:latin typeface="Calibri" pitchFamily="34" charset="0"/>
                <a:ea typeface="Calibri" pitchFamily="34" charset="-122"/>
                <a:cs typeface="Calibri" pitchFamily="34" charset="-120"/>
              </a:rPr>
              <a:t>–QRIS Statis</a:t>
            </a:r>
          </a:p>
        </p:txBody>
      </p:sp>
      <p:sp>
        <p:nvSpPr>
          <p:cNvPr id="103" name="Chip 3 kondisi 3"/>
          <p:cNvSpPr/>
          <p:nvPr/>
        </p:nvSpPr>
        <p:spPr>
          <a:xfrm>
            <a:off x="6206946"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F5</a:t>
            </a:r>
            <a:r>
              <a:rPr lang="id-ID" sz="1200" b="0" dirty="0">
                <a:solidFill>
                  <a:srgbClr val="4D5D78"/>
                </a:solidFill>
                <a:latin typeface="Calibri" pitchFamily="34" charset="0"/>
                <a:ea typeface="Calibri" pitchFamily="34" charset="-122"/>
                <a:cs typeface="Calibri" pitchFamily="34" charset="-120"/>
              </a:rPr>
              <a:t>–Penjualan Bersamaan</a:t>
            </a:r>
          </a:p>
        </p:txBody>
      </p:sp>
      <p:sp>
        <p:nvSpPr>
          <p:cNvPr id="104" name="Chip 3 kondisi 4"/>
          <p:cNvSpPr/>
          <p:nvPr/>
        </p:nvSpPr>
        <p:spPr>
          <a:xfrm>
            <a:off x="8030259"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F5</a:t>
            </a:r>
            <a:r>
              <a:rPr lang="id-ID" sz="1200" b="0" dirty="0">
                <a:solidFill>
                  <a:srgbClr val="4D5D78"/>
                </a:solidFill>
                <a:latin typeface="Calibri" pitchFamily="34" charset="0"/>
                <a:ea typeface="Calibri" pitchFamily="34" charset="-122"/>
                <a:cs typeface="Calibri" pitchFamily="34" charset="-120"/>
              </a:rPr>
              <a:t>–Mutasi Stok</a:t>
            </a:r>
          </a:p>
        </p:txBody>
      </p:sp>
      <p:sp>
        <p:nvSpPr>
          <p:cNvPr id="105" name="Chip 3 kondisi 5"/>
          <p:cNvSpPr/>
          <p:nvPr/>
        </p:nvSpPr>
        <p:spPr>
          <a:xfrm>
            <a:off x="9853572"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F6</a:t>
            </a:r>
            <a:r>
              <a:rPr lang="id-ID" sz="1200" b="0" dirty="0">
                <a:solidFill>
                  <a:srgbClr val="4D5D78"/>
                </a:solidFill>
                <a:latin typeface="Calibri" pitchFamily="34" charset="0"/>
                <a:ea typeface="Calibri" pitchFamily="34" charset="-122"/>
                <a:cs typeface="Calibri" pitchFamily="34" charset="-120"/>
              </a:rPr>
              <a:t>–Pembayaran Digital</a:t>
            </a:r>
          </a:p>
        </p:txBody>
      </p:sp>
      <p:sp>
        <p:nvSpPr>
          <p:cNvPr id="106" name="Tag pasangan 2 kondisi EDA"/>
          <p:cNvSpPr/>
          <p:nvPr/>
        </p:nvSpPr>
        <p:spPr>
          <a:xfrm>
            <a:off x="548640" y="3017520"/>
            <a:ext cx="1920240" cy="283464"/>
          </a:xfrm>
          <a:prstGeom prst="roundRect">
            <a:avLst>
              <a:gd name="adj" fmla="val 20000"/>
            </a:avLst>
          </a:prstGeom>
          <a:solidFill>
            <a:srgbClr val="4D5D78"/>
          </a:solidFill>
          <a:ln w="9525">
            <a:solidFill>
              <a:srgbClr val="4D5D78"/>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FFFFFF"/>
                </a:solidFill>
                <a:latin typeface="Calibri" pitchFamily="34" charset="0"/>
                <a:ea typeface="Calibri" pitchFamily="34" charset="-122"/>
                <a:cs typeface="Calibri" pitchFamily="34" charset="-120"/>
              </a:rPr>
              <a:t>5 pasangan · 2 kondisi EDA</a:t>
            </a:r>
          </a:p>
        </p:txBody>
      </p:sp>
      <p:sp>
        <p:nvSpPr>
          <p:cNvPr id="107" name="Chip 2 kondisi EDA 1"/>
          <p:cNvSpPr/>
          <p:nvPr/>
        </p:nvSpPr>
        <p:spPr>
          <a:xfrm>
            <a:off x="2560320"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F1</a:t>
            </a:r>
            <a:r>
              <a:rPr lang="id-ID" sz="1200" b="0" dirty="0">
                <a:solidFill>
                  <a:srgbClr val="4D5D78"/>
                </a:solidFill>
                <a:latin typeface="Calibri" pitchFamily="34" charset="0"/>
                <a:ea typeface="Calibri" pitchFamily="34" charset="-122"/>
                <a:cs typeface="Calibri" pitchFamily="34" charset="-120"/>
              </a:rPr>
              <a:t>–Mutasi Stok</a:t>
            </a:r>
          </a:p>
        </p:txBody>
      </p:sp>
      <p:sp>
        <p:nvSpPr>
          <p:cNvPr id="108" name="Chip 2 kondisi EDA 2"/>
          <p:cNvSpPr/>
          <p:nvPr/>
        </p:nvSpPr>
        <p:spPr>
          <a:xfrm>
            <a:off x="4383633"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F2</a:t>
            </a:r>
            <a:r>
              <a:rPr lang="id-ID" sz="1200" b="0" dirty="0">
                <a:solidFill>
                  <a:srgbClr val="4D5D78"/>
                </a:solidFill>
                <a:latin typeface="Calibri" pitchFamily="34" charset="0"/>
                <a:ea typeface="Calibri" pitchFamily="34" charset="-122"/>
                <a:cs typeface="Calibri" pitchFamily="34" charset="-120"/>
              </a:rPr>
              <a:t>–Mutasi Stok</a:t>
            </a:r>
          </a:p>
        </p:txBody>
      </p:sp>
      <p:sp>
        <p:nvSpPr>
          <p:cNvPr id="109" name="Chip 2 kondisi EDA 3"/>
          <p:cNvSpPr/>
          <p:nvPr/>
        </p:nvSpPr>
        <p:spPr>
          <a:xfrm>
            <a:off x="6206946"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F2</a:t>
            </a:r>
            <a:r>
              <a:rPr lang="id-ID" sz="1200" b="0" dirty="0">
                <a:solidFill>
                  <a:srgbClr val="4D5D78"/>
                </a:solidFill>
                <a:latin typeface="Calibri" pitchFamily="34" charset="0"/>
                <a:ea typeface="Calibri" pitchFamily="34" charset="-122"/>
                <a:cs typeface="Calibri" pitchFamily="34" charset="-120"/>
              </a:rPr>
              <a:t>–Pembayaran Digital</a:t>
            </a:r>
          </a:p>
        </p:txBody>
      </p:sp>
      <p:sp>
        <p:nvSpPr>
          <p:cNvPr id="110" name="Chip 2 kondisi EDA 4"/>
          <p:cNvSpPr/>
          <p:nvPr/>
        </p:nvSpPr>
        <p:spPr>
          <a:xfrm>
            <a:off x="8030259"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F3</a:t>
            </a:r>
            <a:r>
              <a:rPr lang="id-ID" sz="1200" b="0" dirty="0">
                <a:solidFill>
                  <a:srgbClr val="4D5D78"/>
                </a:solidFill>
                <a:latin typeface="Calibri" pitchFamily="34" charset="0"/>
                <a:ea typeface="Calibri" pitchFamily="34" charset="-122"/>
                <a:cs typeface="Calibri" pitchFamily="34" charset="-120"/>
              </a:rPr>
              <a:t>–Mutasi Stok</a:t>
            </a:r>
          </a:p>
        </p:txBody>
      </p:sp>
      <p:sp>
        <p:nvSpPr>
          <p:cNvPr id="111" name="Chip 2 kondisi EDA 5"/>
          <p:cNvSpPr/>
          <p:nvPr/>
        </p:nvSpPr>
        <p:spPr>
          <a:xfrm>
            <a:off x="9853572"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F4a</a:t>
            </a:r>
            <a:r>
              <a:rPr lang="id-ID" sz="1200" b="0" dirty="0">
                <a:solidFill>
                  <a:srgbClr val="4D5D78"/>
                </a:solidFill>
                <a:latin typeface="Calibri" pitchFamily="34" charset="0"/>
                <a:ea typeface="Calibri" pitchFamily="34" charset="-122"/>
                <a:cs typeface="Calibri" pitchFamily="34" charset="-120"/>
              </a:rPr>
              <a:t>–Mutasi Stok</a:t>
            </a:r>
          </a:p>
        </p:txBody>
      </p:sp>
      <p:sp>
        <p:nvSpPr>
          <p:cNvPr id="120" name="Catatan 4 skenario 5 pasangan"/>
          <p:cNvSpPr txBox="1"/>
          <p:nvPr/>
        </p:nvSpPr>
        <p:spPr>
          <a:xfrm>
            <a:off x="548640" y="3328416"/>
            <a:ext cx="11064240" cy="201168"/>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200" b="1" i="1" dirty="0">
                <a:solidFill>
                  <a:srgbClr val="4D5D78"/>
                </a:solidFill>
                <a:latin typeface="Calibri" pitchFamily="34" charset="0"/>
                <a:ea typeface="Calibri" pitchFamily="34" charset="-122"/>
                <a:cs typeface="Calibri" pitchFamily="34" charset="-120"/>
              </a:rPr>
              <a:t>4 skenario transaksi, 5 pasangan skenario–gangguan:</a:t>
            </a:r>
            <a:r>
              <a:rPr lang="id-ID" sz="1200" b="0" i="1" dirty="0">
                <a:solidFill>
                  <a:srgbClr val="4D5D78"/>
                </a:solidFill>
                <a:latin typeface="Calibri" pitchFamily="34" charset="0"/>
                <a:ea typeface="Calibri" pitchFamily="34" charset="-122"/>
                <a:cs typeface="Calibri" pitchFamily="34" charset="-120"/>
              </a:rPr>
              <a:t> satu skenario dapat diuji pada lebih dari satu gangguan.</a:t>
            </a:r>
          </a:p>
        </p:txBody>
      </p:sp>
      <p:sp>
        <p:nvSpPr>
          <p:cNvPr id="3"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id-ID" sz="3000" b="1" dirty="0">
                <a:solidFill>
                  <a:srgbClr val="12284C"/>
                </a:solidFill>
                <a:latin typeface="Cambria" pitchFamily="34" charset="0"/>
                <a:ea typeface="Calibri" pitchFamily="34" charset="-122"/>
                <a:cs typeface="Calibri" pitchFamily="34" charset="-120"/>
              </a:rPr>
              <a:t>Batas pengujian dan posisi hasil penelitian</a:t>
            </a:r>
            <a:endParaRPr lang="en-US" sz="3000" dirty="0"/>
          </a:p>
        </p:txBody>
      </p:sp>
      <p:sp>
        <p:nvSpPr>
          <p:cNvPr id="11" name="Kartu batasan"/>
          <p:cNvSpPr/>
          <p:nvPr/>
        </p:nvSpPr>
        <p:spPr>
          <a:xfrm>
            <a:off x="548640" y="1463040"/>
            <a:ext cx="5394960" cy="3291840"/>
          </a:xfrm>
          <a:prstGeom prst="roundRect">
            <a:avLst>
              <a:gd name="adj" fmla="val 7000"/>
            </a:avLst>
          </a:prstGeom>
          <a:solidFill>
            <a:srgbClr val="EEF2F8"/>
          </a:solidFill>
          <a:ln w="9525">
            <a:solidFill>
              <a:srgbClr val="D5DEEC"/>
            </a:solidFill>
          </a:ln>
        </p:spPr>
        <p:txBody>
          <a:bodyPr wrap="square" lIns="320040" tIns="274320" rIns="320040" bIns="274320" rtlCol="0" anchor="t">
            <a:noAutofit/>
          </a:bodyPr>
          <a:lstStyle/>
          <a:p>
            <a:pPr marL="0" indent="0" algn="l">
              <a:spcAft>
                <a:spcPts val="1400"/>
              </a:spcAft>
              <a:buNone/>
            </a:pPr>
            <a:r>
              <a:rPr lang="id-ID" sz="2400" b="1" dirty="0">
                <a:solidFill>
                  <a:srgbClr val="12284C"/>
                </a:solidFill>
                <a:latin typeface="Cambria" pitchFamily="34" charset="0"/>
                <a:ea typeface="Calibri" pitchFamily="34" charset="-122"/>
                <a:cs typeface="Calibri" pitchFamily="34" charset="-120"/>
              </a:rPr>
              <a:t>Batasan</a:t>
            </a:r>
          </a:p>
          <a:p>
            <a:pPr marL="285750" indent="-285750" algn="l">
              <a:spcAft>
                <a:spcPts val="1100"/>
              </a:spcAft>
              <a:buClr>
                <a:srgbClr val="8B6300"/>
              </a:buClr>
              <a:buFont typeface="Arial"/>
              <a:buChar char="•"/>
            </a:pPr>
            <a:r>
              <a:rPr lang="id-ID" sz="1800" b="1" dirty="0">
                <a:solidFill>
                  <a:srgbClr val="12284C"/>
                </a:solidFill>
                <a:latin typeface="Calibri" pitchFamily="34" charset="0"/>
                <a:ea typeface="Calibri" pitchFamily="34" charset="-122"/>
                <a:cs typeface="Calibri" pitchFamily="34" charset="-120"/>
              </a:rPr>
              <a:t>Data sintetis</a:t>
            </a:r>
            <a:r>
              <a:rPr lang="id-ID" sz="1800" dirty="0">
                <a:solidFill>
                  <a:srgbClr val="4D5D78"/>
                </a:solidFill>
                <a:latin typeface="Calibri" pitchFamily="34" charset="0"/>
                <a:ea typeface="Calibri" pitchFamily="34" charset="-122"/>
                <a:cs typeface="Calibri" pitchFamily="34" charset="-120"/>
              </a:rPr>
              <a:t> dan beban simulasi</a:t>
            </a:r>
          </a:p>
          <a:p>
            <a:pPr marL="285750" indent="-285750" algn="l">
              <a:spcAft>
                <a:spcPts val="1100"/>
              </a:spcAft>
              <a:buClr>
                <a:srgbClr val="8B6300"/>
              </a:buClr>
              <a:buFont typeface="Arial"/>
              <a:buChar char="•"/>
            </a:pPr>
            <a:r>
              <a:rPr lang="id-ID" sz="1800" b="1" dirty="0">
                <a:solidFill>
                  <a:srgbClr val="12284C"/>
                </a:solidFill>
                <a:latin typeface="Calibri" pitchFamily="34" charset="0"/>
                <a:ea typeface="Calibri" pitchFamily="34" charset="-122"/>
                <a:cs typeface="Calibri" pitchFamily="34" charset="-120"/>
              </a:rPr>
              <a:t>Satu host</a:t>
            </a:r>
            <a:r>
              <a:rPr lang="id-ID" sz="1800" dirty="0">
                <a:solidFill>
                  <a:srgbClr val="4D5D78"/>
                </a:solidFill>
                <a:latin typeface="Calibri" pitchFamily="34" charset="0"/>
                <a:ea typeface="Calibri" pitchFamily="34" charset="-122"/>
                <a:cs typeface="Calibri" pitchFamily="34" charset="-120"/>
              </a:rPr>
              <a:t> (Docker Compose)</a:t>
            </a:r>
          </a:p>
          <a:p>
            <a:pPr marL="285750" indent="-285750" algn="l">
              <a:spcAft>
                <a:spcPts val="1100"/>
              </a:spcAft>
              <a:buClr>
                <a:srgbClr val="8B6300"/>
              </a:buClr>
              <a:buFont typeface="Arial"/>
              <a:buChar char="•"/>
            </a:pPr>
            <a:r>
              <a:rPr lang="id-ID" sz="1800" b="1" dirty="0">
                <a:solidFill>
                  <a:srgbClr val="12284C"/>
                </a:solidFill>
                <a:latin typeface="Calibri" pitchFamily="34" charset="0"/>
                <a:ea typeface="Calibri" pitchFamily="34" charset="-122"/>
                <a:cs typeface="Calibri" pitchFamily="34" charset="-120"/>
              </a:rPr>
              <a:t>Fault F1–F6,</a:t>
            </a:r>
            <a:r>
              <a:rPr lang="id-ID" sz="1800" dirty="0">
                <a:solidFill>
                  <a:srgbClr val="4D5D78"/>
                </a:solidFill>
                <a:latin typeface="Calibri" pitchFamily="34" charset="0"/>
                <a:ea typeface="Calibri" pitchFamily="34" charset="-122"/>
                <a:cs typeface="Calibri" pitchFamily="34" charset="-120"/>
              </a:rPr>
              <a:t> tidak mencakup partisi jaringan permanen dan split-brain</a:t>
            </a:r>
          </a:p>
          <a:p>
            <a:pPr marL="285750" indent="-285750" algn="l">
              <a:spcAft>
                <a:spcPts val="1100"/>
              </a:spcAft>
              <a:buClr>
                <a:srgbClr val="8B6300"/>
              </a:buClr>
              <a:buFont typeface="Arial"/>
              <a:buChar char="•"/>
            </a:pPr>
            <a:r>
              <a:rPr lang="id-ID" sz="1800" b="1" dirty="0">
                <a:solidFill>
                  <a:srgbClr val="12284C"/>
                </a:solidFill>
                <a:latin typeface="Calibri" pitchFamily="34" charset="0"/>
                <a:ea typeface="Calibri" pitchFamily="34" charset="-122"/>
                <a:cs typeface="Calibri" pitchFamily="34" charset="-120"/>
              </a:rPr>
              <a:t>Di luar lingkup:</a:t>
            </a:r>
            <a:r>
              <a:rPr lang="id-ID" sz="1800" dirty="0">
                <a:solidFill>
                  <a:srgbClr val="4D5D78"/>
                </a:solidFill>
                <a:latin typeface="Calibri" pitchFamily="34" charset="0"/>
                <a:ea typeface="Calibri" pitchFamily="34" charset="-122"/>
                <a:cs typeface="Calibri" pitchFamily="34" charset="-120"/>
              </a:rPr>
              <a:t> aspek medis, FEFO, stock opname</a:t>
            </a:r>
          </a:p>
        </p:txBody>
      </p:sp>
      <p:sp>
        <p:nvSpPr>
          <p:cNvPr id="12" name="Kartu luaran"/>
          <p:cNvSpPr/>
          <p:nvPr/>
        </p:nvSpPr>
        <p:spPr>
          <a:xfrm>
            <a:off x="6217920" y="1463040"/>
            <a:ext cx="5394960" cy="3291840"/>
          </a:xfrm>
          <a:prstGeom prst="roundRect">
            <a:avLst>
              <a:gd name="adj" fmla="val 7000"/>
            </a:avLst>
          </a:prstGeom>
          <a:solidFill>
            <a:srgbClr val="12284C"/>
          </a:solidFill>
          <a:ln>
            <a:noFill/>
          </a:ln>
        </p:spPr>
        <p:txBody>
          <a:bodyPr wrap="square" lIns="320040" tIns="274320" rIns="320040" bIns="274320" rtlCol="0" anchor="t">
            <a:noAutofit/>
          </a:bodyPr>
          <a:lstStyle/>
          <a:p>
            <a:pPr marL="0" indent="0" algn="l">
              <a:spcAft>
                <a:spcPts val="1400"/>
              </a:spcAft>
              <a:buNone/>
            </a:pPr>
            <a:r>
              <a:rPr lang="id-ID" sz="2400" b="1" dirty="0">
                <a:solidFill>
                  <a:srgbClr val="E9BC3A"/>
                </a:solidFill>
                <a:latin typeface="Cambria" pitchFamily="34" charset="0"/>
                <a:ea typeface="Calibri" pitchFamily="34" charset="-122"/>
                <a:cs typeface="Calibri" pitchFamily="34" charset="-120"/>
              </a:rPr>
              <a:t>Luaran</a:t>
            </a:r>
          </a:p>
          <a:p>
            <a:pPr marL="285750" indent="-285750" algn="l">
              <a:spcAft>
                <a:spcPts val="1100"/>
              </a:spcAft>
              <a:buClr>
                <a:srgbClr val="E9BC3A"/>
              </a:buClr>
              <a:buFont typeface="Arial"/>
              <a:buChar char="•"/>
            </a:pPr>
            <a:r>
              <a:rPr lang="id-ID" sz="1800" b="1" dirty="0">
                <a:solidFill>
                  <a:srgbClr val="FFFFFF"/>
                </a:solidFill>
                <a:latin typeface="Calibri" pitchFamily="34" charset="0"/>
                <a:ea typeface="Calibri" pitchFamily="34" charset="-122"/>
                <a:cs typeface="Calibri" pitchFamily="34" charset="-120"/>
              </a:rPr>
              <a:t>Analisis komparatif</a:t>
            </a:r>
            <a:r>
              <a:rPr lang="id-ID" sz="1800" dirty="0">
                <a:solidFill>
                  <a:srgbClr val="DCE5F5"/>
                </a:solidFill>
                <a:latin typeface="Calibri" pitchFamily="34" charset="0"/>
                <a:ea typeface="Calibri" pitchFamily="34" charset="-122"/>
                <a:cs typeface="Calibri" pitchFamily="34" charset="-120"/>
              </a:rPr>
              <a:t> tiga arsitektur</a:t>
            </a:r>
          </a:p>
          <a:p>
            <a:pPr marL="285750" indent="-285750" algn="l">
              <a:spcAft>
                <a:spcPts val="1100"/>
              </a:spcAft>
              <a:buClr>
                <a:srgbClr val="E9BC3A"/>
              </a:buClr>
              <a:buFont typeface="Arial"/>
              <a:buChar char="•"/>
            </a:pPr>
            <a:r>
              <a:rPr lang="id-ID" sz="1800" b="1" dirty="0">
                <a:solidFill>
                  <a:srgbClr val="FFFFFF"/>
                </a:solidFill>
                <a:latin typeface="Calibri" pitchFamily="34" charset="0"/>
                <a:ea typeface="Calibri" pitchFamily="34" charset="-122"/>
                <a:cs typeface="Calibri" pitchFamily="34" charset="-120"/>
              </a:rPr>
              <a:t>Temuan perbandingan:</a:t>
            </a:r>
            <a:r>
              <a:rPr lang="id-ID" sz="1800" dirty="0">
                <a:solidFill>
                  <a:srgbClr val="DCE5F5"/>
                </a:solidFill>
                <a:latin typeface="Calibri" pitchFamily="34" charset="0"/>
                <a:ea typeface="Calibri" pitchFamily="34" charset="-122"/>
                <a:cs typeface="Calibri" pitchFamily="34" charset="-120"/>
              </a:rPr>
              <a:t> konsistensi dan keandalan, serta trade-off performa dan kompleksitas</a:t>
            </a:r>
          </a:p>
          <a:p>
            <a:pPr marL="285750" indent="-285750" algn="l">
              <a:spcAft>
                <a:spcPts val="1100"/>
              </a:spcAft>
              <a:buClr>
                <a:srgbClr val="E9BC3A"/>
              </a:buClr>
              <a:buFont typeface="Arial"/>
              <a:buChar char="•"/>
            </a:pPr>
            <a:r>
              <a:rPr lang="id-ID" sz="1800" b="1" dirty="0">
                <a:solidFill>
                  <a:srgbClr val="FFFFFF"/>
                </a:solidFill>
                <a:latin typeface="Calibri" pitchFamily="34" charset="0"/>
                <a:ea typeface="Calibri" pitchFamily="34" charset="-122"/>
                <a:cs typeface="Calibri" pitchFamily="34" charset="-120"/>
              </a:rPr>
              <a:t>Bahan pertimbangan arsitektur</a:t>
            </a:r>
            <a:r>
              <a:rPr lang="id-ID" sz="1800" dirty="0">
                <a:solidFill>
                  <a:srgbClr val="DCE5F5"/>
                </a:solidFill>
                <a:latin typeface="Calibri" pitchFamily="34" charset="0"/>
                <a:ea typeface="Calibri" pitchFamily="34" charset="-122"/>
                <a:cs typeface="Calibri" pitchFamily="34" charset="-120"/>
              </a:rPr>
              <a:t> untuk Apotek Bisma, keputusan produksi di luar penelitian</a:t>
            </a:r>
          </a:p>
        </p:txBody>
      </p:sp>
      <p:sp>
        <p:nvSpPr>
          <p:cNvPr id="13" name="Terima kasih"/>
          <p:cNvSpPr txBox="1"/>
          <p:nvPr/>
        </p:nvSpPr>
        <p:spPr>
          <a:xfrm>
            <a:off x="548640" y="5120640"/>
            <a:ext cx="11064240" cy="1005840"/>
          </a:xfrm>
          <a:prstGeom prst="rect">
            <a:avLst/>
          </a:prstGeom>
          <a:noFill/>
          <a:ln>
            <a:noFill/>
          </a:ln>
        </p:spPr>
        <p:txBody>
          <a:bodyPr wrap="square" lIns="0" tIns="0" rIns="0" bIns="0" rtlCol="0" anchor="ctr">
            <a:noAutofit/>
          </a:bodyPr>
          <a:lstStyle/>
          <a:p>
            <a:pPr marL="0" indent="0" algn="ctr">
              <a:spcAft>
                <a:spcPts val="400"/>
              </a:spcAft>
              <a:buNone/>
            </a:pPr>
            <a:r>
              <a:rPr lang="id-ID" sz="3200" b="1" dirty="0">
                <a:solidFill>
                  <a:srgbClr val="12284C"/>
                </a:solidFill>
                <a:latin typeface="Cambria" pitchFamily="34" charset="0"/>
                <a:ea typeface="Calibri" pitchFamily="34" charset="-122"/>
                <a:cs typeface="Calibri" pitchFamily="34" charset="-120"/>
              </a:rPr>
              <a:t>Terima kasih</a:t>
            </a:r>
          </a:p>
          <a:p>
            <a:pPr marL="0" indent="0" algn="ctr">
              <a:buNone/>
            </a:pPr>
            <a:r>
              <a:rPr lang="id-ID" sz="1800" dirty="0">
                <a:solidFill>
                  <a:srgbClr val="4D5D78"/>
                </a:solidFill>
                <a:latin typeface="Calibri" pitchFamily="34" charset="0"/>
                <a:ea typeface="Calibri" pitchFamily="34" charset="-122"/>
                <a:cs typeface="Calibri" pitchFamily="34" charset="-120"/>
              </a:rPr>
              <a:t>Mohon masukan dan arahan Bapak/Ibu Penguji.</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Cadangan: parameter eksperimen dan peran tiap angka</a:t>
            </a:r>
            <a:endParaRPr lang="en-US" sz="2800" dirty="0"/>
          </a:p>
        </p:txBody>
      </p:sp>
      <p:graphicFrame>
        <p:nvGraphicFramePr>
          <p:cNvPr id="16" name="param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4809744"/>
        </p:xfrm>
        <a:graphic>
          <a:graphicData uri="http://schemas.openxmlformats.org/drawingml/2006/table">
            <a:tbl>
              <a:tblPr/>
              <a:tblGrid>
                <a:gridCol w="301752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420624">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Parameter</a:t>
                      </a:r>
                    </a:p>
                  </a:txBody>
                  <a:tcPr marL="137160" marR="109728" marT="27432" marB="27432" anchor="ctr">
                    <a:lnL w="0">
                      <a:noFill/>
                    </a:lnL>
                    <a:lnR w="0">
                      <a:noFill/>
                    </a:lnR>
                    <a:lnT w="0">
                      <a:noFill/>
                    </a:lnT>
                    <a:lnB w="9525" cap="flat" cmpd="sng" algn="ctr">
                      <a:solidFill>
                        <a:srgbClr val="12284C"/>
                      </a:solidFill>
                      <a:prstDash val="solid"/>
                    </a:lnB>
                    <a:solidFill>
                      <a:srgbClr val="12284C"/>
                    </a:solidFill>
                  </a:tcPr>
                </a:tc>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Nilai</a:t>
                      </a:r>
                    </a:p>
                  </a:txBody>
                  <a:tcPr marL="137160" marR="109728" marT="27432" marB="27432" anchor="ctr">
                    <a:lnL w="0">
                      <a:noFill/>
                    </a:lnL>
                    <a:lnR w="0">
                      <a:noFill/>
                    </a:lnR>
                    <a:lnT w="0">
                      <a:noFill/>
                    </a:lnT>
                    <a:lnB w="9525" cap="flat" cmpd="sng" algn="ctr">
                      <a:solidFill>
                        <a:srgbClr val="12284C"/>
                      </a:solidFill>
                      <a:prstDash val="solid"/>
                    </a:lnB>
                    <a:solidFill>
                      <a:srgbClr val="12284C"/>
                    </a:solidFill>
                  </a:tcPr>
                </a:tc>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Peran dalam eksperimen</a:t>
                      </a:r>
                    </a:p>
                  </a:txBody>
                  <a:tcPr marL="137160" marR="109728" marT="27432" marB="27432" anchor="ctr">
                    <a:lnL w="0">
                      <a:noFill/>
                    </a:lnL>
                    <a:lnR w="0">
                      <a:noFill/>
                    </a:lnR>
                    <a:lnT w="0">
                      <a:noFill/>
                    </a:lnT>
                    <a:lnB w="9525" cap="flat" cmpd="sng" algn="ctr">
                      <a:solidFill>
                        <a:srgbClr val="12284C"/>
                      </a:solidFill>
                      <a:prstDash val="solid"/>
                    </a:lnB>
                    <a:solidFill>
                      <a:srgbClr val="12284C"/>
                    </a:solidFill>
                  </a:tcPr>
                </a:tc>
                <a:extLst>
                  <a:ext uri="{0D108BD9-81ED-4DB2-BD59-A6C34878D82A}">
                    <a16:rowId xmlns:a16="http://schemas.microsoft.com/office/drawing/2014/main" val="10000"/>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Beban sistem</a:t>
                      </a:r>
                    </a:p>
                  </a:txBody>
                  <a:tcPr marL="137160" marR="109728" marT="27432" marB="27432"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10, 50, 100 req/s</a:t>
                      </a:r>
                    </a:p>
                  </a:txBody>
                  <a:tcPr marL="137160" marR="109728" marT="27432" marB="27432"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Tiga tingkat tekanan, bukan 450 transaksi per hari</a:t>
                      </a:r>
                    </a:p>
                  </a:txBody>
                  <a:tcPr marL="137160" marR="109728" marT="27432" marB="27432"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Konkurensi F5</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20 pembaruan serentak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Intensitas kompetisi pada satu stok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2"/>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Replikasi</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30 per sel per beban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Pengulangan tiap sel perlakuan per tingkat beban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Warm-up</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60 dtk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Pemanasan sistem sebelum pengukuran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10"/>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Recovery window</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60 dtk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Batas pemulihan setelah gangguan dihentikan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11"/>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Batas waktu transaksi</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30 dtk sejak reservasi</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Batas bisnis pembayaran (F4b, QRIS Statis)</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5"/>
                  </a:ext>
                </a:extLst>
              </a:tr>
              <a:tr h="51206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Retry dan DLQ</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Maks. 5 kali retry: backoff 1, 2, 4, 8, 16 dtk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Retry bertahap. Setelah batas retry tercapai, pesan masuk DLQ</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6"/>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Jumlah consumer konkuren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2 pemroses per layanan EDA</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Disamakan pada kedua kondisi EDA</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7"/>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Penundaan dan penghentian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10 dtk (F4a, F1, dan F3)</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Durasi fault ditetapkan 10 detik untuk pengujian terkait.</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8"/>
                  </a:ext>
                </a:extLst>
              </a:tr>
              <a:tr h="51206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Outbox relay dan event_id</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500 ms, UUID v4</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Relay memeriksa tabel Outbox tiap 500 ms. event_id dipakai Inbox</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Cadangan: penegasan definisi operasional sesuai proposal</a:t>
            </a:r>
            <a:endParaRPr lang="en-US" sz="2800" dirty="0"/>
          </a:p>
        </p:txBody>
      </p:sp>
      <p:graphicFrame>
        <p:nvGraphicFramePr>
          <p:cNvPr id="16" name="paramTable"/>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4983480"/>
        </p:xfrm>
        <a:graphic>
          <a:graphicData uri="http://schemas.openxmlformats.org/drawingml/2006/table">
            <a:tbl>
              <a:tblPr/>
              <a:tblGrid>
                <a:gridCol w="2011680">
                  <a:extLst>
                    <a:ext uri="{9D8B030D-6E8A-4147-A177-3AD203B41FA5}">
                      <a16:colId xmlns:a16="http://schemas.microsoft.com/office/drawing/2014/main" val="20000"/>
                    </a:ext>
                  </a:extLst>
                </a:gridCol>
                <a:gridCol w="72237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11480">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Isu</a:t>
                      </a:r>
                    </a:p>
                  </a:txBody>
                  <a:tcPr marL="137160" marR="109728" marT="36576" marB="36576" anchor="ctr">
                    <a:lnL w="0">
                      <a:noFill/>
                    </a:lnL>
                    <a:lnR w="0">
                      <a:noFill/>
                    </a:lnR>
                    <a:lnT w="0">
                      <a:noFill/>
                    </a:lnT>
                    <a:lnB w="9525" cap="flat" cmpd="sng" algn="ctr">
                      <a:solidFill>
                        <a:srgbClr val="12284C"/>
                      </a:solidFill>
                      <a:prstDash val="solid"/>
                    </a:lnB>
                    <a:solidFill>
                      <a:srgbClr val="12284C"/>
                    </a:solidFill>
                  </a:tcPr>
                </a:tc>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Penegasan</a:t>
                      </a:r>
                    </a:p>
                  </a:txBody>
                  <a:tcPr marL="137160" marR="109728" marT="36576" marB="36576" anchor="ctr">
                    <a:lnL w="0">
                      <a:noFill/>
                    </a:lnL>
                    <a:lnR w="0">
                      <a:noFill/>
                    </a:lnR>
                    <a:lnT w="0">
                      <a:noFill/>
                    </a:lnT>
                    <a:lnB w="9525" cap="flat" cmpd="sng" algn="ctr">
                      <a:solidFill>
                        <a:srgbClr val="12284C"/>
                      </a:solidFill>
                      <a:prstDash val="solid"/>
                    </a:lnB>
                    <a:solidFill>
                      <a:srgbClr val="12284C"/>
                    </a:solidFill>
                  </a:tcPr>
                </a:tc>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Dasar di proposal</a:t>
                      </a:r>
                    </a:p>
                  </a:txBody>
                  <a:tcPr marL="137160" marR="109728" marT="36576" marB="36576" anchor="ctr">
                    <a:lnL w="0">
                      <a:noFill/>
                    </a:lnL>
                    <a:lnR w="0">
                      <a:noFill/>
                    </a:lnR>
                    <a:lnT w="0">
                      <a:noFill/>
                    </a:lnT>
                    <a:lnB w="9525" cap="flat" cmpd="sng" algn="ctr">
                      <a:solidFill>
                        <a:srgbClr val="12284C"/>
                      </a:solidFill>
                      <a:prstDash val="solid"/>
                    </a:lnB>
                    <a:solidFill>
                      <a:srgbClr val="12284C"/>
                    </a:solidFill>
                  </a:tcPr>
                </a:tc>
                <a:extLst>
                  <a:ext uri="{0D108BD9-81ED-4DB2-BD59-A6C34878D82A}">
                    <a16:rowId xmlns:a16="http://schemas.microsoft.com/office/drawing/2014/main" val="10000"/>
                  </a:ext>
                </a:extLst>
              </a:tr>
              <a:tr h="91440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Titik terlambat (F4b)</a:t>
                      </a:r>
                    </a:p>
                  </a:txBody>
                  <a:tcPr marL="137160" marR="109728" marT="36576" marB="36576"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Notifikasi atau konfirmasi yang diterima setelah 30 dtk sejak reservasi berhasil diperlakukan terlambat. Transaksi final tidak boleh aktif kembali (late payment diabaikan). Batas 30 dtk sama pada ketiga kondisi.</a:t>
                      </a:r>
                    </a:p>
                  </a:txBody>
                  <a:tcPr marL="137160" marR="109728" marT="36576" marB="36576"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Tabel 3.4, Gambar 3.3</a:t>
                      </a:r>
                    </a:p>
                  </a:txBody>
                  <a:tcPr marL="137160" marR="109728" marT="36576" marB="36576"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1"/>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Konfigurasi dasar kedua EDA</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Konfigurasi dasar message broker diseragamkan pada kedua EDA. Lima paket proteksi hanya pada EDA dengan Proteksi: Outbox, Idempotent Consumer/Inbox, OCC, Saga/Compensation, Retry/DLQ.</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3.2.2</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2"/>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Kriteria pilot</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Seluruh skenario tanpa gangguan berjalan baik, log transaksi dan event tercatat, hasil rekonsiliasi diperoleh tanpa kegagalan prosedural alat.</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3.3.1</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3"/>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Recovery window</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60 dtk setelah gangguan dihentikan dan tanpa transaksi baru. Bila aturan bisnis belum terpenuhi di akhir window, run dicatat tidak pulih dalam batas waktu pengujian.</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Tabel 3.4 dan 3.6</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4"/>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Request rate dan transaksi</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Target request rate adalah tingkat beban simulasi, bukan jumlah transaksi harian Apotek Bisma. Business rejection membedakan penolakan aturan bisnis dari kegagalan teknis.</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3.3.2, Tabel 3.6 dan 3.7</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5"/>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Perbandingan lintas arsitektur</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F1–F4a hanya pada kedua EDA. Perbandingan antararsitektur dilakukan secara deskriptif pada skenario dan target request rate yang sama.</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3.2.3 dan 3.3.3</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theme/theme1.xml><?xml version="1.0" encoding="utf-8"?>
<a:theme xmlns:a="http://schemas.openxmlformats.org/drawingml/2006/main" name="Sempro Bisma">
  <a:themeElements>
    <a:clrScheme name="Sempro Bisma">
      <a:dk1>
        <a:srgbClr val="1B2640"/>
      </a:dk1>
      <a:lt1>
        <a:srgbClr val="FFFFFF"/>
      </a:lt1>
      <a:dk2>
        <a:srgbClr val="12284C"/>
      </a:dk2>
      <a:lt2>
        <a:srgbClr val="EEF2F8"/>
      </a:lt2>
      <a:accent1>
        <a:srgbClr val="12284C"/>
      </a:accent1>
      <a:accent2>
        <a:srgbClr val="E9BC3A"/>
      </a:accent2>
      <a:accent3>
        <a:srgbClr val="B3412F"/>
      </a:accent3>
      <a:accent4>
        <a:srgbClr val="2E7D5B"/>
      </a:accent4>
      <a:accent5>
        <a:srgbClr val="4D5D78"/>
      </a:accent5>
      <a:accent6>
        <a:srgbClr val="D5DEEC"/>
      </a:accent6>
      <a:hlink>
        <a:srgbClr val="12284C"/>
      </a:hlink>
      <a:folHlink>
        <a:srgbClr val="4D5D78"/>
      </a:folHlink>
    </a:clrScheme>
    <a:fontScheme name="Sempro Bism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187</TotalTime>
  <Words>10254</Words>
  <Application>Microsoft Office PowerPoint</Application>
  <PresentationFormat>Widescreen</PresentationFormat>
  <Paragraphs>692</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Sempro Bisma</vt:lpstr>
      <vt:lpstr>PowerPoint Presentation</vt:lpstr>
      <vt:lpstr>Pencatatan Terpisah: Rekonsiliasi Berhari-hari, Selisih Stok Berulang</vt:lpstr>
      <vt:lpstr>Lima masalah: Perebutan Stok menjadi Skenario Uji Utama</vt:lpstr>
      <vt:lpstr>Studi terdahulu menjadi acuan utama, tetapi masih ada ruang untuk pengujian komparatif</vt:lpstr>
      <vt:lpstr>Empat rumusan masalah dijawab melalui empat tujuan yang sejajar</vt:lpstr>
      <vt:lpstr>Tiga kondisi arsitektur dibandingkan dengan fungsi bisnis yang setara</vt:lpstr>
      <vt:lpstr>Konsistensi dinilai dari kondisi akhir data setelah proses dan pemulihan selesai</vt:lpstr>
      <vt:lpstr>Satu pemilik per domain: Empat domain dengan otoritas data masing-masing</vt:lpstr>
      <vt:lpstr>Lima paket mekanisme proteksi dan risiko yang ditargetkan</vt:lpstr>
      <vt:lpstr>Alur penelitian lima tahap dengan pilot test sebelum eksperimen utama</vt:lpstr>
      <vt:lpstr>Kriteria penerimaan utama bersifat non-kompensatori: performa tidak menutupi pelanggaran</vt:lpstr>
      <vt:lpstr>Enam fault utama, F4 punya dua varian: F1–F4a hanya pada EDA, F4b, F5, F6 pada tiga kondisi</vt:lpstr>
      <vt:lpstr>3.330 run: 37 kombinasi × 3 tingkat request rate × 30 replikasi</vt:lpstr>
      <vt:lpstr>Hasil berlaku pada parameter uji, bukan klaim arsitektur terbaik</vt:lpstr>
      <vt:lpstr>Cadangan: parameter eksperimen dan peran tiap angka</vt:lpstr>
      <vt:lpstr>Cadangan: penegasan definisi operasional sesuai proposal</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 Proposal TA - Raihan Rizki Alfareza</dc:title>
  <dc:subject>PptxGenJS Presentation</dc:subject>
  <dc:creator>Raihan Rizki Alfareza</dc:creator>
  <cp:lastModifiedBy>WC6320</cp:lastModifiedBy>
  <cp:revision>15</cp:revision>
  <dcterms:created xsi:type="dcterms:W3CDTF">2026-10-03T01:51:12Z</dcterms:created>
  <dcterms:modified xsi:type="dcterms:W3CDTF">2026-10-08T06:28:13Z</dcterms:modified>
</cp:coreProperties>
</file>